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Semantic Trajectory Analysis on Canonical v2 Outputs</a:t>
            </a:r>
          </a:p>
        </p:txBody>
      </p:sp>
      <p:sp>
        <p:nvSpPr>
          <p:cNvPr id="3" name="Subtitle 2"/>
          <p:cNvSpPr>
            <a:spLocks noGrp="1"/>
          </p:cNvSpPr>
          <p:nvPr>
            <p:ph type="subTitle" idx="1"/>
          </p:nvPr>
        </p:nvSpPr>
        <p:spPr/>
        <p:txBody>
          <a:bodyPr/>
          <a:lstStyle/>
          <a:p>
            <a:r>
              <a:t>Weighted semantic links across meetings, using the updated v2 annotation schema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This Layer</a:t>
            </a:r>
          </a:p>
        </p:txBody>
      </p:sp>
      <p:sp>
        <p:nvSpPr>
          <p:cNvPr id="3" name="Content Placeholder 2"/>
          <p:cNvSpPr>
            <a:spLocks noGrp="1"/>
          </p:cNvSpPr>
          <p:nvPr>
            <p:ph idx="1"/>
          </p:nvPr>
        </p:nvSpPr>
        <p:spPr/>
        <p:txBody>
          <a:bodyPr/>
          <a:lstStyle/>
          <a:p>
            <a:pPr>
              <a:defRPr sz="2200"/>
            </a:pPr>
            <a:r>
              <a:t>The canonical v2 outputs already track idea trajectory, decision crystallization, and related meeting-state signals.</a:t>
            </a:r>
          </a:p>
          <a:p>
            <a:pPr>
              <a:defRPr sz="2200"/>
            </a:pPr>
            <a:r>
              <a:t>This layer uses a fuzzy-linkography approach to add weighted links between utterances across the meeting.</a:t>
            </a:r>
          </a:p>
          <a:p>
            <a:pPr>
              <a:defRPr sz="2200"/>
            </a:pPr>
            <a:r>
              <a:t>The current implementation uses Latent Semantic Analysis as the semantic-similarity model inside that approach.</a:t>
            </a:r>
          </a:p>
          <a:p>
            <a:pPr>
              <a:defRPr sz="2200"/>
            </a:pPr>
            <a:r>
              <a:t>The current rerun also filters out auxiliary ATTN files.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Coverage</a:t>
            </a:r>
          </a:p>
        </p:txBody>
      </p:sp>
      <p:graphicFrame>
        <p:nvGraphicFramePr>
          <p:cNvPr id="3" name="Table 2"/>
          <p:cNvGraphicFramePr>
            <a:graphicFrameLocks noGrp="1"/>
          </p:cNvGraphicFramePr>
          <p:nvPr/>
        </p:nvGraphicFramePr>
        <p:xfrm>
          <a:off x="548640" y="914400"/>
          <a:ext cx="7589520" cy="2926080"/>
        </p:xfrm>
        <a:graphic>
          <a:graphicData uri="http://schemas.openxmlformats.org/drawingml/2006/table">
            <a:tbl>
              <a:tblPr firstRow="1" bandRow="1">
                <a:tableStyleId>{5C22544A-7EE6-4342-B048-85BDC9FD1C3A}</a:tableStyleId>
              </a:tblPr>
              <a:tblGrid>
                <a:gridCol w="3794760"/>
                <a:gridCol w="3794760"/>
              </a:tblGrid>
              <a:tr h="418011">
                <a:tc>
                  <a:txBody>
                    <a:bodyPr/>
                    <a:lstStyle/>
                    <a:p>
                      <a:pPr>
                        <a:defRPr sz="1500" b="1"/>
                      </a:pPr>
                      <a:r>
                        <a:t>Metric</a:t>
                      </a:r>
                    </a:p>
                  </a:txBody>
                  <a:tcPr/>
                </a:tc>
                <a:tc>
                  <a:txBody>
                    <a:bodyPr/>
                    <a:lstStyle/>
                    <a:p>
                      <a:pPr>
                        <a:defRPr sz="1500" b="1"/>
                      </a:pPr>
                      <a:r>
                        <a:t>Value</a:t>
                      </a:r>
                    </a:p>
                  </a:txBody>
                  <a:tcPr/>
                </a:tc>
              </a:tr>
              <a:tr h="418011">
                <a:tc>
                  <a:txBody>
                    <a:bodyPr/>
                    <a:lstStyle/>
                    <a:p>
                      <a:pPr>
                        <a:defRPr sz="1500"/>
                      </a:pPr>
                      <a:r>
                        <a:t>Conferences included</a:t>
                      </a:r>
                    </a:p>
                  </a:txBody>
                  <a:tcPr/>
                </a:tc>
                <a:tc>
                  <a:txBody>
                    <a:bodyPr/>
                    <a:lstStyle/>
                    <a:p>
                      <a:pPr>
                        <a:defRPr sz="1500"/>
                      </a:pPr>
                      <a:r>
                        <a:t>8 (2020NES, 2021ABI, 2021CMC, 2021MND, 2021MZT, 2021NES, 2021SLU, 2022MND)</a:t>
                      </a:r>
                    </a:p>
                  </a:txBody>
                  <a:tcPr/>
                </a:tc>
              </a:tr>
              <a:tr h="418011">
                <a:tc>
                  <a:txBody>
                    <a:bodyPr/>
                    <a:lstStyle/>
                    <a:p>
                      <a:pPr>
                        <a:defRPr sz="1500"/>
                      </a:pPr>
                      <a:r>
                        <a:t>Meetings analyzed</a:t>
                      </a:r>
                    </a:p>
                  </a:txBody>
                  <a:tcPr/>
                </a:tc>
                <a:tc>
                  <a:txBody>
                    <a:bodyPr/>
                    <a:lstStyle/>
                    <a:p>
                      <a:pPr>
                        <a:defRPr sz="1500"/>
                      </a:pPr>
                      <a:r>
                        <a:t>179</a:t>
                      </a:r>
                    </a:p>
                  </a:txBody>
                  <a:tcPr/>
                </a:tc>
              </a:tr>
              <a:tr h="418011">
                <a:tc>
                  <a:txBody>
                    <a:bodyPr/>
                    <a:lstStyle/>
                    <a:p>
                      <a:pPr>
                        <a:defRPr sz="1500"/>
                      </a:pPr>
                      <a:r>
                        <a:t>Chunks analyzed</a:t>
                      </a:r>
                    </a:p>
                  </a:txBody>
                  <a:tcPr/>
                </a:tc>
                <a:tc>
                  <a:txBody>
                    <a:bodyPr/>
                    <a:lstStyle/>
                    <a:p>
                      <a:pPr>
                        <a:defRPr sz="1500"/>
                      </a:pPr>
                      <a:r>
                        <a:t>1219</a:t>
                      </a:r>
                    </a:p>
                  </a:txBody>
                  <a:tcPr/>
                </a:tc>
              </a:tr>
              <a:tr h="418011">
                <a:tc>
                  <a:txBody>
                    <a:bodyPr/>
                    <a:lstStyle/>
                    <a:p>
                      <a:pPr>
                        <a:defRPr sz="1500"/>
                      </a:pPr>
                      <a:r>
                        <a:t>Sessions with outcomes</a:t>
                      </a:r>
                    </a:p>
                  </a:txBody>
                  <a:tcPr/>
                </a:tc>
                <a:tc>
                  <a:txBody>
                    <a:bodyPr/>
                    <a:lstStyle/>
                    <a:p>
                      <a:pPr>
                        <a:defRPr sz="1500"/>
                      </a:pPr>
                      <a:r>
                        <a:t>136</a:t>
                      </a:r>
                    </a:p>
                  </a:txBody>
                  <a:tcPr/>
                </a:tc>
              </a:tr>
              <a:tr h="418011">
                <a:tc>
                  <a:txBody>
                    <a:bodyPr/>
                    <a:lstStyle/>
                    <a:p>
                      <a:pPr>
                        <a:defRPr sz="1500"/>
                      </a:pPr>
                      <a:r>
                        <a:t>Methodology</a:t>
                      </a:r>
                    </a:p>
                  </a:txBody>
                  <a:tcPr/>
                </a:tc>
                <a:tc>
                  <a:txBody>
                    <a:bodyPr/>
                    <a:lstStyle/>
                    <a:p>
                      <a:pPr>
                        <a:defRPr sz="1500"/>
                      </a:pPr>
                      <a:r>
                        <a:t>Fuzzy linkography</a:t>
                      </a:r>
                    </a:p>
                  </a:txBody>
                  <a:tcPr/>
                </a:tc>
              </a:tr>
              <a:tr h="418014">
                <a:tc>
                  <a:txBody>
                    <a:bodyPr/>
                    <a:lstStyle/>
                    <a:p>
                      <a:pPr>
                        <a:defRPr sz="1500"/>
                      </a:pPr>
                      <a:r>
                        <a:t>Similarity model</a:t>
                      </a:r>
                    </a:p>
                  </a:txBody>
                  <a:tcPr/>
                </a:tc>
                <a:tc>
                  <a:txBody>
                    <a:bodyPr/>
                    <a:lstStyle/>
                    <a:p>
                      <a:pPr>
                        <a:defRPr sz="1500"/>
                      </a:pPr>
                      <a:r>
                        <a:t>Latent Semantic Analysis</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Comes From The JSONs vs What We Compute</a:t>
            </a:r>
          </a:p>
        </p:txBody>
      </p:sp>
      <p:graphicFrame>
        <p:nvGraphicFramePr>
          <p:cNvPr id="3" name="Table 2"/>
          <p:cNvGraphicFramePr>
            <a:graphicFrameLocks noGrp="1"/>
          </p:cNvGraphicFramePr>
          <p:nvPr/>
        </p:nvGraphicFramePr>
        <p:xfrm>
          <a:off x="411480" y="914400"/>
          <a:ext cx="8229600" cy="2377440"/>
        </p:xfrm>
        <a:graphic>
          <a:graphicData uri="http://schemas.openxmlformats.org/drawingml/2006/table">
            <a:tbl>
              <a:tblPr firstRow="1" bandRow="1">
                <a:tableStyleId>{5C22544A-7EE6-4342-B048-85BDC9FD1C3A}</a:tableStyleId>
              </a:tblPr>
              <a:tblGrid>
                <a:gridCol w="4114800"/>
                <a:gridCol w="4114800"/>
              </a:tblGrid>
              <a:tr h="475488">
                <a:tc>
                  <a:txBody>
                    <a:bodyPr/>
                    <a:lstStyle/>
                    <a:p>
                      <a:pPr>
                        <a:defRPr sz="1400" b="1"/>
                      </a:pPr>
                      <a:r>
                        <a:t>Directly from Evey's JSON outputs</a:t>
                      </a:r>
                    </a:p>
                  </a:txBody>
                  <a:tcPr/>
                </a:tc>
                <a:tc>
                  <a:txBody>
                    <a:bodyPr/>
                    <a:lstStyle/>
                    <a:p>
                      <a:pPr>
                        <a:defRPr sz="1400" b="1"/>
                      </a:pPr>
                      <a:r>
                        <a:t>Added by fuzzy linkography</a:t>
                      </a:r>
                    </a:p>
                  </a:txBody>
                  <a:tcPr/>
                </a:tc>
              </a:tr>
              <a:tr h="475488">
                <a:tc>
                  <a:txBody>
                    <a:bodyPr/>
                    <a:lstStyle/>
                    <a:p>
                      <a:pPr>
                        <a:defRPr sz="1400"/>
                      </a:pPr>
                      <a:r>
                        <a:t>chunk_summary.idea_trajectory</a:t>
                      </a:r>
                    </a:p>
                  </a:txBody>
                  <a:tcPr/>
                </a:tc>
                <a:tc>
                  <a:txBody>
                    <a:bodyPr/>
                    <a:lstStyle/>
                    <a:p>
                      <a:pPr>
                        <a:defRPr sz="1400"/>
                      </a:pPr>
                      <a:r>
                        <a:t>weighted links inferred between utterances across the full meeting</a:t>
                      </a:r>
                    </a:p>
                  </a:txBody>
                  <a:tcPr/>
                </a:tc>
              </a:tr>
              <a:tr h="475488">
                <a:tc>
                  <a:txBody>
                    <a:bodyPr/>
                    <a:lstStyle/>
                    <a:p>
                      <a:pPr>
                        <a:defRPr sz="1400"/>
                      </a:pPr>
                      <a:r>
                        <a:t>chunk_summary.decision_crystallization_level</a:t>
                      </a:r>
                    </a:p>
                  </a:txBody>
                  <a:tcPr/>
                </a:tc>
                <a:tc>
                  <a:txBody>
                    <a:bodyPr/>
                    <a:lstStyle/>
                    <a:p>
                      <a:pPr>
                        <a:defRPr sz="1400"/>
                      </a:pPr>
                      <a:r>
                        <a:t>meeting-level summary scores built from those inferred links</a:t>
                      </a:r>
                    </a:p>
                  </a:txBody>
                  <a:tcPr/>
                </a:tc>
              </a:tr>
              <a:tr h="475488">
                <a:tc>
                  <a:txBody>
                    <a:bodyPr/>
                    <a:lstStyle/>
                    <a:p>
                      <a:pPr>
                        <a:defRPr sz="1400"/>
                      </a:pPr>
                      <a:r>
                        <a:t>chunk_summary.collective_engagement_level</a:t>
                      </a:r>
                    </a:p>
                  </a:txBody>
                  <a:tcPr/>
                </a:tc>
                <a:tc>
                  <a:txBody>
                    <a:bodyPr/>
                    <a:lstStyle/>
                    <a:p>
                      <a:pPr>
                        <a:defRPr sz="1400"/>
                      </a:pPr>
                      <a:r>
                        <a:t>cross-chunk connection structure across the whole session</a:t>
                      </a:r>
                    </a:p>
                  </a:txBody>
                  <a:tcPr/>
                </a:tc>
              </a:tr>
              <a:tr h="475488">
                <a:tc>
                  <a:txBody>
                    <a:bodyPr/>
                    <a:lstStyle/>
                    <a:p>
                      <a:pPr>
                        <a:defRPr sz="1400"/>
                      </a:pPr>
                      <a:r>
                        <a:t>utterance_annotations</a:t>
                      </a:r>
                    </a:p>
                  </a:txBody>
                  <a:tcPr/>
                </a:tc>
                <a:tc>
                  <a:txBody>
                    <a:bodyPr/>
                    <a:lstStyle/>
                    <a:p>
                      <a:pPr>
                        <a:defRPr sz="1400"/>
                      </a:pPr>
                      <a:r>
                        <a:t>a session-level layer that is not directly stored in the JSON files</a:t>
                      </a:r>
                    </a:p>
                  </a:txBody>
                  <a:tcPr/>
                </a:tc>
              </a:tr>
            </a:tbl>
          </a:graphicData>
        </a:graphic>
      </p:graphicFrame>
      <p:sp>
        <p:nvSpPr>
          <p:cNvPr id="4" name="TextBox 3"/>
          <p:cNvSpPr txBox="1"/>
          <p:nvPr/>
        </p:nvSpPr>
        <p:spPr>
          <a:xfrm>
            <a:off x="411480" y="3383280"/>
            <a:ext cx="8229600" cy="411480"/>
          </a:xfrm>
          <a:prstGeom prst="rect">
            <a:avLst/>
          </a:prstGeom>
          <a:noFill/>
        </p:spPr>
        <p:txBody>
          <a:bodyPr wrap="square">
            <a:spAutoFit/>
          </a:bodyPr>
          <a:lstStyle/>
          <a:p>
            <a:pPr>
              <a:defRPr sz="1000"/>
            </a:pPr>
            <a:r>
              <a:t>* The JSON files already contain chunk-level annotations. The fuzzy-linkography step adds a separate meeting-level layer by inferring weighted semantic links across utterances over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Worked Example: Added Meeting-Level Layer</a:t>
            </a:r>
          </a:p>
        </p:txBody>
      </p:sp>
      <p:sp>
        <p:nvSpPr>
          <p:cNvPr id="3" name="TextBox 2"/>
          <p:cNvSpPr txBox="1"/>
          <p:nvPr/>
        </p:nvSpPr>
        <p:spPr>
          <a:xfrm>
            <a:off x="411480" y="685800"/>
            <a:ext cx="8229600" cy="320040"/>
          </a:xfrm>
          <a:prstGeom prst="rect">
            <a:avLst/>
          </a:prstGeom>
          <a:noFill/>
        </p:spPr>
        <p:txBody>
          <a:bodyPr wrap="square">
            <a:spAutoFit/>
          </a:bodyPr>
          <a:lstStyle/>
          <a:p>
            <a:pPr>
              <a:defRPr sz="1100"/>
            </a:pPr>
            <a:r>
              <a:t>Conference: 2020NES | Session: 2020_11_05_NES_S1 | Meeting: 1_DAC_Simulations_Zoom_Meeting_2020_11_05_12_24_10</a:t>
            </a:r>
          </a:p>
        </p:txBody>
      </p:sp>
      <p:graphicFrame>
        <p:nvGraphicFramePr>
          <p:cNvPr id="4" name="Table 3"/>
          <p:cNvGraphicFramePr>
            <a:graphicFrameLocks noGrp="1"/>
          </p:cNvGraphicFramePr>
          <p:nvPr/>
        </p:nvGraphicFramePr>
        <p:xfrm>
          <a:off x="228600" y="1005840"/>
          <a:ext cx="6492240" cy="2651760"/>
        </p:xfrm>
        <a:graphic>
          <a:graphicData uri="http://schemas.openxmlformats.org/drawingml/2006/table">
            <a:tbl>
              <a:tblPr firstRow="1" bandRow="1">
                <a:tableStyleId>{5C22544A-7EE6-4342-B048-85BDC9FD1C3A}</a:tableStyleId>
              </a:tblPr>
              <a:tblGrid>
                <a:gridCol w="1298448"/>
                <a:gridCol w="1298448"/>
                <a:gridCol w="1298448"/>
                <a:gridCol w="1298448"/>
                <a:gridCol w="1298448"/>
              </a:tblGrid>
              <a:tr h="662940">
                <a:tc>
                  <a:txBody>
                    <a:bodyPr/>
                    <a:lstStyle/>
                    <a:p>
                      <a:pPr>
                        <a:defRPr sz="900" b="1"/>
                      </a:pPr>
                      <a:r>
                        <a:t>Chunk</a:t>
                      </a:r>
                    </a:p>
                  </a:txBody>
                  <a:tcPr/>
                </a:tc>
                <a:tc>
                  <a:txBody>
                    <a:bodyPr/>
                    <a:lstStyle/>
                    <a:p>
                      <a:pPr>
                        <a:defRPr sz="900" b="1"/>
                      </a:pPr>
                      <a:r>
                        <a:t>Time</a:t>
                      </a:r>
                    </a:p>
                  </a:txBody>
                  <a:tcPr/>
                </a:tc>
                <a:tc>
                  <a:txBody>
                    <a:bodyPr/>
                    <a:lstStyle/>
                    <a:p>
                      <a:pPr>
                        <a:defRPr sz="900" b="1"/>
                      </a:pPr>
                      <a:r>
                        <a:t>idea_trajectory</a:t>
                      </a:r>
                    </a:p>
                  </a:txBody>
                  <a:tcPr/>
                </a:tc>
                <a:tc>
                  <a:txBody>
                    <a:bodyPr/>
                    <a:lstStyle/>
                    <a:p>
                      <a:pPr>
                        <a:defRPr sz="900" b="1"/>
                      </a:pPr>
                      <a:r>
                        <a:t>decision level</a:t>
                      </a:r>
                    </a:p>
                  </a:txBody>
                  <a:tcPr/>
                </a:tc>
                <a:tc>
                  <a:txBody>
                    <a:bodyPr/>
                    <a:lstStyle/>
                    <a:p>
                      <a:pPr>
                        <a:defRPr sz="900" b="1"/>
                      </a:pPr>
                      <a:r>
                        <a:t>full utterance quote</a:t>
                      </a:r>
                    </a:p>
                  </a:txBody>
                  <a:tcPr/>
                </a:tc>
              </a:tr>
              <a:tr h="662940">
                <a:tc>
                  <a:txBody>
                    <a:bodyPr/>
                    <a:lstStyle/>
                    <a:p>
                      <a:pPr>
                        <a:defRPr sz="700"/>
                      </a:pPr>
                      <a:r>
                        <a:t>1</a:t>
                      </a:r>
                    </a:p>
                  </a:txBody>
                  <a:tcPr/>
                </a:tc>
                <a:tc>
                  <a:txBody>
                    <a:bodyPr/>
                    <a:lstStyle/>
                    <a:p>
                      <a:pPr>
                        <a:defRPr sz="700"/>
                      </a:pPr>
                      <a:r>
                        <a:t>00:00</a:t>
                      </a:r>
                    </a:p>
                  </a:txBody>
                  <a:tcPr/>
                </a:tc>
                <a:tc>
                  <a:txBody>
                    <a:bodyPr/>
                    <a:lstStyle/>
                    <a:p>
                      <a:pPr>
                        <a:defRPr sz="700"/>
                      </a:pPr>
                      <a:r>
                        <a:t>divergent</a:t>
                      </a:r>
                    </a:p>
                  </a:txBody>
                  <a:tcPr/>
                </a:tc>
                <a:tc>
                  <a:txBody>
                    <a:bodyPr/>
                    <a:lstStyle/>
                    <a:p>
                      <a:pPr>
                        <a:defRPr sz="700"/>
                      </a:pPr>
                      <a:r>
                        <a:t>1</a:t>
                      </a:r>
                    </a:p>
                  </a:txBody>
                  <a:tcPr/>
                </a:tc>
                <a:tc>
                  <a:txBody>
                    <a:bodyPr/>
                    <a:lstStyle/>
                    <a:p>
                      <a:pPr>
                        <a:defRPr sz="700"/>
                      </a:pPr>
                      <a:r>
                        <a:t>The main question we are asked in this session is how your new technology development or new materials would interact with the earth system basically. One of the reasons people like converting CO2 to high energy density hydrocarbon is we already know how to move hydrocarbon all over the globe without losing energy density too much. how your new technology development</a:t>
                      </a:r>
                    </a:p>
                  </a:txBody>
                  <a:tcPr/>
                </a:tc>
              </a:tr>
              <a:tr h="662940">
                <a:tc>
                  <a:txBody>
                    <a:bodyPr/>
                    <a:lstStyle/>
                    <a:p>
                      <a:pPr>
                        <a:defRPr sz="700"/>
                      </a:pPr>
                      <a:r>
                        <a:t>3</a:t>
                      </a:r>
                    </a:p>
                  </a:txBody>
                  <a:tcPr/>
                </a:tc>
                <a:tc>
                  <a:txBody>
                    <a:bodyPr/>
                    <a:lstStyle/>
                    <a:p>
                      <a:pPr>
                        <a:defRPr sz="700"/>
                      </a:pPr>
                      <a:r>
                        <a:t>00:04</a:t>
                      </a:r>
                    </a:p>
                  </a:txBody>
                  <a:tcPr/>
                </a:tc>
                <a:tc>
                  <a:txBody>
                    <a:bodyPr/>
                    <a:lstStyle/>
                    <a:p>
                      <a:pPr>
                        <a:defRPr sz="700"/>
                      </a:pPr>
                      <a:r>
                        <a:t>divergent</a:t>
                      </a:r>
                    </a:p>
                  </a:txBody>
                  <a:tcPr/>
                </a:tc>
                <a:tc>
                  <a:txBody>
                    <a:bodyPr/>
                    <a:lstStyle/>
                    <a:p>
                      <a:pPr>
                        <a:defRPr sz="700"/>
                      </a:pPr>
                      <a:r>
                        <a:t>1</a:t>
                      </a:r>
                    </a:p>
                  </a:txBody>
                  <a:tcPr/>
                </a:tc>
                <a:tc>
                  <a:txBody>
                    <a:bodyPr/>
                    <a:lstStyle/>
                    <a:p>
                      <a:pPr>
                        <a:defRPr sz="700"/>
                      </a:pPr>
                      <a:r>
                        <a:t>I definitely think so Valentina that we should have a set of... wide range of technologies. direct air capture in Beijing versus New York would be very different</a:t>
                      </a:r>
                    </a:p>
                  </a:txBody>
                  <a:tcPr/>
                </a:tc>
              </a:tr>
              <a:tr h="662940">
                <a:tc>
                  <a:txBody>
                    <a:bodyPr/>
                    <a:lstStyle/>
                    <a:p>
                      <a:pPr>
                        <a:defRPr sz="700"/>
                      </a:pPr>
                      <a:r>
                        <a:t>5</a:t>
                      </a:r>
                    </a:p>
                  </a:txBody>
                  <a:tcPr/>
                </a:tc>
                <a:tc>
                  <a:txBody>
                    <a:bodyPr/>
                    <a:lstStyle/>
                    <a:p>
                      <a:pPr>
                        <a:defRPr sz="700"/>
                      </a:pPr>
                      <a:r>
                        <a:t>00:02</a:t>
                      </a:r>
                    </a:p>
                  </a:txBody>
                  <a:tcPr/>
                </a:tc>
                <a:tc>
                  <a:txBody>
                    <a:bodyPr/>
                    <a:lstStyle/>
                    <a:p>
                      <a:pPr>
                        <a:defRPr sz="700"/>
                      </a:pPr>
                      <a:r>
                        <a:t>convergent</a:t>
                      </a:r>
                    </a:p>
                  </a:txBody>
                  <a:tcPr/>
                </a:tc>
                <a:tc>
                  <a:txBody>
                    <a:bodyPr/>
                    <a:lstStyle/>
                    <a:p>
                      <a:pPr>
                        <a:defRPr sz="700"/>
                      </a:pPr>
                      <a:r>
                        <a:t>3</a:t>
                      </a:r>
                    </a:p>
                  </a:txBody>
                  <a:tcPr/>
                </a:tc>
                <a:tc>
                  <a:txBody>
                    <a:bodyPr/>
                    <a:lstStyle/>
                    <a:p>
                      <a:pPr>
                        <a:defRPr sz="700"/>
                      </a:pPr>
                      <a:r>
                        <a:t>if you look at CO2 hydrogenation to something like methanol, you need high pressures... being at sub-atmospheric pressures really hurts you in terms of equilibrium conversions. there needs to be a significant energy input in the form of pressure... and you need a source of hydrogen. based on my reading... you need high pressures</a:t>
                      </a:r>
                    </a:p>
                  </a:txBody>
                  <a:tcPr/>
                </a:tc>
              </a:tr>
            </a:tbl>
          </a:graphicData>
        </a:graphic>
      </p:graphicFrame>
      <p:graphicFrame>
        <p:nvGraphicFramePr>
          <p:cNvPr id="5" name="Table 4"/>
          <p:cNvGraphicFramePr>
            <a:graphicFrameLocks noGrp="1"/>
          </p:cNvGraphicFramePr>
          <p:nvPr/>
        </p:nvGraphicFramePr>
        <p:xfrm>
          <a:off x="6812280" y="1005840"/>
          <a:ext cx="1828800" cy="1325880"/>
        </p:xfrm>
        <a:graphic>
          <a:graphicData uri="http://schemas.openxmlformats.org/drawingml/2006/table">
            <a:tbl>
              <a:tblPr firstRow="1" bandRow="1">
                <a:tableStyleId>{5C22544A-7EE6-4342-B048-85BDC9FD1C3A}</a:tableStyleId>
              </a:tblPr>
              <a:tblGrid>
                <a:gridCol w="609600"/>
                <a:gridCol w="609600"/>
                <a:gridCol w="609600"/>
              </a:tblGrid>
              <a:tr h="662940">
                <a:tc>
                  <a:txBody>
                    <a:bodyPr/>
                    <a:lstStyle/>
                    <a:p>
                      <a:pPr>
                        <a:defRPr sz="900" b="1"/>
                      </a:pPr>
                      <a:r>
                        <a:t>From</a:t>
                      </a:r>
                    </a:p>
                  </a:txBody>
                  <a:tcPr/>
                </a:tc>
                <a:tc>
                  <a:txBody>
                    <a:bodyPr/>
                    <a:lstStyle/>
                    <a:p>
                      <a:pPr>
                        <a:defRPr sz="900" b="1"/>
                      </a:pPr>
                      <a:r>
                        <a:t>To</a:t>
                      </a:r>
                    </a:p>
                  </a:txBody>
                  <a:tcPr/>
                </a:tc>
                <a:tc>
                  <a:txBody>
                    <a:bodyPr/>
                    <a:lstStyle/>
                    <a:p>
                      <a:pPr>
                        <a:defRPr sz="900" b="1"/>
                      </a:pPr>
                      <a:r>
                        <a:t>Weight</a:t>
                      </a:r>
                    </a:p>
                  </a:txBody>
                  <a:tcPr/>
                </a:tc>
              </a:tr>
              <a:tr h="662940">
                <a:tc>
                  <a:txBody>
                    <a:bodyPr/>
                    <a:lstStyle/>
                    <a:p>
                      <a:pPr>
                        <a:defRPr sz="800"/>
                      </a:pPr>
                      <a:r>
                        <a:t>Chunk 1</a:t>
                      </a:r>
                    </a:p>
                  </a:txBody>
                  <a:tcPr/>
                </a:tc>
                <a:tc>
                  <a:txBody>
                    <a:bodyPr/>
                    <a:lstStyle/>
                    <a:p>
                      <a:pPr>
                        <a:defRPr sz="800"/>
                      </a:pPr>
                      <a:r>
                        <a:t>Chunk 5</a:t>
                      </a:r>
                    </a:p>
                  </a:txBody>
                  <a:tcPr/>
                </a:tc>
                <a:tc>
                  <a:txBody>
                    <a:bodyPr/>
                    <a:lstStyle/>
                    <a:p>
                      <a:pPr>
                        <a:defRPr sz="800"/>
                      </a:pPr>
                      <a:r>
                        <a:t>0.997</a:t>
                      </a:r>
                    </a:p>
                  </a:txBody>
                  <a:tcPr/>
                </a:tc>
              </a:tr>
            </a:tbl>
          </a:graphicData>
        </a:graphic>
      </p:graphicFrame>
      <p:sp>
        <p:nvSpPr>
          <p:cNvPr id="6" name="TextBox 5"/>
          <p:cNvSpPr txBox="1"/>
          <p:nvPr/>
        </p:nvSpPr>
        <p:spPr>
          <a:xfrm>
            <a:off x="228600" y="3749039"/>
            <a:ext cx="8412480" cy="868680"/>
          </a:xfrm>
          <a:prstGeom prst="rect">
            <a:avLst/>
          </a:prstGeom>
          <a:noFill/>
        </p:spPr>
        <p:txBody>
          <a:bodyPr wrap="square">
            <a:spAutoFit/>
          </a:bodyPr>
          <a:lstStyle/>
          <a:p>
            <a:pPr>
              <a:defRPr sz="1000"/>
            </a:pPr>
            <a:r>
              <a:t>* Worked example from one canonical SCIALOG meeting. Decision level comes from chunk_summary (1 = earlier/open discussion, 3 = more crystallized discussion). The left table comes directly from the JSON content; the right table is added by fuzzy linkography, which infers weighted links between those utterances across the meeting. Each row is one utterance from a longer meeting dialogue, not the full dialogue.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Current Direct Comparison</a:t>
            </a:r>
          </a:p>
        </p:txBody>
      </p:sp>
      <p:sp>
        <p:nvSpPr>
          <p:cNvPr id="3" name="Content Placeholder 2"/>
          <p:cNvSpPr>
            <a:spLocks noGrp="1"/>
          </p:cNvSpPr>
          <p:nvPr>
            <p:ph idx="1"/>
          </p:nvPr>
        </p:nvSpPr>
        <p:spPr/>
        <p:txBody>
          <a:bodyPr/>
          <a:lstStyle/>
          <a:p>
            <a:pPr>
              <a:defRPr sz="2200"/>
            </a:pPr>
            <a:r>
              <a:t>When the goal is funding, this added meeting-level layer does not give one clear score that separates funded from unfunded sessions.</a:t>
            </a:r>
          </a:p>
          <a:p>
            <a:pPr>
              <a:defRPr sz="2200"/>
            </a:pPr>
            <a:r>
              <a:t>Some differences appear in individual comparisons, but they do not stay consistent enough to treat as the main finding.</a:t>
            </a:r>
          </a:p>
          <a:p>
            <a:pPr>
              <a:defRPr sz="2200"/>
            </a:pPr>
            <a:r>
              <a:t>So the main thing this analysis is pulling out right now is session-level structure, not a clean funding signal.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This Connects To The v2 JSON Terms</a:t>
            </a:r>
          </a:p>
        </p:txBody>
      </p:sp>
      <p:graphicFrame>
        <p:nvGraphicFramePr>
          <p:cNvPr id="3" name="Table 2"/>
          <p:cNvGraphicFramePr>
            <a:graphicFrameLocks noGrp="1"/>
          </p:cNvGraphicFramePr>
          <p:nvPr/>
        </p:nvGraphicFramePr>
        <p:xfrm>
          <a:off x="411480" y="914400"/>
          <a:ext cx="8229600" cy="2926080"/>
        </p:xfrm>
        <a:graphic>
          <a:graphicData uri="http://schemas.openxmlformats.org/drawingml/2006/table">
            <a:tbl>
              <a:tblPr firstRow="1" bandRow="1">
                <a:tableStyleId>{5C22544A-7EE6-4342-B048-85BDC9FD1C3A}</a:tableStyleId>
              </a:tblPr>
              <a:tblGrid>
                <a:gridCol w="2743200"/>
                <a:gridCol w="2743200"/>
                <a:gridCol w="2743200"/>
              </a:tblGrid>
              <a:tr h="585216">
                <a:tc>
                  <a:txBody>
                    <a:bodyPr/>
                    <a:lstStyle/>
                    <a:p>
                      <a:pPr>
                        <a:defRPr sz="1300" b="1"/>
                      </a:pPr>
                      <a:r>
                        <a:t>v2 JSON term</a:t>
                      </a:r>
                    </a:p>
                  </a:txBody>
                  <a:tcPr/>
                </a:tc>
                <a:tc>
                  <a:txBody>
                    <a:bodyPr/>
                    <a:lstStyle/>
                    <a:p>
                      <a:pPr>
                        <a:defRPr sz="1300" b="1"/>
                      </a:pPr>
                      <a:r>
                        <a:t>What it already gives us</a:t>
                      </a:r>
                    </a:p>
                  </a:txBody>
                  <a:tcPr/>
                </a:tc>
                <a:tc>
                  <a:txBody>
                    <a:bodyPr/>
                    <a:lstStyle/>
                    <a:p>
                      <a:pPr>
                        <a:defRPr sz="1300" b="1"/>
                      </a:pPr>
                      <a:r>
                        <a:t>What the added meeting-level layer contributes</a:t>
                      </a:r>
                    </a:p>
                  </a:txBody>
                  <a:tcPr/>
                </a:tc>
              </a:tr>
              <a:tr h="585216">
                <a:tc>
                  <a:txBody>
                    <a:bodyPr/>
                    <a:lstStyle/>
                    <a:p>
                      <a:pPr>
                        <a:defRPr sz="1300"/>
                      </a:pPr>
                      <a:r>
                        <a:t>idea_trajectory</a:t>
                      </a:r>
                    </a:p>
                  </a:txBody>
                  <a:tcPr/>
                </a:tc>
                <a:tc>
                  <a:txBody>
                    <a:bodyPr/>
                    <a:lstStyle/>
                    <a:p>
                      <a:pPr>
                        <a:defRPr sz="1300"/>
                      </a:pPr>
                      <a:r>
                        <a:t>The chunk-level direction of discussion in the JSONs</a:t>
                      </a:r>
                    </a:p>
                  </a:txBody>
                  <a:tcPr/>
                </a:tc>
                <a:tc>
                  <a:txBody>
                    <a:bodyPr/>
                    <a:lstStyle/>
                    <a:p>
                      <a:pPr>
                        <a:defRPr sz="1300"/>
                      </a:pPr>
                      <a:r>
                        <a:t>This added layer looks across the whole meeting and asks how strongly utterances stay related over time</a:t>
                      </a:r>
                    </a:p>
                  </a:txBody>
                  <a:tcPr/>
                </a:tc>
              </a:tr>
              <a:tr h="585216">
                <a:tc>
                  <a:txBody>
                    <a:bodyPr/>
                    <a:lstStyle/>
                    <a:p>
                      <a:pPr>
                        <a:defRPr sz="1300"/>
                      </a:pPr>
                      <a:r>
                        <a:t>decision_crystallization_level</a:t>
                      </a:r>
                    </a:p>
                  </a:txBody>
                  <a:tcPr/>
                </a:tc>
                <a:tc>
                  <a:txBody>
                    <a:bodyPr/>
                    <a:lstStyle/>
                    <a:p>
                      <a:pPr>
                        <a:defRPr sz="1300"/>
                      </a:pPr>
                      <a:r>
                        <a:t>How clearly the discussion is moving toward a decision</a:t>
                      </a:r>
                    </a:p>
                  </a:txBody>
                  <a:tcPr/>
                </a:tc>
                <a:tc>
                  <a:txBody>
                    <a:bodyPr/>
                    <a:lstStyle/>
                    <a:p>
                      <a:pPr>
                        <a:defRPr sz="1300"/>
                      </a:pPr>
                      <a:r>
                        <a:t>This added layer tracks whether later discussion reconnects to earlier content as decisions develop</a:t>
                      </a:r>
                    </a:p>
                  </a:txBody>
                  <a:tcPr/>
                </a:tc>
              </a:tr>
              <a:tr h="585216">
                <a:tc>
                  <a:txBody>
                    <a:bodyPr/>
                    <a:lstStyle/>
                    <a:p>
                      <a:pPr>
                        <a:defRPr sz="1300"/>
                      </a:pPr>
                      <a:r>
                        <a:t>collective_engagement_level</a:t>
                      </a:r>
                    </a:p>
                  </a:txBody>
                  <a:tcPr/>
                </a:tc>
                <a:tc>
                  <a:txBody>
                    <a:bodyPr/>
                    <a:lstStyle/>
                    <a:p>
                      <a:pPr>
                        <a:defRPr sz="1300"/>
                      </a:pPr>
                      <a:r>
                        <a:t>How active and mutually engaged the group seems</a:t>
                      </a:r>
                    </a:p>
                  </a:txBody>
                  <a:tcPr/>
                </a:tc>
                <a:tc>
                  <a:txBody>
                    <a:bodyPr/>
                    <a:lstStyle/>
                    <a:p>
                      <a:pPr>
                        <a:defRPr sz="1300"/>
                      </a:pPr>
                      <a:r>
                        <a:t>This added layer can show whether continuity is mostly within one speaker or carried across speakers</a:t>
                      </a:r>
                    </a:p>
                  </a:txBody>
                  <a:tcPr/>
                </a:tc>
              </a:tr>
              <a:tr h="585216">
                <a:tc>
                  <a:txBody>
                    <a:bodyPr/>
                    <a:lstStyle/>
                    <a:p>
                      <a:pPr>
                        <a:defRPr sz="1300"/>
                      </a:pPr>
                      <a:r>
                        <a:t>shared_vision / commitment flags</a:t>
                      </a:r>
                    </a:p>
                  </a:txBody>
                  <a:tcPr/>
                </a:tc>
                <a:tc>
                  <a:txBody>
                    <a:bodyPr/>
                    <a:lstStyle/>
                    <a:p>
                      <a:pPr>
                        <a:defRPr sz="1300"/>
                      </a:pPr>
                      <a:r>
                        <a:t>Signals that the team is aligning around an idea</a:t>
                      </a:r>
                    </a:p>
                  </a:txBody>
                  <a:tcPr/>
                </a:tc>
                <a:tc>
                  <a:txBody>
                    <a:bodyPr/>
                    <a:lstStyle/>
                    <a:p>
                      <a:pPr>
                        <a:defRPr sz="1300"/>
                      </a:pPr>
                      <a:r>
                        <a:t>This added layer helps show whether that alignment is sustained across the meeting rather than only inside one chunk</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Across Conferences</a:t>
            </a:r>
          </a:p>
        </p:txBody>
      </p:sp>
      <p:pic>
        <p:nvPicPr>
          <p:cNvPr id="3" name="Picture 2" descr="conference_diff.png"/>
          <p:cNvPicPr>
            <a:picLocks noChangeAspect="1"/>
          </p:cNvPicPr>
          <p:nvPr/>
        </p:nvPicPr>
        <p:blipFill>
          <a:blip r:embed="rId2"/>
          <a:stretch>
            <a:fillRect/>
          </a:stretch>
        </p:blipFill>
        <p:spPr>
          <a:xfrm>
            <a:off x="411480" y="1005840"/>
            <a:ext cx="5669280" cy="3239589"/>
          </a:xfrm>
          <a:prstGeom prst="rect">
            <a:avLst/>
          </a:prstGeom>
        </p:spPr>
      </p:pic>
      <p:sp>
        <p:nvSpPr>
          <p:cNvPr id="4" name="TextBox 3"/>
          <p:cNvSpPr txBox="1"/>
          <p:nvPr/>
        </p:nvSpPr>
        <p:spPr>
          <a:xfrm>
            <a:off x="6309360" y="1097280"/>
            <a:ext cx="2286000" cy="4114800"/>
          </a:xfrm>
          <a:prstGeom prst="rect">
            <a:avLst/>
          </a:prstGeom>
          <a:noFill/>
        </p:spPr>
        <p:txBody>
          <a:bodyPr wrap="square">
            <a:spAutoFit/>
          </a:bodyPr>
          <a:lstStyle/>
          <a:p>
            <a:pPr>
              <a:defRPr sz="2000"/>
            </a:pPr>
            <a:r>
              <a:t>One direction repeats in 5 of 8 conferences, but not across the full corpus.</a:t>
            </a:r>
          </a:p>
          <a:p>
            <a:pPr>
              <a:defRPr sz="2000"/>
            </a:pPr>
            <a:r>
              <a:t>Direction is mixed rather than stable across cohorts.</a:t>
            </a:r>
          </a:p>
          <a:p>
            <a:pPr>
              <a:defRPr sz="2000"/>
            </a:pPr>
            <a:r>
              <a:t>So this does not support one robust conference-invariant funding story.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Conference Breakdown</a:t>
            </a:r>
          </a:p>
        </p:txBody>
      </p:sp>
      <p:graphicFrame>
        <p:nvGraphicFramePr>
          <p:cNvPr id="3" name="Table 2"/>
          <p:cNvGraphicFramePr>
            <a:graphicFrameLocks noGrp="1"/>
          </p:cNvGraphicFramePr>
          <p:nvPr/>
        </p:nvGraphicFramePr>
        <p:xfrm>
          <a:off x="411480" y="1051560"/>
          <a:ext cx="8229600" cy="224028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248920">
                <a:tc>
                  <a:txBody>
                    <a:bodyPr/>
                    <a:lstStyle/>
                    <a:p>
                      <a:pPr>
                        <a:defRPr sz="1500" b="1"/>
                      </a:pPr>
                      <a:r>
                        <a:t>Conference</a:t>
                      </a:r>
                    </a:p>
                  </a:txBody>
                  <a:tcPr/>
                </a:tc>
                <a:tc>
                  <a:txBody>
                    <a:bodyPr/>
                    <a:lstStyle/>
                    <a:p>
                      <a:pPr>
                        <a:defRPr sz="1500" b="1"/>
                      </a:pPr>
                      <a:r>
                        <a:t>N</a:t>
                      </a:r>
                    </a:p>
                  </a:txBody>
                  <a:tcPr/>
                </a:tc>
                <a:tc>
                  <a:txBody>
                    <a:bodyPr/>
                    <a:lstStyle/>
                    <a:p>
                      <a:pPr>
                        <a:defRPr sz="1500" b="1"/>
                      </a:pPr>
                      <a:r>
                        <a:t>Funded Mean</a:t>
                      </a:r>
                    </a:p>
                  </a:txBody>
                  <a:tcPr/>
                </a:tc>
                <a:tc>
                  <a:txBody>
                    <a:bodyPr/>
                    <a:lstStyle/>
                    <a:p>
                      <a:pPr>
                        <a:defRPr sz="1500" b="1"/>
                      </a:pPr>
                      <a:r>
                        <a:t>Unfunded Mean</a:t>
                      </a:r>
                    </a:p>
                  </a:txBody>
                  <a:tcPr/>
                </a:tc>
                <a:tc>
                  <a:txBody>
                    <a:bodyPr/>
                    <a:lstStyle/>
                    <a:p>
                      <a:pPr>
                        <a:defRPr sz="1500" b="1"/>
                      </a:pPr>
                      <a:r>
                        <a:t>Diff</a:t>
                      </a:r>
                    </a:p>
                  </a:txBody>
                  <a:tcPr/>
                </a:tc>
              </a:tr>
              <a:tr h="248920">
                <a:tc>
                  <a:txBody>
                    <a:bodyPr/>
                    <a:lstStyle/>
                    <a:p>
                      <a:pPr>
                        <a:defRPr sz="1500"/>
                      </a:pPr>
                      <a:r>
                        <a:t>2020NES</a:t>
                      </a:r>
                    </a:p>
                  </a:txBody>
                  <a:tcPr/>
                </a:tc>
                <a:tc>
                  <a:txBody>
                    <a:bodyPr/>
                    <a:lstStyle/>
                    <a:p>
                      <a:pPr>
                        <a:defRPr sz="1500"/>
                      </a:pPr>
                      <a:r>
                        <a:t>16</a:t>
                      </a:r>
                    </a:p>
                  </a:txBody>
                  <a:tcPr/>
                </a:tc>
                <a:tc>
                  <a:txBody>
                    <a:bodyPr/>
                    <a:lstStyle/>
                    <a:p>
                      <a:pPr>
                        <a:defRPr sz="1500"/>
                      </a:pPr>
                      <a:r>
                        <a:t>0.177</a:t>
                      </a:r>
                    </a:p>
                  </a:txBody>
                  <a:tcPr/>
                </a:tc>
                <a:tc>
                  <a:txBody>
                    <a:bodyPr/>
                    <a:lstStyle/>
                    <a:p>
                      <a:pPr>
                        <a:defRPr sz="1500"/>
                      </a:pPr>
                      <a:r>
                        <a:t>0.181</a:t>
                      </a:r>
                    </a:p>
                  </a:txBody>
                  <a:tcPr/>
                </a:tc>
                <a:tc>
                  <a:txBody>
                    <a:bodyPr/>
                    <a:lstStyle/>
                    <a:p>
                      <a:pPr>
                        <a:defRPr sz="1500"/>
                      </a:pPr>
                      <a:r>
                        <a:t>-0.004</a:t>
                      </a:r>
                    </a:p>
                  </a:txBody>
                  <a:tcPr/>
                </a:tc>
              </a:tr>
              <a:tr h="248920">
                <a:tc>
                  <a:txBody>
                    <a:bodyPr/>
                    <a:lstStyle/>
                    <a:p>
                      <a:pPr>
                        <a:defRPr sz="1500"/>
                      </a:pPr>
                      <a:r>
                        <a:t>2021ABI</a:t>
                      </a:r>
                    </a:p>
                  </a:txBody>
                  <a:tcPr/>
                </a:tc>
                <a:tc>
                  <a:txBody>
                    <a:bodyPr/>
                    <a:lstStyle/>
                    <a:p>
                      <a:pPr>
                        <a:defRPr sz="1500"/>
                      </a:pPr>
                      <a:r>
                        <a:t>18</a:t>
                      </a:r>
                    </a:p>
                  </a:txBody>
                  <a:tcPr/>
                </a:tc>
                <a:tc>
                  <a:txBody>
                    <a:bodyPr/>
                    <a:lstStyle/>
                    <a:p>
                      <a:pPr>
                        <a:defRPr sz="1500"/>
                      </a:pPr>
                      <a:r>
                        <a:t>0.186</a:t>
                      </a:r>
                    </a:p>
                  </a:txBody>
                  <a:tcPr/>
                </a:tc>
                <a:tc>
                  <a:txBody>
                    <a:bodyPr/>
                    <a:lstStyle/>
                    <a:p>
                      <a:pPr>
                        <a:defRPr sz="1500"/>
                      </a:pPr>
                      <a:r>
                        <a:t>0.189</a:t>
                      </a:r>
                    </a:p>
                  </a:txBody>
                  <a:tcPr/>
                </a:tc>
                <a:tc>
                  <a:txBody>
                    <a:bodyPr/>
                    <a:lstStyle/>
                    <a:p>
                      <a:pPr>
                        <a:defRPr sz="1500"/>
                      </a:pPr>
                      <a:r>
                        <a:t>-0.002</a:t>
                      </a:r>
                    </a:p>
                  </a:txBody>
                  <a:tcPr/>
                </a:tc>
              </a:tr>
              <a:tr h="248920">
                <a:tc>
                  <a:txBody>
                    <a:bodyPr/>
                    <a:lstStyle/>
                    <a:p>
                      <a:pPr>
                        <a:defRPr sz="1500"/>
                      </a:pPr>
                      <a:r>
                        <a:t>2021CMC</a:t>
                      </a:r>
                    </a:p>
                  </a:txBody>
                  <a:tcPr/>
                </a:tc>
                <a:tc>
                  <a:txBody>
                    <a:bodyPr/>
                    <a:lstStyle/>
                    <a:p>
                      <a:pPr>
                        <a:defRPr sz="1500"/>
                      </a:pPr>
                      <a:r>
                        <a:t>18</a:t>
                      </a:r>
                    </a:p>
                  </a:txBody>
                  <a:tcPr/>
                </a:tc>
                <a:tc>
                  <a:txBody>
                    <a:bodyPr/>
                    <a:lstStyle/>
                    <a:p>
                      <a:pPr>
                        <a:defRPr sz="1500"/>
                      </a:pPr>
                      <a:r>
                        <a:t>0.192</a:t>
                      </a:r>
                    </a:p>
                  </a:txBody>
                  <a:tcPr/>
                </a:tc>
                <a:tc>
                  <a:txBody>
                    <a:bodyPr/>
                    <a:lstStyle/>
                    <a:p>
                      <a:pPr>
                        <a:defRPr sz="1500"/>
                      </a:pPr>
                      <a:r>
                        <a:t>0.204</a:t>
                      </a:r>
                    </a:p>
                  </a:txBody>
                  <a:tcPr/>
                </a:tc>
                <a:tc>
                  <a:txBody>
                    <a:bodyPr/>
                    <a:lstStyle/>
                    <a:p>
                      <a:pPr>
                        <a:defRPr sz="1500"/>
                      </a:pPr>
                      <a:r>
                        <a:t>-0.012</a:t>
                      </a:r>
                    </a:p>
                  </a:txBody>
                  <a:tcPr/>
                </a:tc>
              </a:tr>
              <a:tr h="248920">
                <a:tc>
                  <a:txBody>
                    <a:bodyPr/>
                    <a:lstStyle/>
                    <a:p>
                      <a:pPr>
                        <a:defRPr sz="1500"/>
                      </a:pPr>
                      <a:r>
                        <a:t>2021MND</a:t>
                      </a:r>
                    </a:p>
                  </a:txBody>
                  <a:tcPr/>
                </a:tc>
                <a:tc>
                  <a:txBody>
                    <a:bodyPr/>
                    <a:lstStyle/>
                    <a:p>
                      <a:pPr>
                        <a:defRPr sz="1500"/>
                      </a:pPr>
                      <a:r>
                        <a:t>23</a:t>
                      </a:r>
                    </a:p>
                  </a:txBody>
                  <a:tcPr/>
                </a:tc>
                <a:tc>
                  <a:txBody>
                    <a:bodyPr/>
                    <a:lstStyle/>
                    <a:p>
                      <a:pPr>
                        <a:defRPr sz="1500"/>
                      </a:pPr>
                      <a:r>
                        <a:t>0.181</a:t>
                      </a:r>
                    </a:p>
                  </a:txBody>
                  <a:tcPr/>
                </a:tc>
                <a:tc>
                  <a:txBody>
                    <a:bodyPr/>
                    <a:lstStyle/>
                    <a:p>
                      <a:pPr>
                        <a:defRPr sz="1500"/>
                      </a:pPr>
                      <a:r>
                        <a:t>0.181</a:t>
                      </a:r>
                    </a:p>
                  </a:txBody>
                  <a:tcPr/>
                </a:tc>
                <a:tc>
                  <a:txBody>
                    <a:bodyPr/>
                    <a:lstStyle/>
                    <a:p>
                      <a:pPr>
                        <a:defRPr sz="1500"/>
                      </a:pPr>
                      <a:r>
                        <a:t>+0.000</a:t>
                      </a:r>
                    </a:p>
                  </a:txBody>
                  <a:tcPr/>
                </a:tc>
              </a:tr>
              <a:tr h="248920">
                <a:tc>
                  <a:txBody>
                    <a:bodyPr/>
                    <a:lstStyle/>
                    <a:p>
                      <a:pPr>
                        <a:defRPr sz="1500"/>
                      </a:pPr>
                      <a:r>
                        <a:t>2021MZT</a:t>
                      </a:r>
                    </a:p>
                  </a:txBody>
                  <a:tcPr/>
                </a:tc>
                <a:tc>
                  <a:txBody>
                    <a:bodyPr/>
                    <a:lstStyle/>
                    <a:p>
                      <a:pPr>
                        <a:defRPr sz="1500"/>
                      </a:pPr>
                      <a:r>
                        <a:t>15</a:t>
                      </a:r>
                    </a:p>
                  </a:txBody>
                  <a:tcPr/>
                </a:tc>
                <a:tc>
                  <a:txBody>
                    <a:bodyPr/>
                    <a:lstStyle/>
                    <a:p>
                      <a:pPr>
                        <a:defRPr sz="1500"/>
                      </a:pPr>
                      <a:r>
                        <a:t>0.171</a:t>
                      </a:r>
                    </a:p>
                  </a:txBody>
                  <a:tcPr/>
                </a:tc>
                <a:tc>
                  <a:txBody>
                    <a:bodyPr/>
                    <a:lstStyle/>
                    <a:p>
                      <a:pPr>
                        <a:defRPr sz="1500"/>
                      </a:pPr>
                      <a:r>
                        <a:t>0.174</a:t>
                      </a:r>
                    </a:p>
                  </a:txBody>
                  <a:tcPr/>
                </a:tc>
                <a:tc>
                  <a:txBody>
                    <a:bodyPr/>
                    <a:lstStyle/>
                    <a:p>
                      <a:pPr>
                        <a:defRPr sz="1500"/>
                      </a:pPr>
                      <a:r>
                        <a:t>-0.003</a:t>
                      </a:r>
                    </a:p>
                  </a:txBody>
                  <a:tcPr/>
                </a:tc>
              </a:tr>
              <a:tr h="248920">
                <a:tc>
                  <a:txBody>
                    <a:bodyPr/>
                    <a:lstStyle/>
                    <a:p>
                      <a:pPr>
                        <a:defRPr sz="1500"/>
                      </a:pPr>
                      <a:r>
                        <a:t>2021NES</a:t>
                      </a:r>
                    </a:p>
                  </a:txBody>
                  <a:tcPr/>
                </a:tc>
                <a:tc>
                  <a:txBody>
                    <a:bodyPr/>
                    <a:lstStyle/>
                    <a:p>
                      <a:pPr>
                        <a:defRPr sz="1500"/>
                      </a:pPr>
                      <a:r>
                        <a:t>15</a:t>
                      </a:r>
                    </a:p>
                  </a:txBody>
                  <a:tcPr/>
                </a:tc>
                <a:tc>
                  <a:txBody>
                    <a:bodyPr/>
                    <a:lstStyle/>
                    <a:p>
                      <a:pPr>
                        <a:defRPr sz="1500"/>
                      </a:pPr>
                      <a:r>
                        <a:t>0.199</a:t>
                      </a:r>
                    </a:p>
                  </a:txBody>
                  <a:tcPr/>
                </a:tc>
                <a:tc>
                  <a:txBody>
                    <a:bodyPr/>
                    <a:lstStyle/>
                    <a:p>
                      <a:pPr>
                        <a:defRPr sz="1500"/>
                      </a:pPr>
                      <a:r>
                        <a:t>0.180</a:t>
                      </a:r>
                    </a:p>
                  </a:txBody>
                  <a:tcPr/>
                </a:tc>
                <a:tc>
                  <a:txBody>
                    <a:bodyPr/>
                    <a:lstStyle/>
                    <a:p>
                      <a:pPr>
                        <a:defRPr sz="1500"/>
                      </a:pPr>
                      <a:r>
                        <a:t>+0.019</a:t>
                      </a:r>
                    </a:p>
                  </a:txBody>
                  <a:tcPr/>
                </a:tc>
              </a:tr>
              <a:tr h="248920">
                <a:tc>
                  <a:txBody>
                    <a:bodyPr/>
                    <a:lstStyle/>
                    <a:p>
                      <a:pPr>
                        <a:defRPr sz="1500"/>
                      </a:pPr>
                      <a:r>
                        <a:t>2021SLU</a:t>
                      </a:r>
                    </a:p>
                  </a:txBody>
                  <a:tcPr/>
                </a:tc>
                <a:tc>
                  <a:txBody>
                    <a:bodyPr/>
                    <a:lstStyle/>
                    <a:p>
                      <a:pPr>
                        <a:defRPr sz="1500"/>
                      </a:pPr>
                      <a:r>
                        <a:t>20</a:t>
                      </a:r>
                    </a:p>
                  </a:txBody>
                  <a:tcPr/>
                </a:tc>
                <a:tc>
                  <a:txBody>
                    <a:bodyPr/>
                    <a:lstStyle/>
                    <a:p>
                      <a:pPr>
                        <a:defRPr sz="1500"/>
                      </a:pPr>
                      <a:r>
                        <a:t>0.168</a:t>
                      </a:r>
                    </a:p>
                  </a:txBody>
                  <a:tcPr/>
                </a:tc>
                <a:tc>
                  <a:txBody>
                    <a:bodyPr/>
                    <a:lstStyle/>
                    <a:p>
                      <a:pPr>
                        <a:defRPr sz="1500"/>
                      </a:pPr>
                      <a:r>
                        <a:t>0.176</a:t>
                      </a:r>
                    </a:p>
                  </a:txBody>
                  <a:tcPr/>
                </a:tc>
                <a:tc>
                  <a:txBody>
                    <a:bodyPr/>
                    <a:lstStyle/>
                    <a:p>
                      <a:pPr>
                        <a:defRPr sz="1500"/>
                      </a:pPr>
                      <a:r>
                        <a:t>-0.008</a:t>
                      </a:r>
                    </a:p>
                  </a:txBody>
                  <a:tcPr/>
                </a:tc>
              </a:tr>
              <a:tr h="248920">
                <a:tc>
                  <a:txBody>
                    <a:bodyPr/>
                    <a:lstStyle/>
                    <a:p>
                      <a:pPr>
                        <a:defRPr sz="1500"/>
                      </a:pPr>
                      <a:r>
                        <a:t>2022MND</a:t>
                      </a:r>
                    </a:p>
                  </a:txBody>
                  <a:tcPr/>
                </a:tc>
                <a:tc>
                  <a:txBody>
                    <a:bodyPr/>
                    <a:lstStyle/>
                    <a:p>
                      <a:pPr>
                        <a:defRPr sz="1500"/>
                      </a:pPr>
                      <a:r>
                        <a:t>11</a:t>
                      </a:r>
                    </a:p>
                  </a:txBody>
                  <a:tcPr/>
                </a:tc>
                <a:tc>
                  <a:txBody>
                    <a:bodyPr/>
                    <a:lstStyle/>
                    <a:p>
                      <a:pPr>
                        <a:defRPr sz="1500"/>
                      </a:pPr>
                      <a:r>
                        <a:t>0.181</a:t>
                      </a:r>
                    </a:p>
                  </a:txBody>
                  <a:tcPr/>
                </a:tc>
                <a:tc>
                  <a:txBody>
                    <a:bodyPr/>
                    <a:lstStyle/>
                    <a:p>
                      <a:pPr>
                        <a:defRPr sz="1500"/>
                      </a:pPr>
                      <a:r>
                        <a:t>0.175</a:t>
                      </a:r>
                    </a:p>
                  </a:txBody>
                  <a:tcPr/>
                </a:tc>
                <a:tc>
                  <a:txBody>
                    <a:bodyPr/>
                    <a:lstStyle/>
                    <a:p>
                      <a:pPr>
                        <a:defRPr sz="1500"/>
                      </a:pPr>
                      <a:r>
                        <a:t>+0.006</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Example Meetings To Review: Higher-Score Cases</a:t>
            </a:r>
          </a:p>
        </p:txBody>
      </p:sp>
      <p:graphicFrame>
        <p:nvGraphicFramePr>
          <p:cNvPr id="3" name="Table 2"/>
          <p:cNvGraphicFramePr>
            <a:graphicFrameLocks noGrp="1"/>
          </p:cNvGraphicFramePr>
          <p:nvPr/>
        </p:nvGraphicFramePr>
        <p:xfrm>
          <a:off x="411480" y="1097280"/>
          <a:ext cx="8229600" cy="1920240"/>
        </p:xfrm>
        <a:graphic>
          <a:graphicData uri="http://schemas.openxmlformats.org/drawingml/2006/table">
            <a:tbl>
              <a:tblPr firstRow="1" bandRow="1">
                <a:tableStyleId>{5C22544A-7EE6-4342-B048-85BDC9FD1C3A}</a:tableStyleId>
              </a:tblPr>
              <a:tblGrid>
                <a:gridCol w="2057400"/>
                <a:gridCol w="2057400"/>
                <a:gridCol w="2057400"/>
                <a:gridCol w="2057400"/>
              </a:tblGrid>
              <a:tr h="384048">
                <a:tc>
                  <a:txBody>
                    <a:bodyPr/>
                    <a:lstStyle/>
                    <a:p>
                      <a:pPr>
                        <a:defRPr sz="1600" b="1"/>
                      </a:pPr>
                      <a:r>
                        <a:t>Conference</a:t>
                      </a:r>
                    </a:p>
                  </a:txBody>
                  <a:tcPr/>
                </a:tc>
                <a:tc>
                  <a:txBody>
                    <a:bodyPr/>
                    <a:lstStyle/>
                    <a:p>
                      <a:pPr>
                        <a:defRPr sz="1600" b="1"/>
                      </a:pPr>
                      <a:r>
                        <a:t>Session</a:t>
                      </a:r>
                    </a:p>
                  </a:txBody>
                  <a:tcPr/>
                </a:tc>
                <a:tc>
                  <a:txBody>
                    <a:bodyPr/>
                    <a:lstStyle/>
                    <a:p>
                      <a:pPr>
                        <a:defRPr sz="1600" b="1"/>
                      </a:pPr>
                      <a:r>
                        <a:t>Chunks</a:t>
                      </a:r>
                    </a:p>
                  </a:txBody>
                  <a:tcPr/>
                </a:tc>
                <a:tc>
                  <a:txBody>
                    <a:bodyPr/>
                    <a:lstStyle/>
                    <a:p>
                      <a:pPr>
                        <a:defRPr sz="1600" b="1"/>
                      </a:pPr>
                      <a:r>
                        <a:t>Funded</a:t>
                      </a:r>
                    </a:p>
                  </a:txBody>
                  <a:tcPr/>
                </a:tc>
              </a:tr>
              <a:tr h="384048">
                <a:tc>
                  <a:txBody>
                    <a:bodyPr/>
                    <a:lstStyle/>
                    <a:p>
                      <a:pPr>
                        <a:defRPr sz="1600"/>
                      </a:pPr>
                      <a:r>
                        <a:t>2020NES</a:t>
                      </a:r>
                    </a:p>
                  </a:txBody>
                  <a:tcPr/>
                </a:tc>
                <a:tc>
                  <a:txBody>
                    <a:bodyPr/>
                    <a:lstStyle/>
                    <a:p>
                      <a:pPr>
                        <a:defRPr sz="1600"/>
                      </a:pPr>
                      <a:r>
                        <a:t>2020_11_05_NES_S1</a:t>
                      </a:r>
                    </a:p>
                  </a:txBody>
                  <a:tcPr/>
                </a:tc>
                <a:tc>
                  <a:txBody>
                    <a:bodyPr/>
                    <a:lstStyle/>
                    <a:p>
                      <a:pPr>
                        <a:defRPr sz="1600"/>
                      </a:pPr>
                      <a:r>
                        <a:t>2</a:t>
                      </a:r>
                    </a:p>
                  </a:txBody>
                  <a:tcPr/>
                </a:tc>
                <a:tc>
                  <a:txBody>
                    <a:bodyPr/>
                    <a:lstStyle/>
                    <a:p>
                      <a:pPr>
                        <a:defRPr sz="1600"/>
                      </a:pPr>
                      <a:r>
                        <a:t>0</a:t>
                      </a:r>
                    </a:p>
                  </a:txBody>
                  <a:tcPr/>
                </a:tc>
              </a:tr>
              <a:tr h="384048">
                <a:tc>
                  <a:txBody>
                    <a:bodyPr/>
                    <a:lstStyle/>
                    <a:p>
                      <a:pPr>
                        <a:defRPr sz="1600"/>
                      </a:pPr>
                      <a:r>
                        <a:t>2021MND</a:t>
                      </a:r>
                    </a:p>
                  </a:txBody>
                  <a:tcPr/>
                </a:tc>
                <a:tc>
                  <a:txBody>
                    <a:bodyPr/>
                    <a:lstStyle/>
                    <a:p>
                      <a:pPr>
                        <a:defRPr sz="1600"/>
                      </a:pPr>
                      <a:r>
                        <a:t>2021_04_23_MND_S1</a:t>
                      </a:r>
                    </a:p>
                  </a:txBody>
                  <a:tcPr/>
                </a:tc>
                <a:tc>
                  <a:txBody>
                    <a:bodyPr/>
                    <a:lstStyle/>
                    <a:p>
                      <a:pPr>
                        <a:defRPr sz="1600"/>
                      </a:pPr>
                      <a:r>
                        <a:t>2</a:t>
                      </a:r>
                    </a:p>
                  </a:txBody>
                  <a:tcPr/>
                </a:tc>
                <a:tc>
                  <a:txBody>
                    <a:bodyPr/>
                    <a:lstStyle/>
                    <a:p>
                      <a:pPr>
                        <a:defRPr sz="1600"/>
                      </a:pPr>
                      <a:r>
                        <a:t>0</a:t>
                      </a:r>
                    </a:p>
                  </a:txBody>
                  <a:tcPr/>
                </a:tc>
              </a:tr>
              <a:tr h="384048">
                <a:tc>
                  <a:txBody>
                    <a:bodyPr/>
                    <a:lstStyle/>
                    <a:p>
                      <a:pPr>
                        <a:defRPr sz="1600"/>
                      </a:pPr>
                      <a:r>
                        <a:t>2021MND</a:t>
                      </a:r>
                    </a:p>
                  </a:txBody>
                  <a:tcPr/>
                </a:tc>
                <a:tc>
                  <a:txBody>
                    <a:bodyPr/>
                    <a:lstStyle/>
                    <a:p>
                      <a:pPr>
                        <a:defRPr sz="1600"/>
                      </a:pPr>
                      <a:r>
                        <a:t>2021_04_22_MND_S8</a:t>
                      </a:r>
                    </a:p>
                  </a:txBody>
                  <a:tcPr/>
                </a:tc>
                <a:tc>
                  <a:txBody>
                    <a:bodyPr/>
                    <a:lstStyle/>
                    <a:p>
                      <a:pPr>
                        <a:defRPr sz="1600"/>
                      </a:pPr>
                      <a:r>
                        <a:t>1</a:t>
                      </a:r>
                    </a:p>
                  </a:txBody>
                  <a:tcPr/>
                </a:tc>
                <a:tc>
                  <a:txBody>
                    <a:bodyPr/>
                    <a:lstStyle/>
                    <a:p>
                      <a:pPr>
                        <a:defRPr sz="1600"/>
                      </a:pPr>
                      <a:r>
                        <a:t>0</a:t>
                      </a:r>
                    </a:p>
                  </a:txBody>
                  <a:tcPr/>
                </a:tc>
              </a:tr>
              <a:tr h="384048">
                <a:tc>
                  <a:txBody>
                    <a:bodyPr/>
                    <a:lstStyle/>
                    <a:p>
                      <a:pPr>
                        <a:defRPr sz="1600"/>
                      </a:pPr>
                      <a:r>
                        <a:t>2021NES</a:t>
                      </a:r>
                    </a:p>
                  </a:txBody>
                  <a:tcPr/>
                </a:tc>
                <a:tc>
                  <a:txBody>
                    <a:bodyPr/>
                    <a:lstStyle/>
                    <a:p>
                      <a:pPr>
                        <a:defRPr sz="1600"/>
                      </a:pPr>
                      <a:r>
                        <a:t>2021_11_04_NES_S6</a:t>
                      </a:r>
                    </a:p>
                  </a:txBody>
                  <a:tcPr/>
                </a:tc>
                <a:tc>
                  <a:txBody>
                    <a:bodyPr/>
                    <a:lstStyle/>
                    <a:p>
                      <a:pPr>
                        <a:defRPr sz="1600"/>
                      </a:pPr>
                      <a:r>
                        <a:t>4</a:t>
                      </a:r>
                    </a:p>
                  </a:txBody>
                  <a:tcPr/>
                </a:tc>
                <a:tc>
                  <a:txBody>
                    <a:bodyPr/>
                    <a:lstStyle/>
                    <a:p>
                      <a:pPr>
                        <a:defRPr sz="1600"/>
                      </a:pPr>
                      <a:r>
                        <a:t>1</a:t>
                      </a:r>
                    </a:p>
                  </a:txBody>
                  <a:tcPr/>
                </a:tc>
              </a:tr>
            </a:tbl>
          </a:graphicData>
        </a:graphic>
      </p:graphicFrame>
      <p:sp>
        <p:nvSpPr>
          <p:cNvPr id="4" name="TextBox 3"/>
          <p:cNvSpPr txBox="1"/>
          <p:nvPr/>
        </p:nvSpPr>
        <p:spPr>
          <a:xfrm>
            <a:off x="411480" y="3108960"/>
            <a:ext cx="8229600" cy="411480"/>
          </a:xfrm>
          <a:prstGeom prst="rect">
            <a:avLst/>
          </a:prstGeom>
          <a:noFill/>
        </p:spPr>
        <p:txBody>
          <a:bodyPr wrap="square">
            <a:spAutoFit/>
          </a:bodyPr>
          <a:lstStyle/>
          <a:p>
            <a:pPr>
              <a:defRPr sz="1000"/>
            </a:pPr>
            <a:r>
              <a:t>* Review examples only: these meetings were selected from the highest and lowest mean_nonzero_weight values after filtering to meetings with at least 10 extracted moves. They are not 'best' or 'worst' meetings.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Example Meetings To Review: Lower-Score Cases</a:t>
            </a:r>
          </a:p>
        </p:txBody>
      </p:sp>
      <p:graphicFrame>
        <p:nvGraphicFramePr>
          <p:cNvPr id="3" name="Table 2"/>
          <p:cNvGraphicFramePr>
            <a:graphicFrameLocks noGrp="1"/>
          </p:cNvGraphicFramePr>
          <p:nvPr/>
        </p:nvGraphicFramePr>
        <p:xfrm>
          <a:off x="411480" y="1097280"/>
          <a:ext cx="8229600" cy="1920240"/>
        </p:xfrm>
        <a:graphic>
          <a:graphicData uri="http://schemas.openxmlformats.org/drawingml/2006/table">
            <a:tbl>
              <a:tblPr firstRow="1" bandRow="1">
                <a:tableStyleId>{5C22544A-7EE6-4342-B048-85BDC9FD1C3A}</a:tableStyleId>
              </a:tblPr>
              <a:tblGrid>
                <a:gridCol w="2057400"/>
                <a:gridCol w="2057400"/>
                <a:gridCol w="2057400"/>
                <a:gridCol w="2057400"/>
              </a:tblGrid>
              <a:tr h="384048">
                <a:tc>
                  <a:txBody>
                    <a:bodyPr/>
                    <a:lstStyle/>
                    <a:p>
                      <a:pPr>
                        <a:defRPr sz="1600" b="1"/>
                      </a:pPr>
                      <a:r>
                        <a:t>Conference</a:t>
                      </a:r>
                    </a:p>
                  </a:txBody>
                  <a:tcPr/>
                </a:tc>
                <a:tc>
                  <a:txBody>
                    <a:bodyPr/>
                    <a:lstStyle/>
                    <a:p>
                      <a:pPr>
                        <a:defRPr sz="1600" b="1"/>
                      </a:pPr>
                      <a:r>
                        <a:t>Session</a:t>
                      </a:r>
                    </a:p>
                  </a:txBody>
                  <a:tcPr/>
                </a:tc>
                <a:tc>
                  <a:txBody>
                    <a:bodyPr/>
                    <a:lstStyle/>
                    <a:p>
                      <a:pPr>
                        <a:defRPr sz="1600" b="1"/>
                      </a:pPr>
                      <a:r>
                        <a:t>Chunks</a:t>
                      </a:r>
                    </a:p>
                  </a:txBody>
                  <a:tcPr/>
                </a:tc>
                <a:tc>
                  <a:txBody>
                    <a:bodyPr/>
                    <a:lstStyle/>
                    <a:p>
                      <a:pPr>
                        <a:defRPr sz="1600" b="1"/>
                      </a:pPr>
                      <a:r>
                        <a:t>Funded</a:t>
                      </a:r>
                    </a:p>
                  </a:txBody>
                  <a:tcPr/>
                </a:tc>
              </a:tr>
              <a:tr h="384048">
                <a:tc>
                  <a:txBody>
                    <a:bodyPr/>
                    <a:lstStyle/>
                    <a:p>
                      <a:pPr>
                        <a:defRPr sz="1600"/>
                      </a:pPr>
                      <a:r>
                        <a:t>2020NES</a:t>
                      </a:r>
                    </a:p>
                  </a:txBody>
                  <a:tcPr/>
                </a:tc>
                <a:tc>
                  <a:txBody>
                    <a:bodyPr/>
                    <a:lstStyle/>
                    <a:p>
                      <a:pPr>
                        <a:defRPr sz="1600"/>
                      </a:pPr>
                      <a:r>
                        <a:t>2020_11_05_NES_S6</a:t>
                      </a:r>
                    </a:p>
                  </a:txBody>
                  <a:tcPr/>
                </a:tc>
                <a:tc>
                  <a:txBody>
                    <a:bodyPr/>
                    <a:lstStyle/>
                    <a:p>
                      <a:pPr>
                        <a:defRPr sz="1600"/>
                      </a:pPr>
                      <a:r>
                        <a:t>2</a:t>
                      </a:r>
                    </a:p>
                  </a:txBody>
                  <a:tcPr/>
                </a:tc>
                <a:tc>
                  <a:txBody>
                    <a:bodyPr/>
                    <a:lstStyle/>
                    <a:p>
                      <a:pPr>
                        <a:defRPr sz="1600"/>
                      </a:pPr>
                      <a:r>
                        <a:t>0</a:t>
                      </a:r>
                    </a:p>
                  </a:txBody>
                  <a:tcPr/>
                </a:tc>
              </a:tr>
              <a:tr h="384048">
                <a:tc>
                  <a:txBody>
                    <a:bodyPr/>
                    <a:lstStyle/>
                    <a:p>
                      <a:pPr>
                        <a:defRPr sz="1600"/>
                      </a:pPr>
                      <a:r>
                        <a:t>2021MND</a:t>
                      </a:r>
                    </a:p>
                  </a:txBody>
                  <a:tcPr/>
                </a:tc>
                <a:tc>
                  <a:txBody>
                    <a:bodyPr/>
                    <a:lstStyle/>
                    <a:p>
                      <a:pPr>
                        <a:defRPr sz="1600"/>
                      </a:pPr>
                      <a:r>
                        <a:t>2021_04_22_MND_S7</a:t>
                      </a:r>
                    </a:p>
                  </a:txBody>
                  <a:tcPr/>
                </a:tc>
                <a:tc>
                  <a:txBody>
                    <a:bodyPr/>
                    <a:lstStyle/>
                    <a:p>
                      <a:pPr>
                        <a:defRPr sz="1600"/>
                      </a:pPr>
                      <a:r>
                        <a:t>2</a:t>
                      </a:r>
                    </a:p>
                  </a:txBody>
                  <a:tcPr/>
                </a:tc>
                <a:tc>
                  <a:txBody>
                    <a:bodyPr/>
                    <a:lstStyle/>
                    <a:p>
                      <a:pPr>
                        <a:defRPr sz="1600"/>
                      </a:pPr>
                      <a:r>
                        <a:t>0</a:t>
                      </a:r>
                    </a:p>
                  </a:txBody>
                  <a:tcPr/>
                </a:tc>
              </a:tr>
              <a:tr h="384048">
                <a:tc>
                  <a:txBody>
                    <a:bodyPr/>
                    <a:lstStyle/>
                    <a:p>
                      <a:pPr>
                        <a:defRPr sz="1600"/>
                      </a:pPr>
                      <a:r>
                        <a:t>2020NES</a:t>
                      </a:r>
                    </a:p>
                  </a:txBody>
                  <a:tcPr/>
                </a:tc>
                <a:tc>
                  <a:txBody>
                    <a:bodyPr/>
                    <a:lstStyle/>
                    <a:p>
                      <a:pPr>
                        <a:defRPr sz="1600"/>
                      </a:pPr>
                      <a:r>
                        <a:t>2020_11_05_NES_S5</a:t>
                      </a:r>
                    </a:p>
                  </a:txBody>
                  <a:tcPr/>
                </a:tc>
                <a:tc>
                  <a:txBody>
                    <a:bodyPr/>
                    <a:lstStyle/>
                    <a:p>
                      <a:pPr>
                        <a:defRPr sz="1600"/>
                      </a:pPr>
                      <a:r>
                        <a:t>2</a:t>
                      </a:r>
                    </a:p>
                  </a:txBody>
                  <a:tcPr/>
                </a:tc>
                <a:tc>
                  <a:txBody>
                    <a:bodyPr/>
                    <a:lstStyle/>
                    <a:p>
                      <a:pPr>
                        <a:defRPr sz="1600"/>
                      </a:pPr>
                      <a:r>
                        <a:t>1</a:t>
                      </a:r>
                    </a:p>
                  </a:txBody>
                  <a:tcPr/>
                </a:tc>
              </a:tr>
              <a:tr h="384048">
                <a:tc>
                  <a:txBody>
                    <a:bodyPr/>
                    <a:lstStyle/>
                    <a:p>
                      <a:pPr>
                        <a:defRPr sz="1600"/>
                      </a:pPr>
                      <a:r>
                        <a:t>2020NES</a:t>
                      </a:r>
                    </a:p>
                  </a:txBody>
                  <a:tcPr/>
                </a:tc>
                <a:tc>
                  <a:txBody>
                    <a:bodyPr/>
                    <a:lstStyle/>
                    <a:p>
                      <a:pPr>
                        <a:defRPr sz="1600"/>
                      </a:pPr>
                      <a:r>
                        <a:t>2020_11_06_NES_S1</a:t>
                      </a:r>
                    </a:p>
                  </a:txBody>
                  <a:tcPr/>
                </a:tc>
                <a:tc>
                  <a:txBody>
                    <a:bodyPr/>
                    <a:lstStyle/>
                    <a:p>
                      <a:pPr>
                        <a:defRPr sz="1600"/>
                      </a:pPr>
                      <a:r>
                        <a:t>4</a:t>
                      </a:r>
                    </a:p>
                  </a:txBody>
                  <a:tcPr/>
                </a:tc>
                <a:tc>
                  <a:txBody>
                    <a:bodyPr/>
                    <a:lstStyle/>
                    <a:p>
                      <a:pPr>
                        <a:defRPr sz="1600"/>
                      </a:pPr>
                      <a:r>
                        <a:t>1</a:t>
                      </a:r>
                    </a:p>
                  </a:txBody>
                  <a:tcPr/>
                </a:tc>
              </a:tr>
            </a:tbl>
          </a:graphicData>
        </a:graphic>
      </p:graphicFrame>
      <p:sp>
        <p:nvSpPr>
          <p:cNvPr id="4" name="TextBox 3"/>
          <p:cNvSpPr txBox="1"/>
          <p:nvPr/>
        </p:nvSpPr>
        <p:spPr>
          <a:xfrm>
            <a:off x="411480" y="3108960"/>
            <a:ext cx="8229600" cy="411480"/>
          </a:xfrm>
          <a:prstGeom prst="rect">
            <a:avLst/>
          </a:prstGeom>
          <a:noFill/>
        </p:spPr>
        <p:txBody>
          <a:bodyPr wrap="square">
            <a:spAutoFit/>
          </a:bodyPr>
          <a:lstStyle/>
          <a:p>
            <a:pPr>
              <a:defRPr sz="1000"/>
            </a:pPr>
            <a:r>
              <a:t>* Review examples only: these meetings were selected from the highest and lowest mean_nonzero_weight values after filtering to meetings with at least 10 extracted moves. They are not 'best' or 'worst' meetings.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Main Modeling Result</a:t>
            </a:r>
          </a:p>
        </p:txBody>
      </p:sp>
      <p:pic>
        <p:nvPicPr>
          <p:cNvPr id="3" name="Picture 2" descr="model_increment.png"/>
          <p:cNvPicPr>
            <a:picLocks noChangeAspect="1"/>
          </p:cNvPicPr>
          <p:nvPr/>
        </p:nvPicPr>
        <p:blipFill>
          <a:blip r:embed="rId2"/>
          <a:stretch>
            <a:fillRect/>
          </a:stretch>
        </p:blipFill>
        <p:spPr>
          <a:xfrm>
            <a:off x="411480" y="1005840"/>
            <a:ext cx="5669280" cy="3239589"/>
          </a:xfrm>
          <a:prstGeom prst="rect">
            <a:avLst/>
          </a:prstGeom>
        </p:spPr>
      </p:pic>
      <p:sp>
        <p:nvSpPr>
          <p:cNvPr id="4" name="TextBox 3"/>
          <p:cNvSpPr txBox="1"/>
          <p:nvPr/>
        </p:nvSpPr>
        <p:spPr>
          <a:xfrm>
            <a:off x="6309360" y="1097280"/>
            <a:ext cx="2286000" cy="4114800"/>
          </a:xfrm>
          <a:prstGeom prst="rect">
            <a:avLst/>
          </a:prstGeom>
          <a:noFill/>
        </p:spPr>
        <p:txBody>
          <a:bodyPr wrap="square">
            <a:spAutoFit/>
          </a:bodyPr>
          <a:lstStyle/>
          <a:p>
            <a:pPr>
              <a:defRPr sz="2000"/>
            </a:pPr>
            <a:r>
              <a:t>This slide checks one question: does adding the v2 meeting-level layer help the current funding model?</a:t>
            </a:r>
          </a:p>
          <a:p>
            <a:pPr>
              <a:defRPr sz="2000"/>
            </a:pPr>
            <a:r>
              <a:t>Current funding model AUC = 0.730.</a:t>
            </a:r>
          </a:p>
          <a:p>
            <a:pPr>
              <a:defRPr sz="2000"/>
            </a:pPr>
            <a:r>
              <a:t>Current funding model + v2 meeting layer = 0.708.</a:t>
            </a:r>
          </a:p>
          <a:p>
            <a:pPr>
              <a:defRPr sz="2000"/>
            </a:pPr>
            <a:r>
              <a:t>Estimated change = -0.022.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This Means Right Now</a:t>
            </a:r>
          </a:p>
        </p:txBody>
      </p:sp>
      <p:sp>
        <p:nvSpPr>
          <p:cNvPr id="3" name="Content Placeholder 2"/>
          <p:cNvSpPr>
            <a:spLocks noGrp="1"/>
          </p:cNvSpPr>
          <p:nvPr>
            <p:ph idx="1"/>
          </p:nvPr>
        </p:nvSpPr>
        <p:spPr/>
        <p:txBody>
          <a:bodyPr/>
          <a:lstStyle/>
          <a:p>
            <a:pPr>
              <a:defRPr sz="2200"/>
            </a:pPr>
            <a:r>
              <a:t>The canonical-source rerun gives broader coverage and cleaner outcome linkage.</a:t>
            </a:r>
          </a:p>
          <a:p>
            <a:pPr>
              <a:defRPr sz="2200"/>
            </a:pPr>
            <a:r>
              <a:t>But in this version, the new layer from Evey's updated JSON outputs is not improving the existing outcome model.</a:t>
            </a:r>
          </a:p>
          <a:p>
            <a:pPr>
              <a:defRPr sz="2200"/>
            </a:pPr>
            <a:r>
              <a:t>So the current value is to summarize and compare whole meetings on top of chunk_summary and utterance_annotations, rather than to claim better funding prediction yet.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Simple Model Comparison</a:t>
            </a:r>
          </a:p>
        </p:txBody>
      </p:sp>
      <p:graphicFrame>
        <p:nvGraphicFramePr>
          <p:cNvPr id="3" name="Table 2"/>
          <p:cNvGraphicFramePr>
            <a:graphicFrameLocks noGrp="1"/>
          </p:cNvGraphicFramePr>
          <p:nvPr/>
        </p:nvGraphicFramePr>
        <p:xfrm>
          <a:off x="914400" y="1325880"/>
          <a:ext cx="6858000" cy="1463040"/>
        </p:xfrm>
        <a:graphic>
          <a:graphicData uri="http://schemas.openxmlformats.org/drawingml/2006/table">
            <a:tbl>
              <a:tblPr firstRow="1" bandRow="1">
                <a:tableStyleId>{5C22544A-7EE6-4342-B048-85BDC9FD1C3A}</a:tableStyleId>
              </a:tblPr>
              <a:tblGrid>
                <a:gridCol w="3429000"/>
                <a:gridCol w="3429000"/>
              </a:tblGrid>
              <a:tr h="487680">
                <a:tc>
                  <a:txBody>
                    <a:bodyPr/>
                    <a:lstStyle/>
                    <a:p>
                      <a:pPr>
                        <a:defRPr sz="1800" b="1"/>
                      </a:pPr>
                      <a:r>
                        <a:t>Model</a:t>
                      </a:r>
                    </a:p>
                  </a:txBody>
                  <a:tcPr/>
                </a:tc>
                <a:tc>
                  <a:txBody>
                    <a:bodyPr/>
                    <a:lstStyle/>
                    <a:p>
                      <a:pPr>
                        <a:defRPr sz="1800" b="1"/>
                      </a:pPr>
                      <a:r>
                        <a:t>CV AUC</a:t>
                      </a:r>
                    </a:p>
                  </a:txBody>
                  <a:tcPr/>
                </a:tc>
              </a:tr>
              <a:tr h="487680">
                <a:tc>
                  <a:txBody>
                    <a:bodyPr/>
                    <a:lstStyle/>
                    <a:p>
                      <a:pPr>
                        <a:defRPr sz="1800"/>
                      </a:pPr>
                      <a:r>
                        <a:t>Current funding model</a:t>
                      </a:r>
                    </a:p>
                  </a:txBody>
                  <a:tcPr/>
                </a:tc>
                <a:tc>
                  <a:txBody>
                    <a:bodyPr/>
                    <a:lstStyle/>
                    <a:p>
                      <a:pPr>
                        <a:defRPr sz="1800"/>
                      </a:pPr>
                      <a:r>
                        <a:t>0.730</a:t>
                      </a:r>
                    </a:p>
                  </a:txBody>
                  <a:tcPr/>
                </a:tc>
              </a:tr>
              <a:tr h="487680">
                <a:tc>
                  <a:txBody>
                    <a:bodyPr/>
                    <a:lstStyle/>
                    <a:p>
                      <a:pPr>
                        <a:defRPr sz="1800"/>
                      </a:pPr>
                      <a:r>
                        <a:t>Current funding model + v2 meeting layer</a:t>
                      </a:r>
                    </a:p>
                  </a:txBody>
                  <a:tcPr/>
                </a:tc>
                <a:tc>
                  <a:txBody>
                    <a:bodyPr/>
                    <a:lstStyle/>
                    <a:p>
                      <a:pPr>
                        <a:defRPr sz="1800"/>
                      </a:pPr>
                      <a:r>
                        <a:t>0.708</a:t>
                      </a:r>
                    </a:p>
                  </a:txBody>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This Fits The v2 Outputs</a:t>
            </a:r>
          </a:p>
        </p:txBody>
      </p:sp>
      <p:sp>
        <p:nvSpPr>
          <p:cNvPr id="3" name="Content Placeholder 2"/>
          <p:cNvSpPr>
            <a:spLocks noGrp="1"/>
          </p:cNvSpPr>
          <p:nvPr>
            <p:ph idx="1"/>
          </p:nvPr>
        </p:nvSpPr>
        <p:spPr/>
        <p:txBody>
          <a:bodyPr/>
          <a:lstStyle/>
          <a:p>
            <a:pPr>
              <a:defRPr sz="2200"/>
            </a:pPr>
            <a:r>
              <a:t>Evey's canonical outputs add the updated JSON schema across 8 conferences, including chunk_summary and utterance_annotations.</a:t>
            </a:r>
          </a:p>
          <a:p>
            <a:pPr>
              <a:defRPr sz="2200"/>
            </a:pPr>
            <a:r>
              <a:t>This added meeting-level layer is a way to summarize the full session on top of those updated chunk annotations.</a:t>
            </a:r>
          </a:p>
          <a:p>
            <a:pPr>
              <a:defRPr sz="2200"/>
            </a:pPr>
            <a:r>
              <a:t>At the moment, its strongest use is to help characterize meetings and select sessions for closer review, not to claim a predictive gain by itself.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a:t>
            </a:r>
          </a:p>
        </p:txBody>
      </p:sp>
      <p:sp>
        <p:nvSpPr>
          <p:cNvPr id="3" name="Content Placeholder 2"/>
          <p:cNvSpPr>
            <a:spLocks noGrp="1"/>
          </p:cNvSpPr>
          <p:nvPr>
            <p:ph idx="1"/>
          </p:nvPr>
        </p:nvSpPr>
        <p:spPr/>
        <p:txBody>
          <a:bodyPr/>
          <a:lstStyle/>
          <a:p>
            <a:pPr>
              <a:defRPr sz="2200"/>
            </a:pPr>
            <a:r>
              <a:t>Read the example meetings back against their chunk_summary and utterance_annotations.</a:t>
            </a:r>
          </a:p>
          <a:p>
            <a:pPr>
              <a:defRPr sz="2200"/>
            </a:pPr>
            <a:r>
              <a:t>Check whether the meeting-level patterns line up with idea_trajectory, decision_crystallization_level, and shared_vision_indicator in the underlying JSONs.</a:t>
            </a:r>
          </a:p>
          <a:p>
            <a:pPr>
              <a:defRPr sz="2200"/>
            </a:pPr>
            <a:r>
              <a:t>If needed, revise the semantic-similarity component while keeping the same overall fuzzy-linkography framework.</a:t>
            </a:r>
          </a:p>
          <a:p>
            <a:pPr>
              <a:defRPr sz="2200"/>
            </a:pPr>
            <a:r>
              <a:t>Keep the interpretation in the v2 annotation language rather than introducing a separate vocabulary.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
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embeddedFontLst>
    <p:embeddedFont>
      <p:font typeface="Robo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Max Chalekson"/>
  <p:cmAuthor clrIdx="1" id="1" initials="" lastIdx="27" name="Evey Huang"/>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DAE641-C838-4F07-ADC8-504DE61C0255}">
  <a:tblStyle styleId="{31DAE641-C838-4F07-ADC8-504DE61C025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4.xml"/><Relationship Id="rId33" Type="http://schemas.openxmlformats.org/officeDocument/2006/relationships/font" Target="fonts/Roboto-boldItalic.fntdata"/><Relationship Id="rId10" Type="http://schemas.openxmlformats.org/officeDocument/2006/relationships/slide" Target="slides/slide3.xml"/><Relationship Id="rId32" Type="http://schemas.openxmlformats.org/officeDocument/2006/relationships/font" Target="fonts/Roboto-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1-09T21:28:26.587">
    <p:pos x="0" y="0"/>
    <p:text>still in the process of trying to figure out how to revise this slide.</p:text>
  </p:cm>
  <p:cm authorId="1" idx="1" dt="2026-01-08T21:35:05.841">
    <p:pos x="6000" y="0"/>
    <p:text>i basically lost you completely here; can you add all the missing steps from slide 9 to here? how did the mapping of linkography concepts lead to this conclusion? what analysis did you do  and how do you read this graph?</p:text>
  </p:cm>
  <p:cm authorId="1" idx="2" dt="2026-01-08T21:35:05.841">
    <p:pos x="6000" y="0"/>
    <p:text>imagine this slide deck is what you would use when presenting this project at a lab meeting or a conference</p:text>
  </p:cm>
  <p:cm authorId="1" idx="3" dt="2026-01-14T21:47:32.027">
    <p:pos x="56" y="360"/>
    <p:text>show concretely how did you know that teams are narrowing down and reaching closures?</p:text>
  </p:cm>
  <p:cm authorId="1" idx="4" dt="2026-01-14T21:47:32.027">
    <p:pos x="56" y="360"/>
    <p:text>show and visualize these differences (statistical significance?)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5" dt="2026-01-21T19:59:42.028">
    <p:pos x="0" y="324"/>
    <p:text>what is your argument for this? for example, now i am evaluating your writing and leaving open questions and push back, do you not think this is expanding "idea space"?</p:text>
  </p:cm>
  <p:cm authorId="1" idx="6" dt="2026-01-21T19:59:42.028">
    <p:pos x="0" y="324"/>
    <p:text>wouldn't it also "expand" idea space by showing alternative idea spaces?</p:text>
  </p:cm>
  <p:cm authorId="1" idx="7" dt="2026-01-21T20:00:33.251">
    <p:pos x="0" y="424"/>
    <p:text>is this something you observed in the data? or is there literature to back it up (then add citations)</p:text>
  </p:cm>
  <p:cm authorId="1" idx="8" dt="2026-01-21T20:22:51.803">
    <p:pos x="0" y="524"/>
    <p:text>how is the cognitive function inferred ? how do you know what function each code serves?</p:text>
  </p:cm>
  <p:cm authorId="1" idx="9" dt="2026-01-21T20:22:51.803">
    <p:pos x="0" y="524"/>
    <p:text>what will be the simplest language you can use to exchange the jargon here? so that everyone can understand what you meant</p:text>
  </p:cm>
  <p:cm authorId="1" idx="10" dt="2026-01-21T19:52:14.565">
    <p:pos x="0" y="624"/>
    <p:text>is this a "cognitive function"?</p:text>
  </p:cm>
  <p:cm authorId="1" idx="11" dt="2026-01-21T20:23:56.616">
    <p:pos x="0" y="724"/>
    <p:text>could you elaborate what is a "behavioral building block" and the difference between that and the label in codebook? a concrete example would be helpful</p:text>
  </p:cm>
  <p:cm authorId="1" idx="12" dt="2026-01-21T20:23:56.616">
    <p:pos x="0" y="724"/>
    <p:text>similar to the comments on "cognitive function": try to think a bit harder and use simpler language, what really are you trying to say? what is really the difference between those codes "blocks" or "cognitive functions"?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3" dt="2026-01-21T20:22:07.730">
    <p:pos x="25" y="389"/>
    <p:text>even though i have read everything before this multiple times; i still am not sure why you chose to group codes into these categories: (1) what are your arguments for grouping them, (2) what goals are you trying to achieve and why you can't achieve this without these groups, and  (3) how did you decide on these categories and which ones to be grouped? (purely based on your "idea" is not good enough an answer. could you provide evidence to support your argument. such as second order statistical analysis on relationships between codes, or quotes from data, or literature you could cite.) 
could you try again to answer these questions specifically</p:text>
  </p:cm>
  <p:cm authorId="1" idx="14" dt="2026-01-21T20:20:27.487">
    <p:pos x="25" y="389"/>
    <p:text>i think you are getting there though in the sense that you are trying to separate codes by whether they are "expanding" or "contracting"; we just need more evidence and arguments to support your choices of grouping beyond just what you *think</p:text>
  </p:cm>
  <p:cm authorId="1" idx="15" dt="2026-01-21T20:22:07.730">
    <p:pos x="25" y="389"/>
    <p:text>and im just trying to push you little by little to be clearer with your thinking and arguments</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6" dt="2026-01-21T20:35:03.704">
    <p:pos x="0" y="324"/>
    <p:text>this is super clear! love it.</p:text>
  </p:cm>
  <p:cm authorId="1" idx="17" dt="2026-01-21T20:35:03.704">
    <p:pos x="0" y="324"/>
    <p:text>more details on this method please: what is the unit of analysis and how did you calculate entropy 
better with graphs and visuals</p:text>
  </p:cm>
  <p:cm authorId="1" idx="18" dt="2026-01-21T20:10:29.994">
    <p:pos x="0" y="424"/>
    <p:text>show a concrete example (quotes) from your audit</p:text>
  </p:cm>
  <p:cm authorId="1" idx="19" dt="2026-01-21T20:28:01.052">
    <p:pos x="0" y="524"/>
    <p:text>very interesting approach! makes sense!</p:text>
  </p:cm>
  <p:cm authorId="1" idx="20" dt="2026-01-21T20:44:25.901">
    <p:pos x="0" y="624"/>
    <p:text>how are you defining and measuring "convergence"?</p:text>
  </p:cm>
  <p:cm authorId="1" idx="21" dt="2026-01-21T20:32:46.519">
    <p:pos x="0" y="724"/>
    <p:text>could this test be used to support your decision in grouping codes based on their role in "expansion" vs "narrowing" of idea spaces? then you will have concrete evidence to support your decisions that will be much more convincible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2" dt="2026-01-21T20:36:11.179">
    <p:pos x="0" y="324"/>
    <p:text>add graphs/visualizations to illustrate this. concrete examples from the data will also help. this is a very interesting finding</p:text>
  </p:cm>
  <p:cm authorId="1" idx="23" dt="2026-01-21T20:39:46.388">
    <p:pos x="0" y="424"/>
    <p:text>what is "transition dynamics"?</p:text>
  </p:cm>
  <p:cm authorId="1" idx="24" dt="2026-01-21T21:05:05.508">
    <p:pos x="0" y="524"/>
    <p:text>why should this computation work? and *dumb this language down even more</p:text>
  </p:cm>
  <p:cm authorId="1" idx="25" dt="2026-01-21T21:07:12.497">
    <p:pos x="0" y="624"/>
    <p:text>why?</p:text>
  </p:cm>
  <p:cm authorId="1" idx="26" dt="2026-01-21T20:39:29.625">
    <p:pos x="0" y="724"/>
    <p:text>examples from data please; or visualizations/graphs</p:text>
  </p:cm>
  <p:cm authorId="1" idx="27" dt="2026-01-21T21:07:35.238">
    <p:pos x="0" y="824"/>
    <p:text>why? what were you trying to achieve with this?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nlinelibrary.wiley.com/doi/epdf/10.1002/j.2162-6057.2009.tb01304.x" TargetMode="External"/><Relationship Id="rId3" Type="http://schemas.openxmlformats.org/officeDocument/2006/relationships/hyperlink" Target="https://www.sciencedirect.com/science/article/pii/S0747563207000416?via%3Dihub" TargetMode="External"/><Relationship Id="rId4" Type="http://schemas.openxmlformats.org/officeDocument/2006/relationships/hyperlink" Target="https://journals.sagepub.com/doi/epdf/10.1177/1461445606059561" TargetMode="External"/><Relationship Id="rId5" Type="http://schemas.openxmlformats.org/officeDocument/2006/relationships/hyperlink" Target="https://onlinelibrary.wiley.com/doi/10.1111/cogs.12482"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
              <a:t>Need to check the speaker notes (redid slides Jan 15)</a:t>
            </a:r>
            <a:endParaRPr sz="1050">
              <a:solidFill>
                <a:srgbClr val="0E0E0E"/>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claude …. </a:t>
            </a:r>
            <a:endParaRPr/>
          </a:p>
          <a:p>
            <a:pPr indent="0" lvl="0" marL="0" rtl="0" algn="l">
              <a:spcBef>
                <a:spcPts val="0"/>
              </a:spcBef>
              <a:spcAft>
                <a:spcPts val="0"/>
              </a:spcAft>
              <a:buNone/>
            </a:pPr>
            <a:r>
              <a:rPr lang="en"/>
              <a:t>cursor + MD = SWE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53fb5cb5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53fb5cb5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b53fb5cb5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b53fb5cb5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Evey’s Comment 2:52PM January 9th:</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sz="1050">
                <a:solidFill>
                  <a:srgbClr val="444746"/>
                </a:solidFill>
                <a:highlight>
                  <a:srgbClr val="FFFFFF"/>
                </a:highlight>
                <a:latin typeface="Roboto"/>
                <a:ea typeface="Roboto"/>
                <a:cs typeface="Roboto"/>
                <a:sym typeface="Roboto"/>
              </a:rPr>
              <a:t>do you think there might be biases in using the sum of time spent on strategies? (because what if it just normally takes more time to share knowledge because you have to articulate and explain a lot of things?)  </a:t>
            </a:r>
            <a:endParaRPr sz="1050">
              <a:solidFill>
                <a:srgbClr val="444746"/>
              </a:solidFill>
              <a:highlight>
                <a:srgbClr val="FFFFFF"/>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sz="1050">
                <a:solidFill>
                  <a:srgbClr val="444746"/>
                </a:solidFill>
                <a:highlight>
                  <a:srgbClr val="FFFFFF"/>
                </a:highlight>
                <a:latin typeface="Roboto"/>
                <a:ea typeface="Roboto"/>
                <a:cs typeface="Roboto"/>
                <a:sym typeface="Roboto"/>
              </a:rPr>
              <a:t>what are the pros and cons of using "count" of appearance instead of total time?</a:t>
            </a:r>
            <a:endParaRPr sz="1050">
              <a:solidFill>
                <a:srgbClr val="444746"/>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rgbClr val="444746"/>
              </a:solidFill>
              <a:highlight>
                <a:srgbClr val="FFFFFF"/>
              </a:highlight>
              <a:latin typeface="Roboto"/>
              <a:ea typeface="Roboto"/>
              <a:cs typeface="Roboto"/>
              <a:sym typeface="Roboto"/>
            </a:endParaRPr>
          </a:p>
          <a:p>
            <a:pPr indent="0" lvl="0" marL="0" rtl="0" algn="l">
              <a:spcBef>
                <a:spcPts val="0"/>
              </a:spcBef>
              <a:spcAft>
                <a:spcPts val="0"/>
              </a:spcAft>
              <a:buNone/>
            </a:pPr>
            <a:r>
              <a:rPr lang="en">
                <a:solidFill>
                  <a:schemeClr val="dk1"/>
                </a:solidFill>
              </a:rPr>
              <a:t>Mx’s response to </a:t>
            </a:r>
            <a:r>
              <a:rPr lang="en">
                <a:solidFill>
                  <a:schemeClr val="dk1"/>
                </a:solidFill>
              </a:rPr>
              <a:t>Evey’s Comment: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Right, this was something I had realized a few months after I had initially made the "sum annotations graph" as time was a better metric because it can at least measure depth (or is a better assumption), without having to dig into the transcript (which could be done too, if we had wanted to be absolutely sure about the data.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I do believe that time is actually a better measurement bc of those reasons, and i ended up replacing the graph with a time-based minutes version, in this context.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From my current understanding, summing of the annotation codes could be better if we were to track distribution…. something like this for e.g.:</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Meeting A: Knowledge Sharing appears once (explanation appears 12 minutes)</a:t>
            </a:r>
            <a:endParaRPr>
              <a:solidFill>
                <a:schemeClr val="dk1"/>
              </a:solidFill>
            </a:endParaRPr>
          </a:p>
          <a:p>
            <a:pPr indent="0" lvl="0" marL="0" rtl="0" algn="l">
              <a:lnSpc>
                <a:spcPct val="115000"/>
              </a:lnSpc>
              <a:spcBef>
                <a:spcPts val="0"/>
              </a:spcBef>
              <a:spcAft>
                <a:spcPts val="0"/>
              </a:spcAft>
              <a:buNone/>
            </a:pPr>
            <a:r>
              <a:rPr lang="en">
                <a:solidFill>
                  <a:schemeClr val="dk1"/>
                </a:solidFill>
              </a:rPr>
              <a:t>Meeting B: Knowledge Sharing appears 12 times (each time it shows up, it lasts 20 seconds)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If we were to sum it up, it would say Meeting B has more Knowledge Sharing than Meeting A by sheer occurrence rate.</a:t>
            </a:r>
            <a:endParaRPr>
              <a:solidFill>
                <a:schemeClr val="dk1"/>
              </a:solidFill>
            </a:endParaRPr>
          </a:p>
          <a:p>
            <a:pPr indent="0" lvl="0" marL="0" rtl="0" algn="l">
              <a:lnSpc>
                <a:spcPct val="115000"/>
              </a:lnSpc>
              <a:spcBef>
                <a:spcPts val="0"/>
              </a:spcBef>
              <a:spcAft>
                <a:spcPts val="0"/>
              </a:spcAft>
              <a:buNone/>
            </a:pPr>
            <a:r>
              <a:rPr lang="en">
                <a:solidFill>
                  <a:schemeClr val="dk1"/>
                </a:solidFill>
              </a:rPr>
              <a:t>If we were use track length of time: it would say Meeting A spent more of the meeting doing more Knowledge Sharing than Meeting B</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b="1" lang="en">
                <a:solidFill>
                  <a:schemeClr val="dk1"/>
                </a:solidFill>
              </a:rPr>
              <a:t>Progress on Jan 15, 2025: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Added in summation of annotation code graph</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53fb5cb5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b53fb5cb5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A4C2F4"/>
                </a:highlight>
              </a:rPr>
              <a:t>This analysis focuses on the role differentiation under relatively balanced conditions, so standard logistic </a:t>
            </a:r>
            <a:r>
              <a:rPr lang="en">
                <a:highlight>
                  <a:srgbClr val="A4C2F4"/>
                </a:highlight>
              </a:rPr>
              <a:t>regression</a:t>
            </a:r>
            <a:r>
              <a:rPr lang="en">
                <a:highlight>
                  <a:srgbClr val="A4C2F4"/>
                </a:highlight>
              </a:rPr>
              <a:t> is appropriate</a:t>
            </a:r>
            <a:endParaRPr>
              <a:highlight>
                <a:srgbClr val="A4C2F4"/>
              </a:highlight>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Evey’s Comment 2:38 PM Jan 8:</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highlight>
                  <a:srgbClr val="FFFFFF"/>
                </a:highlight>
              </a:rPr>
              <a:t>what test is this?</a:t>
            </a:r>
            <a:endParaRPr b="1">
              <a:highlight>
                <a:srgbClr val="FFFFFF"/>
              </a:highlight>
            </a:endParaRPr>
          </a:p>
          <a:p>
            <a:pPr indent="0" lvl="0" marL="0" rtl="0" algn="l">
              <a:spcBef>
                <a:spcPts val="0"/>
              </a:spcBef>
              <a:spcAft>
                <a:spcPts val="0"/>
              </a:spcAft>
              <a:buNone/>
            </a:pPr>
            <a:r>
              <a:t/>
            </a:r>
            <a:endParaRPr/>
          </a:p>
          <a:p>
            <a:pPr indent="0" lvl="0" marL="0" rtl="0" algn="l">
              <a:spcBef>
                <a:spcPts val="0"/>
              </a:spcBef>
              <a:spcAft>
                <a:spcPts val="0"/>
              </a:spcAft>
              <a:buNone/>
            </a:pPr>
            <a:r>
              <a:rPr lang="en"/>
              <a:t>Max’s response: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a multivariable logistic regression that predicts facilitator </a:t>
            </a:r>
            <a:r>
              <a:rPr lang="en"/>
              <a:t>status</a:t>
            </a:r>
            <a:r>
              <a:rPr lang="en"/>
              <a:t> (binary) from behaviors in the first ⅓ of the meeting. The bars are 95% confidence </a:t>
            </a:r>
            <a:r>
              <a:rPr lang="en"/>
              <a:t>intervals</a:t>
            </a:r>
            <a:r>
              <a:rPr lang="en"/>
              <a:t> (Wald).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Evey’s Comment 2:39 PM Jan 8:</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can you explain how to read this graph with a </a:t>
            </a:r>
            <a:r>
              <a:rPr b="1" lang="en"/>
              <a:t>concrete example like idea management?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Max’s response: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read the confidence interval (CI) plot, the vertical dashed line at 1.0 represents no difference between facilitators and non-facilitators. If a behavior’s 95% confidence interval does not include 1.0, the behavior significantly distinguishes the two roles.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position of the odds ratio (the dot) indicates the direction of the effect. Values </a:t>
            </a:r>
            <a:r>
              <a:rPr i="1" lang="en"/>
              <a:t>above 1</a:t>
            </a:r>
            <a:r>
              <a:rPr lang="en"/>
              <a:t> indicate behaviors more characteristic of facilitators, while values </a:t>
            </a:r>
            <a:r>
              <a:rPr i="1" lang="en"/>
              <a:t>below 1</a:t>
            </a:r>
            <a:r>
              <a:rPr lang="en"/>
              <a:t> indicate behaviors more characteristic of non-facilitators.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Idea Management has an </a:t>
            </a:r>
            <a:r>
              <a:rPr b="1" lang="en"/>
              <a:t>odds ratio</a:t>
            </a:r>
            <a:r>
              <a:rPr lang="en"/>
              <a:t> below 1 and a c</a:t>
            </a:r>
            <a:r>
              <a:rPr b="1" lang="en"/>
              <a:t>onfidence interval </a:t>
            </a:r>
            <a:r>
              <a:rPr lang="en"/>
              <a:t>entirely below 1.0. This means that, holding other behaviors constant, participants who engage more in early Idea Management behaviors are less likely to be facilitators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highlight>
                  <a:srgbClr val="FFD966"/>
                </a:highlight>
              </a:rPr>
              <a:t>P-values (see dec-2025-status.ipynb for complete code chunk; put here for quick access):</a:t>
            </a:r>
            <a:endParaRPr b="1">
              <a:highlight>
                <a:srgbClr val="FFD966"/>
              </a:highlight>
            </a:endParaRPr>
          </a:p>
          <a:p>
            <a:pPr indent="0" lvl="0" marL="0" rtl="0" algn="l">
              <a:spcBef>
                <a:spcPts val="0"/>
              </a:spcBef>
              <a:spcAft>
                <a:spcPts val="0"/>
              </a:spcAft>
              <a:buNone/>
            </a:pPr>
            <a:r>
              <a:t/>
            </a:r>
            <a:endParaRPr b="1">
              <a:highlight>
                <a:srgbClr val="FFD966"/>
              </a:highlight>
            </a:endParaRPr>
          </a:p>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Significant predictors (95% CI excludes 1):</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b="1" lang="en" sz="900">
                <a:solidFill>
                  <a:schemeClr val="dk1"/>
                </a:solidFill>
              </a:rPr>
              <a:t>Coordination &amp; Decision Practices</a:t>
            </a:r>
            <a:br>
              <a:rPr b="1" lang="en" sz="900">
                <a:solidFill>
                  <a:schemeClr val="dk1"/>
                </a:solidFill>
              </a:rPr>
            </a:br>
            <a:r>
              <a:rPr lang="en" sz="900">
                <a:solidFill>
                  <a:schemeClr val="dk1"/>
                </a:solidFill>
              </a:rPr>
              <a:t>OR = </a:t>
            </a:r>
            <a:r>
              <a:rPr b="1" lang="en" sz="900">
                <a:solidFill>
                  <a:schemeClr val="dk1"/>
                </a:solidFill>
              </a:rPr>
              <a:t>8.36</a:t>
            </a:r>
            <a:r>
              <a:rPr lang="en" sz="900">
                <a:solidFill>
                  <a:schemeClr val="dk1"/>
                </a:solidFill>
              </a:rPr>
              <a:t>, p ≈ </a:t>
            </a:r>
            <a:r>
              <a:rPr b="1" lang="en" sz="900">
                <a:solidFill>
                  <a:schemeClr val="dk1"/>
                </a:solidFill>
              </a:rPr>
              <a:t>2.6e-26</a:t>
            </a:r>
            <a:br>
              <a:rPr b="1" lang="en" sz="900">
                <a:solidFill>
                  <a:schemeClr val="dk1"/>
                </a:solidFill>
              </a:rPr>
            </a:br>
            <a:r>
              <a:rPr lang="en" sz="900">
                <a:solidFill>
                  <a:schemeClr val="dk1"/>
                </a:solidFill>
              </a:rPr>
              <a:t>Strongest association with facilitator status by a wide margin.</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 sz="900">
                <a:solidFill>
                  <a:schemeClr val="dk1"/>
                </a:solidFill>
              </a:rPr>
              <a:t>Participation Dynamics</a:t>
            </a:r>
            <a:br>
              <a:rPr b="1" lang="en" sz="900">
                <a:solidFill>
                  <a:schemeClr val="dk1"/>
                </a:solidFill>
              </a:rPr>
            </a:br>
            <a:r>
              <a:rPr lang="en" sz="900">
                <a:solidFill>
                  <a:schemeClr val="dk1"/>
                </a:solidFill>
              </a:rPr>
              <a:t>OR = </a:t>
            </a:r>
            <a:r>
              <a:rPr b="1" lang="en" sz="900">
                <a:solidFill>
                  <a:schemeClr val="dk1"/>
                </a:solidFill>
              </a:rPr>
              <a:t>2.15</a:t>
            </a:r>
            <a:r>
              <a:rPr lang="en" sz="900">
                <a:solidFill>
                  <a:schemeClr val="dk1"/>
                </a:solidFill>
              </a:rPr>
              <a:t>, p ≈ </a:t>
            </a:r>
            <a:r>
              <a:rPr b="1" lang="en" sz="900">
                <a:solidFill>
                  <a:schemeClr val="dk1"/>
                </a:solidFill>
              </a:rPr>
              <a:t>1.8e-7</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 sz="900">
                <a:solidFill>
                  <a:schemeClr val="dk1"/>
                </a:solidFill>
              </a:rPr>
              <a:t>Information Seeking</a:t>
            </a:r>
            <a:br>
              <a:rPr b="1" lang="en" sz="900">
                <a:solidFill>
                  <a:schemeClr val="dk1"/>
                </a:solidFill>
              </a:rPr>
            </a:br>
            <a:r>
              <a:rPr lang="en" sz="900">
                <a:solidFill>
                  <a:schemeClr val="dk1"/>
                </a:solidFill>
              </a:rPr>
              <a:t>OR = </a:t>
            </a:r>
            <a:r>
              <a:rPr b="1" lang="en" sz="900">
                <a:solidFill>
                  <a:schemeClr val="dk1"/>
                </a:solidFill>
              </a:rPr>
              <a:t>1.63</a:t>
            </a:r>
            <a:r>
              <a:rPr lang="en" sz="900">
                <a:solidFill>
                  <a:schemeClr val="dk1"/>
                </a:solidFill>
              </a:rPr>
              <a:t>, p ≈ </a:t>
            </a:r>
            <a:r>
              <a:rPr b="1" lang="en" sz="900">
                <a:solidFill>
                  <a:schemeClr val="dk1"/>
                </a:solidFill>
              </a:rPr>
              <a:t>4.9e-5</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 sz="900">
                <a:solidFill>
                  <a:schemeClr val="dk1"/>
                </a:solidFill>
              </a:rPr>
              <a:t>Relational Climate</a:t>
            </a:r>
            <a:br>
              <a:rPr b="1" lang="en" sz="900">
                <a:solidFill>
                  <a:schemeClr val="dk1"/>
                </a:solidFill>
              </a:rPr>
            </a:br>
            <a:r>
              <a:rPr lang="en" sz="900">
                <a:solidFill>
                  <a:schemeClr val="dk1"/>
                </a:solidFill>
              </a:rPr>
              <a:t>OR = </a:t>
            </a:r>
            <a:r>
              <a:rPr b="1" lang="en" sz="900">
                <a:solidFill>
                  <a:schemeClr val="dk1"/>
                </a:solidFill>
              </a:rPr>
              <a:t>1.32</a:t>
            </a:r>
            <a:r>
              <a:rPr lang="en" sz="900">
                <a:solidFill>
                  <a:schemeClr val="dk1"/>
                </a:solidFill>
              </a:rPr>
              <a:t>, p ≈ </a:t>
            </a:r>
            <a:r>
              <a:rPr b="1" lang="en" sz="900">
                <a:solidFill>
                  <a:schemeClr val="dk1"/>
                </a:solidFill>
              </a:rPr>
              <a:t>0.019</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 sz="900">
                <a:solidFill>
                  <a:schemeClr val="dk1"/>
                </a:solidFill>
              </a:rPr>
              <a:t>Idea Management</a:t>
            </a:r>
            <a:br>
              <a:rPr b="1" lang="en" sz="900">
                <a:solidFill>
                  <a:schemeClr val="dk1"/>
                </a:solidFill>
              </a:rPr>
            </a:br>
            <a:r>
              <a:rPr lang="en" sz="900">
                <a:solidFill>
                  <a:schemeClr val="dk1"/>
                </a:solidFill>
              </a:rPr>
              <a:t>OR = </a:t>
            </a:r>
            <a:r>
              <a:rPr b="1" lang="en" sz="900">
                <a:solidFill>
                  <a:schemeClr val="dk1"/>
                </a:solidFill>
              </a:rPr>
              <a:t>0.73</a:t>
            </a:r>
            <a:r>
              <a:rPr lang="en" sz="900">
                <a:solidFill>
                  <a:schemeClr val="dk1"/>
                </a:solidFill>
              </a:rPr>
              <a:t>, p ≈ </a:t>
            </a:r>
            <a:r>
              <a:rPr b="1" lang="en" sz="900">
                <a:solidFill>
                  <a:schemeClr val="dk1"/>
                </a:solidFill>
              </a:rPr>
              <a:t>0.047</a:t>
            </a:r>
            <a:br>
              <a:rPr b="1" lang="en" sz="900">
                <a:solidFill>
                  <a:schemeClr val="dk1"/>
                </a:solidFill>
              </a:rPr>
            </a:br>
            <a:r>
              <a:rPr lang="en" sz="900">
                <a:solidFill>
                  <a:schemeClr val="dk1"/>
                </a:solidFill>
              </a:rPr>
              <a:t>Lower odds of facilitator status when early idea management is higher.</a:t>
            </a: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900">
                <a:solidFill>
                  <a:schemeClr val="dk1"/>
                </a:solidFill>
              </a:rPr>
              <a:t>Not statistically significant:</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b="1" lang="en" sz="900">
                <a:solidFill>
                  <a:schemeClr val="dk1"/>
                </a:solidFill>
              </a:rPr>
              <a:t>Knowledge Sharing</a:t>
            </a:r>
            <a:br>
              <a:rPr b="1" lang="en" sz="900">
                <a:solidFill>
                  <a:schemeClr val="dk1"/>
                </a:solidFill>
              </a:rPr>
            </a:br>
            <a:r>
              <a:rPr lang="en" sz="900">
                <a:solidFill>
                  <a:schemeClr val="dk1"/>
                </a:solidFill>
              </a:rPr>
              <a:t>OR = </a:t>
            </a:r>
            <a:r>
              <a:rPr b="1" lang="en" sz="900">
                <a:solidFill>
                  <a:schemeClr val="dk1"/>
                </a:solidFill>
              </a:rPr>
              <a:t>0.82</a:t>
            </a:r>
            <a:r>
              <a:rPr lang="en" sz="900">
                <a:solidFill>
                  <a:schemeClr val="dk1"/>
                </a:solidFill>
              </a:rPr>
              <a:t>, p ≈ </a:t>
            </a:r>
            <a:r>
              <a:rPr b="1" lang="en" sz="900">
                <a:solidFill>
                  <a:schemeClr val="dk1"/>
                </a:solidFill>
              </a:rPr>
              <a:t>0.21</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 sz="900">
                <a:solidFill>
                  <a:schemeClr val="dk1"/>
                </a:solidFill>
              </a:rPr>
              <a:t>Integration Practices</a:t>
            </a:r>
            <a:br>
              <a:rPr b="1" lang="en" sz="900">
                <a:solidFill>
                  <a:schemeClr val="dk1"/>
                </a:solidFill>
              </a:rPr>
            </a:br>
            <a:r>
              <a:rPr lang="en" sz="900">
                <a:solidFill>
                  <a:schemeClr val="dk1"/>
                </a:solidFill>
              </a:rPr>
              <a:t>OR = </a:t>
            </a:r>
            <a:r>
              <a:rPr b="1" lang="en" sz="900">
                <a:solidFill>
                  <a:schemeClr val="dk1"/>
                </a:solidFill>
              </a:rPr>
              <a:t>0.98</a:t>
            </a:r>
            <a:r>
              <a:rPr lang="en" sz="900">
                <a:solidFill>
                  <a:schemeClr val="dk1"/>
                </a:solidFill>
              </a:rPr>
              <a:t>, p ≈ </a:t>
            </a:r>
            <a:r>
              <a:rPr b="1" lang="en" sz="900">
                <a:solidFill>
                  <a:schemeClr val="dk1"/>
                </a:solidFill>
              </a:rPr>
              <a:t>0.84</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 sz="900">
                <a:solidFill>
                  <a:schemeClr val="dk1"/>
                </a:solidFill>
              </a:rPr>
              <a:t>Evaluation Practices</a:t>
            </a:r>
            <a:br>
              <a:rPr b="1" lang="en" sz="900">
                <a:solidFill>
                  <a:schemeClr val="dk1"/>
                </a:solidFill>
              </a:rPr>
            </a:br>
            <a:r>
              <a:rPr lang="en" sz="900">
                <a:solidFill>
                  <a:schemeClr val="dk1"/>
                </a:solidFill>
              </a:rPr>
              <a:t>OR = </a:t>
            </a:r>
            <a:r>
              <a:rPr b="1" lang="en" sz="900">
                <a:solidFill>
                  <a:schemeClr val="dk1"/>
                </a:solidFill>
              </a:rPr>
              <a:t>1.10</a:t>
            </a:r>
            <a:r>
              <a:rPr lang="en" sz="900">
                <a:solidFill>
                  <a:schemeClr val="dk1"/>
                </a:solidFill>
              </a:rPr>
              <a:t>, p ≈ </a:t>
            </a:r>
            <a:r>
              <a:rPr b="1" lang="en" sz="900">
                <a:solidFill>
                  <a:schemeClr val="dk1"/>
                </a:solidFill>
              </a:rPr>
              <a:t>0.47</a:t>
            </a:r>
            <a:endParaRPr b="1" sz="850">
              <a:solidFill>
                <a:srgbClr val="0E0E0E"/>
              </a:solidFill>
            </a:endParaRPr>
          </a:p>
          <a:p>
            <a:pPr indent="0" lvl="0" marL="139700" rtl="0" algn="l">
              <a:lnSpc>
                <a:spcPct val="115000"/>
              </a:lnSpc>
              <a:spcBef>
                <a:spcPts val="1200"/>
              </a:spcBef>
              <a:spcAft>
                <a:spcPts val="0"/>
              </a:spcAft>
              <a:buClr>
                <a:schemeClr val="dk1"/>
              </a:buClr>
              <a:buSzPts val="1100"/>
              <a:buFont typeface="Arial"/>
              <a:buNone/>
            </a:pPr>
            <a:r>
              <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b="1" lang="en" sz="1050">
                <a:solidFill>
                  <a:srgbClr val="0E0E0E"/>
                </a:solidFill>
              </a:rPr>
              <a:t>Meeting with Evey Jan 14 2026:</a:t>
            </a:r>
            <a:endParaRPr b="1"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b="1"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b="1" lang="en" sz="1050">
                <a:solidFill>
                  <a:srgbClr val="0E0E0E"/>
                </a:solidFill>
              </a:rPr>
              <a:t>check if this is time or summation of the code annotations</a:t>
            </a:r>
            <a:endParaRPr b="1"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b="1" lang="en" sz="1050">
                <a:solidFill>
                  <a:srgbClr val="0E0E0E"/>
                </a:solidFill>
              </a:rPr>
              <a:t>if it is time added in the counting? →</a:t>
            </a:r>
            <a:r>
              <a:rPr b="1" lang="en" sz="1050">
                <a:solidFill>
                  <a:srgbClr val="0E0E0E"/>
                </a:solidFill>
                <a:highlight>
                  <a:srgbClr val="B6D7A8"/>
                </a:highlight>
              </a:rPr>
              <a:t> time summation of the code annotations</a:t>
            </a:r>
            <a:endParaRPr sz="1800">
              <a:solidFill>
                <a:srgbClr val="595959"/>
              </a:solidFill>
              <a:highlight>
                <a:srgbClr val="B6D7A8"/>
              </a:highlight>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b53fb5cb5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b53fb5cb5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A4C2F4"/>
                </a:highlight>
              </a:rPr>
              <a:t>This analysis focuses on early behavioral signals under correlated predictors and moderate imbalance, so I used ridge regression with bootstrap-based inference.</a:t>
            </a:r>
            <a:endParaRPr>
              <a:highlight>
                <a:srgbClr val="A4C2F4"/>
              </a:highlight>
            </a:endParaRPr>
          </a:p>
          <a:p>
            <a:pPr indent="0" lvl="0" marL="0" rtl="0" algn="l">
              <a:spcBef>
                <a:spcPts val="0"/>
              </a:spcBef>
              <a:spcAft>
                <a:spcPts val="0"/>
              </a:spcAft>
              <a:buNone/>
            </a:pPr>
            <a:r>
              <a:t/>
            </a:r>
            <a:endParaRPr/>
          </a:p>
          <a:p>
            <a:pPr indent="0" lvl="0" marL="0" rtl="0" algn="l">
              <a:spcBef>
                <a:spcPts val="0"/>
              </a:spcBef>
              <a:spcAft>
                <a:spcPts val="0"/>
              </a:spcAft>
              <a:buNone/>
            </a:pPr>
            <a:r>
              <a:rPr lang="en"/>
              <a:t>Evey’s comment Jan 8 at 2:42 PM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highlight>
                  <a:srgbClr val="FFFFFF"/>
                </a:highlight>
              </a:rPr>
              <a:t>again, what test is this / what is the model? </a:t>
            </a:r>
            <a:endParaRPr>
              <a:highlight>
                <a:srgbClr val="FFFFFF"/>
              </a:highlight>
            </a:endParaRPr>
          </a:p>
          <a:p>
            <a:pPr indent="0" lvl="0" marL="0" rtl="0" algn="l">
              <a:spcBef>
                <a:spcPts val="0"/>
              </a:spcBef>
              <a:spcAft>
                <a:spcPts val="0"/>
              </a:spcAft>
              <a:buNone/>
            </a:pPr>
            <a:r>
              <a:t/>
            </a:r>
            <a:endParaRPr/>
          </a:p>
          <a:p>
            <a:pPr indent="0" lvl="0" marL="0" rtl="0" algn="l">
              <a:spcBef>
                <a:spcPts val="0"/>
              </a:spcBef>
              <a:spcAft>
                <a:spcPts val="0"/>
              </a:spcAft>
              <a:buNone/>
            </a:pPr>
            <a:r>
              <a:rPr lang="en"/>
              <a:t>Max’s response: </a:t>
            </a:r>
            <a:endParaRPr/>
          </a:p>
          <a:p>
            <a:pPr indent="0" lvl="0" marL="0" rtl="0" algn="l">
              <a:lnSpc>
                <a:spcPct val="115000"/>
              </a:lnSpc>
              <a:spcBef>
                <a:spcPts val="1400"/>
              </a:spcBef>
              <a:spcAft>
                <a:spcPts val="0"/>
              </a:spcAft>
              <a:buNone/>
            </a:pPr>
            <a:r>
              <a:rPr b="1" lang="en" sz="1300">
                <a:solidFill>
                  <a:schemeClr val="dk1"/>
                </a:solidFill>
              </a:rPr>
              <a:t>Model / Test</a:t>
            </a:r>
            <a:endParaRPr b="1" sz="1300">
              <a:solidFill>
                <a:schemeClr val="dk1"/>
              </a:solidFill>
            </a:endParaRPr>
          </a:p>
          <a:p>
            <a:pPr indent="0" lvl="0" marL="0" rtl="0" algn="l">
              <a:lnSpc>
                <a:spcPct val="115000"/>
              </a:lnSpc>
              <a:spcBef>
                <a:spcPts val="1200"/>
              </a:spcBef>
              <a:spcAft>
                <a:spcPts val="0"/>
              </a:spcAft>
              <a:buNone/>
            </a:pPr>
            <a:r>
              <a:rPr lang="en">
                <a:solidFill>
                  <a:schemeClr val="dk1"/>
                </a:solidFill>
              </a:rPr>
              <a:t>This is a ridge-regularized logistic regression model predicting </a:t>
            </a:r>
            <a:r>
              <a:rPr b="1" lang="en">
                <a:solidFill>
                  <a:schemeClr val="dk1"/>
                </a:solidFill>
              </a:rPr>
              <a:t>person-level team formation</a:t>
            </a:r>
            <a:r>
              <a:rPr lang="en">
                <a:solidFill>
                  <a:schemeClr val="dk1"/>
                </a:solidFill>
              </a:rPr>
              <a:t> from behaviors in the first ⅓ of the meeting.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Because the outcome is imbalanced with signs of separation and several predictors are correlated, I used ridge regularization to stabilize coefficient estimates and bootstrap resampling to compute 95% confidence intervals for the odds ratios, rather than relying on Wald p-values for inference.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Odds ratios are reported per 1 standard deviation increase in each behavioral feature.</a:t>
            </a:r>
            <a:endParaRPr/>
          </a:p>
          <a:p>
            <a:pPr indent="0" lvl="0" marL="139700" rtl="0" algn="l">
              <a:lnSpc>
                <a:spcPct val="115000"/>
              </a:lnSpc>
              <a:spcBef>
                <a:spcPts val="1200"/>
              </a:spcBef>
              <a:spcAft>
                <a:spcPts val="0"/>
              </a:spcAft>
              <a:buClr>
                <a:schemeClr val="dk1"/>
              </a:buClr>
              <a:buSzPts val="1100"/>
              <a:buFont typeface="Arial"/>
              <a:buNone/>
            </a:pPr>
            <a:r>
              <a:t/>
            </a:r>
            <a:endParaRPr sz="1050">
              <a:solidFill>
                <a:srgbClr val="0E0E0E"/>
              </a:solidFill>
            </a:endParaRPr>
          </a:p>
          <a:p>
            <a:pPr indent="0" lvl="0" marL="0" rtl="0" algn="l">
              <a:lnSpc>
                <a:spcPct val="115000"/>
              </a:lnSpc>
              <a:spcBef>
                <a:spcPts val="1200"/>
              </a:spcBef>
              <a:spcAft>
                <a:spcPts val="0"/>
              </a:spcAft>
              <a:buClr>
                <a:schemeClr val="dk1"/>
              </a:buClr>
              <a:buSzPts val="1100"/>
              <a:buFont typeface="Arial"/>
              <a:buNone/>
            </a:pPr>
            <a:r>
              <a:rPr b="1" lang="en" sz="1050">
                <a:solidFill>
                  <a:srgbClr val="0E0E0E"/>
                </a:solidFill>
              </a:rPr>
              <a:t>P-values (reference only; plain, unpenalized logistic Wald tests — unstable under imbalance/separation):</a:t>
            </a:r>
            <a:endParaRPr b="1" sz="1050">
              <a:solidFill>
                <a:srgbClr val="0E0E0E"/>
              </a:solidFill>
            </a:endParaRPr>
          </a:p>
          <a:p>
            <a:pPr indent="0" lvl="0" marL="0" rtl="0" algn="l">
              <a:lnSpc>
                <a:spcPct val="115000"/>
              </a:lnSpc>
              <a:spcBef>
                <a:spcPts val="1200"/>
              </a:spcBef>
              <a:spcAft>
                <a:spcPts val="0"/>
              </a:spcAft>
              <a:buClr>
                <a:schemeClr val="dk1"/>
              </a:buClr>
              <a:buSzPts val="1100"/>
              <a:buFont typeface="Arial"/>
              <a:buNone/>
            </a:pPr>
            <a:r>
              <a:rPr b="1" lang="en" sz="1050">
                <a:solidFill>
                  <a:srgbClr val="0E0E0E"/>
                </a:solidFill>
              </a:rPr>
              <a:t>(See dec-2025-status.ipynb / person-level logit cell for full code; listed here for quick access)</a:t>
            </a:r>
            <a:endParaRPr b="1" sz="1050">
              <a:solidFill>
                <a:srgbClr val="0E0E0E"/>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Significant predictors (p &lt; .05):</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Coordination &amp; Decision Practices</a:t>
            </a:r>
            <a:br>
              <a:rPr b="1" lang="en">
                <a:solidFill>
                  <a:schemeClr val="dk1"/>
                </a:solidFill>
              </a:rPr>
            </a:br>
            <a:r>
              <a:rPr lang="en">
                <a:solidFill>
                  <a:schemeClr val="dk1"/>
                </a:solidFill>
              </a:rPr>
              <a:t>OR = </a:t>
            </a:r>
            <a:r>
              <a:rPr b="1" lang="en">
                <a:solidFill>
                  <a:schemeClr val="dk1"/>
                </a:solidFill>
              </a:rPr>
              <a:t>0.34</a:t>
            </a:r>
            <a:r>
              <a:rPr lang="en">
                <a:solidFill>
                  <a:schemeClr val="dk1"/>
                </a:solidFill>
              </a:rPr>
              <a:t>, p ≈ </a:t>
            </a:r>
            <a:r>
              <a:rPr b="1" lang="en">
                <a:solidFill>
                  <a:schemeClr val="dk1"/>
                </a:solidFill>
              </a:rPr>
              <a:t>2.1e-13</a:t>
            </a:r>
            <a:br>
              <a:rPr b="1" lang="en">
                <a:solidFill>
                  <a:schemeClr val="dk1"/>
                </a:solidFill>
              </a:rPr>
            </a:br>
            <a:r>
              <a:rPr lang="en">
                <a:solidFill>
                  <a:schemeClr val="dk1"/>
                </a:solidFill>
              </a:rPr>
              <a:t>→ Strong negative association with being on a team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Participation Dynamics</a:t>
            </a:r>
            <a:br>
              <a:rPr b="1" lang="en">
                <a:solidFill>
                  <a:schemeClr val="dk1"/>
                </a:solidFill>
              </a:rPr>
            </a:br>
            <a:r>
              <a:rPr lang="en">
                <a:solidFill>
                  <a:schemeClr val="dk1"/>
                </a:solidFill>
              </a:rPr>
              <a:t>OR = </a:t>
            </a:r>
            <a:r>
              <a:rPr b="1" lang="en">
                <a:solidFill>
                  <a:schemeClr val="dk1"/>
                </a:solidFill>
              </a:rPr>
              <a:t>0.62</a:t>
            </a:r>
            <a:r>
              <a:rPr lang="en">
                <a:solidFill>
                  <a:schemeClr val="dk1"/>
                </a:solidFill>
              </a:rPr>
              <a:t>, p ≈ </a:t>
            </a:r>
            <a:r>
              <a:rPr b="1" lang="en">
                <a:solidFill>
                  <a:schemeClr val="dk1"/>
                </a:solidFill>
              </a:rPr>
              <a:t>6.3e-05</a:t>
            </a:r>
            <a:br>
              <a:rPr b="1" lang="en">
                <a:solidFill>
                  <a:schemeClr val="dk1"/>
                </a:solidFill>
              </a:rPr>
            </a:br>
            <a:r>
              <a:rPr lang="en">
                <a:solidFill>
                  <a:schemeClr val="dk1"/>
                </a:solidFill>
              </a:rPr>
              <a:t>→ Fewer turn-taking / participation dynamics among team members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Knowledge Sharing</a:t>
            </a:r>
            <a:br>
              <a:rPr b="1" lang="en">
                <a:solidFill>
                  <a:schemeClr val="dk1"/>
                </a:solidFill>
              </a:rPr>
            </a:br>
            <a:r>
              <a:rPr lang="en">
                <a:solidFill>
                  <a:schemeClr val="dk1"/>
                </a:solidFill>
              </a:rPr>
              <a:t>OR = </a:t>
            </a:r>
            <a:r>
              <a:rPr b="1" lang="en">
                <a:solidFill>
                  <a:schemeClr val="dk1"/>
                </a:solidFill>
              </a:rPr>
              <a:t>1.23</a:t>
            </a:r>
            <a:r>
              <a:rPr lang="en">
                <a:solidFill>
                  <a:schemeClr val="dk1"/>
                </a:solidFill>
              </a:rPr>
              <a:t>, p ≈ </a:t>
            </a:r>
            <a:r>
              <a:rPr b="1" lang="en">
                <a:solidFill>
                  <a:schemeClr val="dk1"/>
                </a:solidFill>
              </a:rPr>
              <a:t>.025</a:t>
            </a:r>
            <a:br>
              <a:rPr b="1" lang="en">
                <a:solidFill>
                  <a:schemeClr val="dk1"/>
                </a:solidFill>
              </a:rPr>
            </a:br>
            <a:r>
              <a:rPr lang="en">
                <a:solidFill>
                  <a:schemeClr val="dk1"/>
                </a:solidFill>
              </a:rPr>
              <a:t>→ Higher early knowledge sharing increases likelihood of team membership</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Not significant: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Information Seeking (p ≈ .14)</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Evaluation Practices (p ≈ .33)</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Idea Management (p ≈ .49)</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Integration Practices (p ≈ .50)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Relational Climate (p ≈ .70)</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050">
              <a:solidFill>
                <a:srgbClr val="0E0E0E"/>
              </a:solidFill>
            </a:endParaRPr>
          </a:p>
          <a:p>
            <a:pPr indent="0" lvl="0" marL="0" rtl="0" algn="l">
              <a:spcBef>
                <a:spcPts val="1200"/>
              </a:spcBef>
              <a:spcAft>
                <a:spcPts val="0"/>
              </a:spcAft>
              <a:buNone/>
            </a:pPr>
            <a:r>
              <a:t/>
            </a:r>
            <a:endParaRPr b="1" sz="1050">
              <a:solidFill>
                <a:srgbClr val="0E0E0E"/>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53fb5cb5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53fb5cb5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ighlight>
                  <a:srgbClr val="A4C2F4"/>
                </a:highlight>
              </a:rPr>
              <a:t>This analysis targets a highly </a:t>
            </a:r>
            <a:r>
              <a:rPr lang="en">
                <a:highlight>
                  <a:srgbClr val="A4C2F4"/>
                </a:highlight>
              </a:rPr>
              <a:t>imbalanced outcome, so inference is based on bootstrap confidence intervals rather than p-values</a:t>
            </a:r>
            <a:endParaRPr>
              <a:highlight>
                <a:srgbClr val="A4C2F4"/>
              </a:highlight>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the slide i should compare to evey (</a:t>
            </a:r>
            <a:r>
              <a:rPr lang="en"/>
              <a:t>initially</a:t>
            </a:r>
            <a:r>
              <a:rPr lang="en"/>
              <a:t> wasn’t lining up → now it is)</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Model / Test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slide uses a ridge-regularized logistic regression model to predict funding outcomes from behaviors observed in the first ⅓ of the meeting.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Because the outcome is highly imbalanced (many more funded than non-funded teams), ridge regularization is used to stabilize coefficient estimates. Statistical inference is based on </a:t>
            </a:r>
            <a:r>
              <a:rPr b="1" lang="en">
                <a:solidFill>
                  <a:schemeClr val="dk1"/>
                </a:solidFill>
              </a:rPr>
              <a:t>bootstrap 95% confidence intervals for odds ratios</a:t>
            </a:r>
            <a:r>
              <a:rPr lang="en">
                <a:solidFill>
                  <a:schemeClr val="dk1"/>
                </a:solidFill>
              </a:rPr>
              <a:t>, rather than Wald p-values, which can be unreliable under imbalance and near-separation.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Interpretation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Odds ratios are reported per 1 standard deviation increase in each behavior (features were standardized).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Results (bootstrap-based inference)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Evaluation Practices shows a robust negative association with funding outcomes in the first ⅓ of the meeting (bootstrap CI excludes OR = 1). All other behaviors show directional effects, but their bootstrap confidence intervals overlap OR = 1 and are therefore interpreted as weaker evidence.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Significant (p &lt; .05):</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Coordination &amp; Decision Practices</a:t>
            </a:r>
            <a:r>
              <a:rPr lang="en">
                <a:solidFill>
                  <a:schemeClr val="dk1"/>
                </a:solidFill>
              </a:rPr>
              <a:t>: OR ≈ </a:t>
            </a:r>
            <a:r>
              <a:rPr b="1" lang="en">
                <a:solidFill>
                  <a:schemeClr val="dk1"/>
                </a:solidFill>
              </a:rPr>
              <a:t>0.28</a:t>
            </a:r>
            <a:r>
              <a:rPr lang="en">
                <a:solidFill>
                  <a:schemeClr val="dk1"/>
                </a:solidFill>
              </a:rPr>
              <a:t>, p ≈ </a:t>
            </a:r>
            <a:r>
              <a:rPr b="1" lang="en">
                <a:solidFill>
                  <a:schemeClr val="dk1"/>
                </a:solidFill>
              </a:rPr>
              <a:t>5.3 × 10⁻¹¹</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Participation Dynamics</a:t>
            </a:r>
            <a:r>
              <a:rPr lang="en">
                <a:solidFill>
                  <a:schemeClr val="dk1"/>
                </a:solidFill>
              </a:rPr>
              <a:t>: OR ≈ </a:t>
            </a:r>
            <a:r>
              <a:rPr b="1" lang="en">
                <a:solidFill>
                  <a:schemeClr val="dk1"/>
                </a:solidFill>
              </a:rPr>
              <a:t>0.64</a:t>
            </a:r>
            <a:r>
              <a:rPr lang="en">
                <a:solidFill>
                  <a:schemeClr val="dk1"/>
                </a:solidFill>
              </a:rPr>
              <a:t>, p ≈ </a:t>
            </a:r>
            <a:r>
              <a:rPr b="1" lang="en">
                <a:solidFill>
                  <a:schemeClr val="dk1"/>
                </a:solidFill>
              </a:rPr>
              <a:t>0.0010</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Not significant (p ≥ .05):</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Knowledge Sharing: OR ≈ 1.22, p ≈ 0.067</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Idea Management: OR ≈ 1.16, p ≈ 0.143</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Evaluation Practices: OR ≈ 1.07, p ≈ 0.399</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Integration Practices: OR ≈ 1.06, p ≈ 0.41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Information Seeking: OR ≈ 1.02, p ≈ 0.785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Relational Climate: OR ≈ 0.99, p ≈ 0.916</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Wald p-values are reported for reference only and are not used for the primary claims on this slide.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Jan 14 2026 15:00 MEETING NOTES: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Not really useful: relational climate and participation </a:t>
            </a:r>
            <a:r>
              <a:rPr lang="en">
                <a:solidFill>
                  <a:schemeClr val="dk1"/>
                </a:solidFill>
              </a:rPr>
              <a:t>dynamics.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are these having idea or closure.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what are the ideas proposed and how are they proposed (that’s what linkogrpahy is showing)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from slide notes: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show the significance (this graph captures the direction)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want the sizeable effect and the stat sig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get address in slide “6B” otherwise known as slide 7 in slidedeck)</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8191aa9c1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8191aa9c1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Bootstrap significance (session-level, 95% CI; primary inference):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Idea Management:</a:t>
            </a:r>
            <a:r>
              <a:rPr lang="en">
                <a:solidFill>
                  <a:schemeClr val="dk1"/>
                </a:solidFill>
              </a:rPr>
              <a:t> +23.6%, 95% CI ≈ [1.0%, 50.2%], </a:t>
            </a:r>
            <a:r>
              <a:rPr b="1" lang="en">
                <a:solidFill>
                  <a:schemeClr val="dk1"/>
                </a:solidFill>
              </a:rPr>
              <a:t>p_boot = .041</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All other early behaviors have </a:t>
            </a:r>
            <a:r>
              <a:rPr b="1" lang="en">
                <a:solidFill>
                  <a:schemeClr val="dk1"/>
                </a:solidFill>
              </a:rPr>
              <a:t>bootstrap p &gt; .20</a:t>
            </a:r>
            <a:r>
              <a:rPr lang="en">
                <a:solidFill>
                  <a:schemeClr val="dk1"/>
                </a:solidFill>
              </a:rPr>
              <a:t> and </a:t>
            </a:r>
            <a:r>
              <a:rPr b="1" lang="en">
                <a:solidFill>
                  <a:schemeClr val="dk1"/>
                </a:solidFill>
              </a:rPr>
              <a:t>CIs crossing 0</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Interpretation:</a:t>
            </a:r>
            <a:r>
              <a:rPr lang="en">
                <a:solidFill>
                  <a:schemeClr val="dk1"/>
                </a:solidFill>
              </a:rPr>
              <a:t> Only Idea Management shows a statistically reliable early-session difference between successful and unsuccessful proposals; other effects are directionally suggestive but unstable under resampling.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Reference (descriptive bootstrap p-values; not inferential):</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Integration Practices: p_boot = .276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Information Seeking: p_boot = .244</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Relational Climate: p_boot = .382</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Knowledge Sharing: p_boot = .418</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Participation Dynamics: p_boot = .838</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Coordination &amp; Decision Practices: p_boot = .848</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Evaluation Practices: p_boot = .686</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53fb5cb5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53fb5cb5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53fb5cb5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53fb5cb5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Evey’s comment Jan 8 at 3:25 PM</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050">
                <a:solidFill>
                  <a:srgbClr val="444746"/>
                </a:solidFill>
                <a:highlight>
                  <a:srgbClr val="FFFFFF"/>
                </a:highlight>
                <a:latin typeface="Roboto"/>
                <a:ea typeface="Roboto"/>
                <a:cs typeface="Roboto"/>
                <a:sym typeface="Roboto"/>
              </a:rPr>
              <a:t>what is an "idea" in our context and data?</a:t>
            </a:r>
            <a:endParaRPr sz="1050">
              <a:solidFill>
                <a:srgbClr val="444746"/>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rgbClr val="444746"/>
              </a:solidFill>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Max’s </a:t>
            </a:r>
            <a:r>
              <a:rPr lang="en" sz="1050">
                <a:latin typeface="Roboto"/>
                <a:ea typeface="Roboto"/>
                <a:cs typeface="Roboto"/>
                <a:sym typeface="Roboto"/>
              </a:rPr>
              <a:t>response (Jan 9 at 14:40pm)</a:t>
            </a:r>
            <a:endParaRPr sz="1050">
              <a:latin typeface="Roboto"/>
              <a:ea typeface="Roboto"/>
              <a:cs typeface="Roboto"/>
              <a:sym typeface="Roboto"/>
            </a:endParaRPr>
          </a:p>
          <a:p>
            <a:pPr indent="0" lvl="0" marL="0" rtl="0" algn="l">
              <a:spcBef>
                <a:spcPts val="0"/>
              </a:spcBef>
              <a:spcAft>
                <a:spcPts val="0"/>
              </a:spcAft>
              <a:buNone/>
            </a:pPr>
            <a:r>
              <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I updated the wording to “conceptual contributions” to better reflect the SCIALOG context, since “ideas” was too vague. In these meetings, participants are engaged in proposal-oriented reasoning. This involves discussing, </a:t>
            </a:r>
            <a:r>
              <a:rPr lang="en" sz="1050">
                <a:latin typeface="Roboto"/>
                <a:ea typeface="Roboto"/>
                <a:cs typeface="Roboto"/>
                <a:sym typeface="Roboto"/>
              </a:rPr>
              <a:t>refining, and evaluating emerging conceptual explanations and solution directions. These conceptual contributions accumulate and interact over time as teams work toward a fundable research proposal.</a:t>
            </a:r>
            <a:endParaRPr sz="1050">
              <a:latin typeface="Roboto"/>
              <a:ea typeface="Roboto"/>
              <a:cs typeface="Roboto"/>
              <a:sym typeface="Roboto"/>
            </a:endParaRPr>
          </a:p>
          <a:p>
            <a:pPr indent="0" lvl="0" marL="0" rtl="0" algn="l">
              <a:spcBef>
                <a:spcPts val="0"/>
              </a:spcBef>
              <a:spcAft>
                <a:spcPts val="0"/>
              </a:spcAft>
              <a:buNone/>
            </a:pPr>
            <a:r>
              <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In the context of the data, this may mean an observable, coded behavior in which the participants advances/modifies/evaluates/etc. proposal-relevant content during the meeting.</a:t>
            </a:r>
            <a:endParaRPr sz="1050">
              <a:latin typeface="Roboto"/>
              <a:ea typeface="Roboto"/>
              <a:cs typeface="Roboto"/>
              <a:sym typeface="Roboto"/>
            </a:endParaRPr>
          </a:p>
          <a:p>
            <a:pPr indent="0" lvl="0" marL="0" rtl="0" algn="l">
              <a:spcBef>
                <a:spcPts val="0"/>
              </a:spcBef>
              <a:spcAft>
                <a:spcPts val="0"/>
              </a:spcAft>
              <a:buNone/>
            </a:pPr>
            <a:r>
              <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In practice, this may look like (to list a few):</a:t>
            </a:r>
            <a:endParaRPr sz="1050">
              <a:latin typeface="Roboto"/>
              <a:ea typeface="Roboto"/>
              <a:cs typeface="Roboto"/>
              <a:sym typeface="Roboto"/>
            </a:endParaRPr>
          </a:p>
          <a:p>
            <a:pPr indent="0" lvl="0" marL="0" rtl="0" algn="l">
              <a:spcBef>
                <a:spcPts val="0"/>
              </a:spcBef>
              <a:spcAft>
                <a:spcPts val="0"/>
              </a:spcAft>
              <a:buNone/>
            </a:pPr>
            <a:r>
              <a:t/>
            </a:r>
            <a:endParaRPr sz="1050">
              <a:latin typeface="Roboto"/>
              <a:ea typeface="Roboto"/>
              <a:cs typeface="Roboto"/>
              <a:sym typeface="Roboto"/>
            </a:endParaRPr>
          </a:p>
          <a:p>
            <a:pPr indent="-295275" lvl="0" marL="457200" rtl="0" algn="l">
              <a:spcBef>
                <a:spcPts val="0"/>
              </a:spcBef>
              <a:spcAft>
                <a:spcPts val="0"/>
              </a:spcAft>
              <a:buSzPts val="1050"/>
              <a:buFont typeface="Roboto"/>
              <a:buAutoNum type="arabicParenBoth"/>
            </a:pPr>
            <a:r>
              <a:rPr lang="en" sz="1050">
                <a:latin typeface="Roboto"/>
                <a:ea typeface="Roboto"/>
                <a:cs typeface="Roboto"/>
                <a:sym typeface="Roboto"/>
              </a:rPr>
              <a:t>Proposing a potential hypothesis, or explanation</a:t>
            </a:r>
            <a:endParaRPr sz="1050">
              <a:latin typeface="Roboto"/>
              <a:ea typeface="Roboto"/>
              <a:cs typeface="Roboto"/>
              <a:sym typeface="Roboto"/>
            </a:endParaRPr>
          </a:p>
          <a:p>
            <a:pPr indent="0" lvl="0" marL="457200" rtl="0" algn="l">
              <a:spcBef>
                <a:spcPts val="0"/>
              </a:spcBef>
              <a:spcAft>
                <a:spcPts val="0"/>
              </a:spcAft>
              <a:buNone/>
            </a:pPr>
            <a:r>
              <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(e.g. suggesting how a biological process might work)</a:t>
            </a:r>
            <a:endParaRPr sz="1050">
              <a:latin typeface="Roboto"/>
              <a:ea typeface="Roboto"/>
              <a:cs typeface="Roboto"/>
              <a:sym typeface="Roboto"/>
            </a:endParaRPr>
          </a:p>
          <a:p>
            <a:pPr indent="0" lvl="0" marL="0" rtl="0" algn="l">
              <a:spcBef>
                <a:spcPts val="0"/>
              </a:spcBef>
              <a:spcAft>
                <a:spcPts val="0"/>
              </a:spcAft>
              <a:buNone/>
            </a:pPr>
            <a:r>
              <a:t/>
            </a:r>
            <a:endParaRPr sz="1050">
              <a:latin typeface="Roboto"/>
              <a:ea typeface="Roboto"/>
              <a:cs typeface="Roboto"/>
              <a:sym typeface="Roboto"/>
            </a:endParaRPr>
          </a:p>
          <a:p>
            <a:pPr indent="-295275" lvl="0" marL="457200" rtl="0" algn="l">
              <a:spcBef>
                <a:spcPts val="0"/>
              </a:spcBef>
              <a:spcAft>
                <a:spcPts val="0"/>
              </a:spcAft>
              <a:buSzPts val="1050"/>
              <a:buFont typeface="Roboto"/>
              <a:buAutoNum type="arabicParenBoth"/>
            </a:pPr>
            <a:r>
              <a:rPr lang="en" sz="1050">
                <a:latin typeface="Roboto"/>
                <a:ea typeface="Roboto"/>
                <a:cs typeface="Roboto"/>
                <a:sym typeface="Roboto"/>
              </a:rPr>
              <a:t>Developing or refining an earlier contribution</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(adding detail, clarifying assumptions)</a:t>
            </a:r>
            <a:endParaRPr sz="1050">
              <a:latin typeface="Roboto"/>
              <a:ea typeface="Roboto"/>
              <a:cs typeface="Roboto"/>
              <a:sym typeface="Roboto"/>
            </a:endParaRPr>
          </a:p>
          <a:p>
            <a:pPr indent="0" lvl="0" marL="0" rtl="0" algn="l">
              <a:spcBef>
                <a:spcPts val="0"/>
              </a:spcBef>
              <a:spcAft>
                <a:spcPts val="0"/>
              </a:spcAft>
              <a:buNone/>
            </a:pPr>
            <a:r>
              <a:t/>
            </a:r>
            <a:endParaRPr sz="1050">
              <a:latin typeface="Roboto"/>
              <a:ea typeface="Roboto"/>
              <a:cs typeface="Roboto"/>
              <a:sym typeface="Roboto"/>
            </a:endParaRPr>
          </a:p>
          <a:p>
            <a:pPr indent="-295275" lvl="0" marL="457200" rtl="0" algn="l">
              <a:spcBef>
                <a:spcPts val="0"/>
              </a:spcBef>
              <a:spcAft>
                <a:spcPts val="0"/>
              </a:spcAft>
              <a:buSzPts val="1050"/>
              <a:buFont typeface="Roboto"/>
              <a:buAutoNum type="arabicParenBoth"/>
            </a:pPr>
            <a:r>
              <a:rPr lang="en" sz="1050">
                <a:latin typeface="Roboto"/>
                <a:ea typeface="Roboto"/>
                <a:cs typeface="Roboto"/>
                <a:sym typeface="Roboto"/>
              </a:rPr>
              <a:t>Evaluating feasibility, plausibility, or relevance</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(critiquing, rejecting/accepting an idea, etc.)</a:t>
            </a:r>
            <a:endParaRPr sz="1050">
              <a:latin typeface="Roboto"/>
              <a:ea typeface="Roboto"/>
              <a:cs typeface="Roboto"/>
              <a:sym typeface="Roboto"/>
            </a:endParaRPr>
          </a:p>
          <a:p>
            <a:pPr indent="0" lvl="0" marL="0" rtl="0" algn="l">
              <a:spcBef>
                <a:spcPts val="0"/>
              </a:spcBef>
              <a:spcAft>
                <a:spcPts val="0"/>
              </a:spcAft>
              <a:buNone/>
            </a:pPr>
            <a:r>
              <a:t/>
            </a:r>
            <a:endParaRPr sz="1050">
              <a:latin typeface="Roboto"/>
              <a:ea typeface="Roboto"/>
              <a:cs typeface="Roboto"/>
              <a:sym typeface="Roboto"/>
            </a:endParaRPr>
          </a:p>
          <a:p>
            <a:pPr indent="-295275" lvl="0" marL="457200" rtl="0" algn="l">
              <a:spcBef>
                <a:spcPts val="0"/>
              </a:spcBef>
              <a:spcAft>
                <a:spcPts val="0"/>
              </a:spcAft>
              <a:buSzPts val="1050"/>
              <a:buFont typeface="Roboto"/>
              <a:buAutoNum type="arabicParenBoth"/>
            </a:pPr>
            <a:r>
              <a:rPr lang="en" sz="1050">
                <a:latin typeface="Roboto"/>
                <a:ea typeface="Roboto"/>
                <a:cs typeface="Roboto"/>
                <a:sym typeface="Roboto"/>
              </a:rPr>
              <a:t>Integrating multiple contributions (think of the team members)</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(linking concepts across speakers, domains, prior discussions)</a:t>
            </a:r>
            <a:endParaRPr sz="1050">
              <a:latin typeface="Roboto"/>
              <a:ea typeface="Roboto"/>
              <a:cs typeface="Roboto"/>
              <a:sym typeface="Roboto"/>
            </a:endParaRPr>
          </a:p>
          <a:p>
            <a:pPr indent="0" lvl="0" marL="0" rtl="0" algn="l">
              <a:spcBef>
                <a:spcPts val="0"/>
              </a:spcBef>
              <a:spcAft>
                <a:spcPts val="0"/>
              </a:spcAft>
              <a:buNone/>
            </a:pPr>
            <a:r>
              <a:t/>
            </a:r>
            <a:endParaRPr sz="1050">
              <a:latin typeface="Roboto"/>
              <a:ea typeface="Roboto"/>
              <a:cs typeface="Roboto"/>
              <a:sym typeface="Roboto"/>
            </a:endParaRPr>
          </a:p>
          <a:p>
            <a:pPr indent="-295275" lvl="0" marL="457200" rtl="0" algn="l">
              <a:spcBef>
                <a:spcPts val="0"/>
              </a:spcBef>
              <a:spcAft>
                <a:spcPts val="0"/>
              </a:spcAft>
              <a:buSzPts val="1050"/>
              <a:buFont typeface="Roboto"/>
              <a:buAutoNum type="arabicParenBoth"/>
            </a:pPr>
            <a:r>
              <a:rPr lang="en" sz="1050">
                <a:latin typeface="Roboto"/>
                <a:ea typeface="Roboto"/>
                <a:cs typeface="Roboto"/>
                <a:sym typeface="Roboto"/>
              </a:rPr>
              <a:t>Structuring or coordinating proposal direction —&gt; think of the “facilitator role”</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(deciding what to pursue, drop, prioritize)</a:t>
            </a:r>
            <a:endParaRPr sz="1050">
              <a:latin typeface="Roboto"/>
              <a:ea typeface="Roboto"/>
              <a:cs typeface="Roboto"/>
              <a:sym typeface="Roboto"/>
            </a:endParaRPr>
          </a:p>
          <a:p>
            <a:pPr indent="0" lvl="0" marL="0" rtl="0" algn="l">
              <a:spcBef>
                <a:spcPts val="0"/>
              </a:spcBef>
              <a:spcAft>
                <a:spcPts val="0"/>
              </a:spcAft>
              <a:buNone/>
            </a:pPr>
            <a:r>
              <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These are also shown through the coded behaviors (Idea Management, Evaluation Practices, Knowledge Sharing, etc.)</a:t>
            </a:r>
            <a:endParaRPr sz="1050">
              <a:latin typeface="Roboto"/>
              <a:ea typeface="Roboto"/>
              <a:cs typeface="Roboto"/>
              <a:sym typeface="Roboto"/>
            </a:endParaRPr>
          </a:p>
          <a:p>
            <a:pPr indent="0" lvl="0" marL="0" rtl="0" algn="l">
              <a:spcBef>
                <a:spcPts val="0"/>
              </a:spcBef>
              <a:spcAft>
                <a:spcPts val="0"/>
              </a:spcAft>
              <a:buNone/>
            </a:pPr>
            <a:r>
              <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Think conceptually: why does this matter or link to our previous slides (and successful teams - roles, temporal thirds - what kind of additional ) how does it help an insufficient idea</a:t>
            </a:r>
            <a:endParaRPr sz="1050">
              <a:latin typeface="Roboto"/>
              <a:ea typeface="Roboto"/>
              <a:cs typeface="Roboto"/>
              <a:sym typeface="Roboto"/>
            </a:endParaRPr>
          </a:p>
          <a:p>
            <a:pPr indent="0" lvl="0" marL="0" rtl="0" algn="l">
              <a:spcBef>
                <a:spcPts val="0"/>
              </a:spcBef>
              <a:spcAft>
                <a:spcPts val="0"/>
              </a:spcAft>
              <a:buNone/>
            </a:pPr>
            <a:r>
              <a:t/>
            </a:r>
            <a:endParaRPr sz="1050">
              <a:latin typeface="Roboto"/>
              <a:ea typeface="Roboto"/>
              <a:cs typeface="Roboto"/>
              <a:sym typeface="Roboto"/>
            </a:endParaRPr>
          </a:p>
          <a:p>
            <a:pPr indent="0" lvl="0" marL="0" rtl="0" algn="l">
              <a:spcBef>
                <a:spcPts val="0"/>
              </a:spcBef>
              <a:spcAft>
                <a:spcPts val="0"/>
              </a:spcAft>
              <a:buNone/>
            </a:pPr>
            <a:r>
              <a:rPr lang="en" sz="1050">
                <a:latin typeface="Roboto"/>
                <a:ea typeface="Roboto"/>
                <a:cs typeface="Roboto"/>
                <a:sym typeface="Roboto"/>
              </a:rPr>
              <a:t>why care about the coupling of the strategies / annotation codes</a:t>
            </a:r>
            <a:endParaRPr sz="1050">
              <a:latin typeface="Roboto"/>
              <a:ea typeface="Roboto"/>
              <a:cs typeface="Roboto"/>
              <a:sym typeface="Roboto"/>
            </a:endParaRPr>
          </a:p>
          <a:p>
            <a:pPr indent="-295275" lvl="0" marL="457200" rtl="0" algn="l">
              <a:spcBef>
                <a:spcPts val="0"/>
              </a:spcBef>
              <a:spcAft>
                <a:spcPts val="0"/>
              </a:spcAft>
              <a:buSzPts val="1050"/>
              <a:buFont typeface="Roboto"/>
              <a:buChar char="-"/>
            </a:pPr>
            <a:r>
              <a:rPr lang="en" sz="1050">
                <a:latin typeface="Roboto"/>
                <a:ea typeface="Roboto"/>
                <a:cs typeface="Roboto"/>
                <a:sym typeface="Roboto"/>
              </a:rPr>
              <a:t>10: what did you find using this technique, how does this give deeper understanding of teams. </a:t>
            </a:r>
            <a:endParaRPr sz="1050">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53fb5cb5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53fb5cb5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Jan 9: Added in the “Idea” column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b53fb5cb5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b53fb5cb5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Scratch notes for rewriting this slide: </a:t>
            </a:r>
            <a:endParaRPr b="1">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Meeting w/ Evey (01/07/2026)</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more context in (for </a:t>
            </a:r>
            <a:r>
              <a:rPr lang="en">
                <a:solidFill>
                  <a:schemeClr val="dk1"/>
                </a:solidFill>
              </a:rPr>
              <a:t>linkography</a:t>
            </a:r>
            <a:r>
              <a:rPr lang="en">
                <a:solidFill>
                  <a:schemeClr val="dk1"/>
                </a:solidFill>
              </a:rPr>
              <a:t>) what have i tried, what worked, didn’t work etc.</a:t>
            </a:r>
            <a:endParaRPr>
              <a:solidFill>
                <a:schemeClr val="dk1"/>
              </a:solidFill>
            </a:endParaRPr>
          </a:p>
          <a:p>
            <a:pPr indent="0" lvl="0" marL="0" rtl="0" algn="l">
              <a:spcBef>
                <a:spcPts val="0"/>
              </a:spcBef>
              <a:spcAft>
                <a:spcPts val="0"/>
              </a:spcAft>
              <a:buNone/>
            </a:pPr>
            <a:r>
              <a:rPr lang="en">
                <a:solidFill>
                  <a:schemeClr val="dk1"/>
                </a:solidFill>
              </a:rPr>
              <a:t>make sense of it.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scratch:</a:t>
            </a:r>
            <a:endParaRPr>
              <a:solidFill>
                <a:schemeClr val="dk1"/>
              </a:solidFill>
            </a:endParaRPr>
          </a:p>
          <a:p>
            <a:pPr indent="0" lvl="0" marL="0" rtl="0" algn="l">
              <a:lnSpc>
                <a:spcPct val="115000"/>
              </a:lnSpc>
              <a:spcBef>
                <a:spcPts val="0"/>
              </a:spcBef>
              <a:spcAft>
                <a:spcPts val="0"/>
              </a:spcAft>
              <a:buNone/>
            </a:pPr>
            <a:r>
              <a:rPr lang="en" sz="1050">
                <a:solidFill>
                  <a:schemeClr val="dk1"/>
                </a:solidFill>
              </a:rPr>
              <a:t>what happens before a specific code etc. or after etc. ?</a:t>
            </a:r>
            <a:endParaRPr sz="1050">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Maybe something like this?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 Integration | Evaluation, middle) </a:t>
            </a:r>
            <a:endParaRPr>
              <a:solidFill>
                <a:schemeClr val="dk1"/>
              </a:solidFill>
            </a:endParaRPr>
          </a:p>
          <a:p>
            <a:pPr indent="0" lvl="0" marL="0" rtl="0" algn="l">
              <a:spcBef>
                <a:spcPts val="0"/>
              </a:spcBef>
              <a:spcAft>
                <a:spcPts val="0"/>
              </a:spcAft>
              <a:buNone/>
            </a:pPr>
            <a:r>
              <a:rPr lang="en">
                <a:solidFill>
                  <a:schemeClr val="dk1"/>
                </a:solidFill>
              </a:rPr>
              <a:t>P(Decision | Integration, end)</a:t>
            </a:r>
            <a:endParaRPr>
              <a:solidFill>
                <a:schemeClr val="dk1"/>
              </a:solidFill>
            </a:endParaRPr>
          </a:p>
          <a:p>
            <a:pPr indent="0" lvl="0" marL="0" rtl="0" algn="l">
              <a:spcBef>
                <a:spcPts val="0"/>
              </a:spcBef>
              <a:spcAft>
                <a:spcPts val="0"/>
              </a:spcAft>
              <a:buNone/>
            </a:pPr>
            <a:r>
              <a:rPr lang="en">
                <a:solidFill>
                  <a:schemeClr val="dk1"/>
                </a:solidFill>
              </a:rPr>
              <a:t>P(Evaluation | Knowledge Sharing, beginning)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139700" rtl="0" algn="l">
              <a:lnSpc>
                <a:spcPct val="115000"/>
              </a:lnSpc>
              <a:spcBef>
                <a:spcPts val="0"/>
              </a:spcBef>
              <a:spcAft>
                <a:spcPts val="0"/>
              </a:spcAft>
              <a:buNone/>
            </a:pPr>
            <a:r>
              <a:rPr i="1" lang="en" sz="1050">
                <a:solidFill>
                  <a:srgbClr val="0E0E0E"/>
                </a:solidFill>
              </a:rPr>
              <a:t>Rather than treating behavioral codes as independent signals, we model how specific behaviors function as transitions between idea states—capturing when critique leads to synthesis versus stagnation.</a:t>
            </a:r>
            <a:endParaRPr i="1" sz="1050">
              <a:solidFill>
                <a:srgbClr val="0E0E0E"/>
              </a:solidFill>
            </a:endParaRPr>
          </a:p>
          <a:p>
            <a:pPr indent="0" lvl="0" marL="139700" rtl="0" algn="l">
              <a:lnSpc>
                <a:spcPct val="115000"/>
              </a:lnSpc>
              <a:spcBef>
                <a:spcPts val="0"/>
              </a:spcBef>
              <a:spcAft>
                <a:spcPts val="0"/>
              </a:spcAft>
              <a:buNone/>
            </a:pPr>
            <a:r>
              <a:t/>
            </a:r>
            <a:endParaRPr i="1" sz="1050">
              <a:solidFill>
                <a:srgbClr val="0E0E0E"/>
              </a:solidFill>
            </a:endParaRPr>
          </a:p>
          <a:p>
            <a:pPr indent="0" lvl="0" marL="0" rtl="0" algn="l">
              <a:lnSpc>
                <a:spcPct val="115000"/>
              </a:lnSpc>
              <a:spcBef>
                <a:spcPts val="1200"/>
              </a:spcBef>
              <a:spcAft>
                <a:spcPts val="0"/>
              </a:spcAft>
              <a:buNone/>
            </a:pPr>
            <a:r>
              <a:rPr lang="en" sz="1050">
                <a:solidFill>
                  <a:srgbClr val="0E0E0E"/>
                </a:solidFill>
              </a:rPr>
              <a:t>“What role does Knowledge Sharing play in moving the team toward alignment, decision, or breakdown?”</a:t>
            </a:r>
            <a:endParaRPr sz="1050">
              <a:solidFill>
                <a:srgbClr val="0E0E0E"/>
              </a:solidFill>
            </a:endParaRPr>
          </a:p>
          <a:p>
            <a:pPr indent="-295275" lvl="0" marL="457200" rtl="0" algn="l">
              <a:lnSpc>
                <a:spcPct val="115000"/>
              </a:lnSpc>
              <a:spcBef>
                <a:spcPts val="1200"/>
              </a:spcBef>
              <a:spcAft>
                <a:spcPts val="0"/>
              </a:spcAft>
              <a:buClr>
                <a:srgbClr val="0E0E0E"/>
              </a:buClr>
              <a:buSzPts val="1050"/>
              <a:buChar char="-"/>
            </a:pPr>
            <a:r>
              <a:rPr lang="en" sz="1050">
                <a:solidFill>
                  <a:srgbClr val="0E0E0E"/>
                </a:solidFill>
              </a:rPr>
              <a:t>next missing step?: “When Knowledge Sharing appears </a:t>
            </a:r>
            <a:r>
              <a:rPr b="1" lang="en" sz="1050">
                <a:solidFill>
                  <a:srgbClr val="0E0E0E"/>
                </a:solidFill>
              </a:rPr>
              <a:t>in this configuration</a:t>
            </a:r>
            <a:r>
              <a:rPr lang="en" sz="1050">
                <a:solidFill>
                  <a:srgbClr val="0E0E0E"/>
                </a:solidFill>
              </a:rPr>
              <a:t>, what happens next at the </a:t>
            </a:r>
            <a:r>
              <a:rPr i="1" lang="en" sz="1050">
                <a:solidFill>
                  <a:srgbClr val="0E0E0E"/>
                </a:solidFill>
              </a:rPr>
              <a:t>meeting level</a:t>
            </a:r>
            <a:r>
              <a:rPr lang="en" sz="1050">
                <a:solidFill>
                  <a:srgbClr val="0E0E0E"/>
                </a:solidFill>
              </a:rPr>
              <a:t>?”</a:t>
            </a:r>
            <a:endParaRPr sz="1050">
              <a:solidFill>
                <a:srgbClr val="0E0E0E"/>
              </a:solidFill>
            </a:endParaRPr>
          </a:p>
          <a:p>
            <a:pPr indent="0" lvl="0" marL="0" rtl="0" algn="l">
              <a:lnSpc>
                <a:spcPct val="115000"/>
              </a:lnSpc>
              <a:spcBef>
                <a:spcPts val="1200"/>
              </a:spcBef>
              <a:spcAft>
                <a:spcPts val="0"/>
              </a:spcAft>
              <a:buNone/>
            </a:pPr>
            <a:r>
              <a:t/>
            </a:r>
            <a:endParaRPr sz="1050">
              <a:solidFill>
                <a:srgbClr val="0E0E0E"/>
              </a:solidFill>
            </a:endParaRPr>
          </a:p>
          <a:p>
            <a:pPr indent="0" lvl="0" marL="0" rtl="0" algn="l">
              <a:lnSpc>
                <a:spcPct val="115000"/>
              </a:lnSpc>
              <a:spcBef>
                <a:spcPts val="1200"/>
              </a:spcBef>
              <a:spcAft>
                <a:spcPts val="0"/>
              </a:spcAft>
              <a:buNone/>
            </a:pPr>
            <a:r>
              <a:t/>
            </a:r>
            <a:endParaRPr sz="1050">
              <a:solidFill>
                <a:srgbClr val="0E0E0E"/>
              </a:solidFill>
            </a:endParaRPr>
          </a:p>
          <a:p>
            <a:pPr indent="0" lvl="0" marL="0" rtl="0" algn="l">
              <a:lnSpc>
                <a:spcPct val="115000"/>
              </a:lnSpc>
              <a:spcBef>
                <a:spcPts val="1200"/>
              </a:spcBef>
              <a:spcAft>
                <a:spcPts val="0"/>
              </a:spcAft>
              <a:buNone/>
            </a:pPr>
            <a:r>
              <a:t/>
            </a:r>
            <a:endParaRPr sz="1050">
              <a:solidFill>
                <a:srgbClr val="0E0E0E"/>
              </a:solidFill>
            </a:endParaRPr>
          </a:p>
          <a:p>
            <a:pPr indent="0" lvl="0" marL="0" rtl="0" algn="l">
              <a:lnSpc>
                <a:spcPct val="115000"/>
              </a:lnSpc>
              <a:spcBef>
                <a:spcPts val="1200"/>
              </a:spcBef>
              <a:spcAft>
                <a:spcPts val="0"/>
              </a:spcAft>
              <a:buNone/>
            </a:pPr>
            <a:r>
              <a:rPr lang="en" sz="1050">
                <a:solidFill>
                  <a:srgbClr val="0E0E0E"/>
                </a:solidFill>
              </a:rPr>
              <a:t>Maybe something like this (for redoing this slide → written Jan 14):</a:t>
            </a:r>
            <a:endParaRPr sz="1050">
              <a:solidFill>
                <a:srgbClr val="0E0E0E"/>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Do funded teams show different idea-flow structure than unfunded teams?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Can behavioral codes explain that structure?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Or </a:t>
            </a:r>
            <a:r>
              <a:rPr b="1" lang="en">
                <a:solidFill>
                  <a:schemeClr val="dk1"/>
                </a:solidFill>
              </a:rPr>
              <a:t>something</a:t>
            </a:r>
            <a:r>
              <a:rPr b="1" lang="en">
                <a:solidFill>
                  <a:schemeClr val="dk1"/>
                </a:solidFill>
              </a:rPr>
              <a:t> like this:</a:t>
            </a:r>
            <a:endParaRPr b="1">
              <a:solidFill>
                <a:schemeClr val="dk1"/>
              </a:solidFill>
            </a:endParaRPr>
          </a:p>
          <a:p>
            <a:pPr indent="0" lvl="0" marL="139700" rtl="0" algn="l">
              <a:lnSpc>
                <a:spcPct val="115000"/>
              </a:lnSpc>
              <a:spcBef>
                <a:spcPts val="1200"/>
              </a:spcBef>
              <a:spcAft>
                <a:spcPts val="0"/>
              </a:spcAft>
              <a:buClr>
                <a:schemeClr val="dk1"/>
              </a:buClr>
              <a:buSzPts val="1100"/>
              <a:buFont typeface="Arial"/>
              <a:buNone/>
            </a:pPr>
            <a:r>
              <a:rPr lang="en" sz="900">
                <a:solidFill>
                  <a:srgbClr val="0E0E0E"/>
                </a:solidFill>
              </a:rPr>
              <a:t>“What late-stage interaction patterns are </a:t>
            </a:r>
            <a:r>
              <a:rPr b="1" lang="en" sz="900">
                <a:solidFill>
                  <a:srgbClr val="0E0E0E"/>
                </a:solidFill>
              </a:rPr>
              <a:t>associated with</a:t>
            </a:r>
            <a:r>
              <a:rPr lang="en" sz="900">
                <a:solidFill>
                  <a:srgbClr val="0E0E0E"/>
                </a:solidFill>
              </a:rPr>
              <a:t> different proposal outcomes?”</a:t>
            </a:r>
            <a:endParaRPr sz="900">
              <a:solidFill>
                <a:srgbClr val="0E0E0E"/>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Jan 14 2026 15:00 MEETING NOTES: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From this graph (EVEY)</a:t>
            </a:r>
            <a:br>
              <a:rPr lang="en">
                <a:solidFill>
                  <a:schemeClr val="dk1"/>
                </a:solidFill>
              </a:rPr>
            </a:br>
            <a:r>
              <a:rPr lang="en">
                <a:solidFill>
                  <a:schemeClr val="dk1"/>
                </a:solidFill>
              </a:rPr>
              <a:t>- what is important for these teams, these are </a:t>
            </a:r>
            <a:r>
              <a:rPr lang="en">
                <a:solidFill>
                  <a:schemeClr val="dk1"/>
                </a:solidFill>
              </a:rPr>
              <a:t>brainstorming ideas,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why do teams narrow things down and have idea closure (important)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stuff aligns with linkography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this is starting to show in the analysis, how do we amplify this result, (and simplify this by: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maybe ignore slide 9, and focus on the small parts on linkography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maybe this graph isn’t the best way to show it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How do you visualize differences b/w teams successful/unsuccessful teams (this will make sense to people)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SLIDE 10: TEXT MAKES SENSE - BUT HOW TF DID I GET THERE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HOW ARE THEY HAVING DECISION CLOSURE, AND HOW DID YOU KNOW TEAMS ARE NARROWING DOWN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HOW DID YOU REACH THESE CONCLUSIONS, AND HOW DO WE AMPLIFY THESE RESULTS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RESEARCH - THE DIFFICULT PART IS EXPLAINING. NOT CODING. HOW DO YOU BREAK DOWN THIS MULTI-STEP AND STILL GET WHAT YOU ARE GETTING, AND BELIEVE IN YOUR RESULTS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IDEA CLOSURE: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what kind of behaviors codes/couplets of the annotation might mean team is wrapping up on an idea.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might have to figure out a way to distinguish them (FP / FN)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proposed idea / similarities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even we were to IDEA CLOSURE </a:t>
            </a:r>
            <a:endParaRPr>
              <a:solidFill>
                <a:schemeClr val="dk1"/>
              </a:solidFill>
            </a:endParaRPr>
          </a:p>
          <a:p>
            <a:pPr indent="0" lvl="0" marL="0" rtl="0" algn="l">
              <a:lnSpc>
                <a:spcPct val="115000"/>
              </a:lnSpc>
              <a:spcBef>
                <a:spcPts val="1200"/>
              </a:spcBef>
              <a:spcAft>
                <a:spcPts val="0"/>
              </a:spcAft>
              <a:buNone/>
            </a:pPr>
            <a:r>
              <a:t/>
            </a:r>
            <a:endParaRPr i="1" sz="1050">
              <a:solidFill>
                <a:srgbClr val="0E0E0E"/>
              </a:solidFill>
            </a:endParaRPr>
          </a:p>
          <a:p>
            <a:pPr indent="0" lvl="0" marL="0" rtl="0" algn="l">
              <a:lnSpc>
                <a:spcPct val="115000"/>
              </a:lnSpc>
              <a:spcBef>
                <a:spcPts val="1200"/>
              </a:spcBef>
              <a:spcAft>
                <a:spcPts val="0"/>
              </a:spcAft>
              <a:buNone/>
            </a:pPr>
            <a:r>
              <a:t/>
            </a:r>
            <a:endParaRPr i="1" sz="1050">
              <a:solidFill>
                <a:srgbClr val="0E0E0E"/>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b0dab33b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b0dab33b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2000"/>
              </a:spcBef>
              <a:spcAft>
                <a:spcPts val="0"/>
              </a:spcAft>
              <a:buClr>
                <a:schemeClr val="dk1"/>
              </a:buClr>
              <a:buSzPts val="1100"/>
              <a:buFont typeface="Arial"/>
              <a:buNone/>
            </a:pPr>
            <a:r>
              <a:rPr lang="en" sz="2000">
                <a:solidFill>
                  <a:schemeClr val="dk1"/>
                </a:solidFill>
              </a:rPr>
              <a:t>Part 1</a:t>
            </a:r>
            <a:endParaRPr sz="2000">
              <a:solidFill>
                <a:schemeClr val="dk1"/>
              </a:solidFill>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EV Comment: 1:51pm Jan 21 comment: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could you elaborate what is a "behavioral building block" and the difference between that and the label in codebook? a concrete example would be helpful</a:t>
            </a:r>
            <a:r>
              <a:rPr lang="en">
                <a:solidFill>
                  <a:schemeClr val="dk1"/>
                </a:solidFill>
                <a:highlight>
                  <a:srgbClr val="EAD1DC"/>
                </a:highlight>
              </a:rPr>
              <a:t>” </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similar to the comments on "cognitive function": try to think a bit harder and use simpler language, what really are you trying to say? what is really the difference between those codes "blocks" or "cognitive functions"?</a:t>
            </a:r>
            <a:r>
              <a:rPr lang="en">
                <a:solidFill>
                  <a:schemeClr val="dk1"/>
                </a:solidFill>
                <a:highlight>
                  <a:srgbClr val="EAD1DC"/>
                </a:highlight>
              </a:rPr>
              <a:t>”</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a:solidFill>
                  <a:schemeClr val="dk1"/>
                </a:solidFill>
              </a:rPr>
              <a:t>in response to </a:t>
            </a:r>
            <a:r>
              <a:rPr lang="en">
                <a:solidFill>
                  <a:schemeClr val="dk1"/>
                </a:solidFill>
                <a:highlight>
                  <a:srgbClr val="FCE5CD"/>
                </a:highlight>
              </a:rPr>
              <a:t>“</a:t>
            </a:r>
            <a:r>
              <a:rPr lang="en" sz="900">
                <a:solidFill>
                  <a:srgbClr val="0E0E0E"/>
                </a:solidFill>
                <a:highlight>
                  <a:srgbClr val="FCE5CD"/>
                </a:highlight>
                <a:latin typeface="Courier New"/>
                <a:ea typeface="Courier New"/>
                <a:cs typeface="Courier New"/>
                <a:sym typeface="Courier New"/>
              </a:rPr>
              <a:t>annotation codes as basic behavioral building blocks, rather than the labels they were in the codebook.</a:t>
            </a:r>
            <a:r>
              <a:rPr lang="en">
                <a:solidFill>
                  <a:schemeClr val="dk1"/>
                </a:solidFill>
                <a:highlight>
                  <a:srgbClr val="FCE5CD"/>
                </a:highlight>
              </a:rPr>
              <a:t>”</a:t>
            </a:r>
            <a:endParaRPr>
              <a:solidFill>
                <a:schemeClr val="dk1"/>
              </a:solidFill>
              <a:highlight>
                <a:srgbClr val="FCE5CD"/>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MX response: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What I was trying to get at with “behavioral building blocks” is the difference between describing what someone said and understanding what the behavior did for the idea over time.</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In the codebook, each annotation (e.g. Knowledge Sharing, Evaluation Practices, Integration Practices) is a label for what type of behavior appears in a single utterance. At that level, the code is descriptive, but does not show how it contributes to the development of an idea across the meeting.</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When I refer to the codes as “behavioral building blocks” or “cognitive functions” I am using the same annotations, but interpreting them by the role they play when combined with surrounding behaviors. This then focuses from individual utterances, to how ideas are constructed over time.</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For e.g.</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A Knowledge Sharing utterance such as:</a:t>
            </a:r>
            <a:endParaRPr>
              <a:solidFill>
                <a:schemeClr val="dk1"/>
              </a:solidFill>
              <a:highlight>
                <a:srgbClr val="CCCCCC"/>
              </a:highlight>
            </a:endParaRPr>
          </a:p>
          <a:p>
            <a:pPr indent="-298450" lvl="0" marL="457200" rtl="0" algn="l">
              <a:spcBef>
                <a:spcPts val="0"/>
              </a:spcBef>
              <a:spcAft>
                <a:spcPts val="0"/>
              </a:spcAft>
              <a:buClr>
                <a:schemeClr val="dk1"/>
              </a:buClr>
              <a:buSzPts val="1100"/>
              <a:buChar char="-"/>
            </a:pPr>
            <a:r>
              <a:rPr lang="en">
                <a:solidFill>
                  <a:schemeClr val="dk1"/>
                </a:solidFill>
                <a:highlight>
                  <a:srgbClr val="CCCCCC"/>
                </a:highlight>
              </a:rPr>
              <a:t>“Here’s what we found in the initial data.”</a:t>
            </a:r>
            <a:endParaRPr>
              <a:solidFill>
                <a:schemeClr val="dk1"/>
              </a:solidFill>
              <a:highlight>
                <a:srgbClr val="CCCCCC"/>
              </a:highlight>
            </a:endParaRPr>
          </a:p>
          <a:p>
            <a:pPr indent="-298450" lvl="1" marL="914400" rtl="0" algn="l">
              <a:spcBef>
                <a:spcPts val="0"/>
              </a:spcBef>
              <a:spcAft>
                <a:spcPts val="0"/>
              </a:spcAft>
              <a:buClr>
                <a:schemeClr val="dk1"/>
              </a:buClr>
              <a:buSzPts val="1100"/>
              <a:buChar char="-"/>
            </a:pPr>
            <a:r>
              <a:rPr lang="en">
                <a:solidFill>
                  <a:schemeClr val="dk1"/>
                </a:solidFill>
                <a:highlight>
                  <a:srgbClr val="CCCCCC"/>
                </a:highlight>
              </a:rPr>
              <a:t>This tells us information was introduced, but nothing about how it was used.</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If this was followed by an Evaluation Practices utterance such as: </a:t>
            </a:r>
            <a:endParaRPr>
              <a:solidFill>
                <a:schemeClr val="dk1"/>
              </a:solidFill>
              <a:highlight>
                <a:srgbClr val="CCCCCC"/>
              </a:highlight>
            </a:endParaRPr>
          </a:p>
          <a:p>
            <a:pPr indent="-298450" lvl="0" marL="457200" rtl="0" algn="l">
              <a:spcBef>
                <a:spcPts val="0"/>
              </a:spcBef>
              <a:spcAft>
                <a:spcPts val="0"/>
              </a:spcAft>
              <a:buClr>
                <a:schemeClr val="dk1"/>
              </a:buClr>
              <a:buSzPts val="1100"/>
              <a:buChar char="-"/>
            </a:pPr>
            <a:r>
              <a:rPr lang="en">
                <a:solidFill>
                  <a:schemeClr val="dk1"/>
                </a:solidFill>
                <a:highlight>
                  <a:srgbClr val="CCCCCC"/>
                </a:highlight>
              </a:rPr>
              <a:t>“Does that scale with our constraints?”</a:t>
            </a:r>
            <a:endParaRPr>
              <a:solidFill>
                <a:schemeClr val="dk1"/>
              </a:solidFill>
              <a:highlight>
                <a:srgbClr val="CCCCCC"/>
              </a:highlight>
            </a:endParaRPr>
          </a:p>
          <a:p>
            <a:pPr indent="-298450" lvl="1" marL="914400" rtl="0" algn="l">
              <a:spcBef>
                <a:spcPts val="0"/>
              </a:spcBef>
              <a:spcAft>
                <a:spcPts val="0"/>
              </a:spcAft>
              <a:buClr>
                <a:schemeClr val="dk1"/>
              </a:buClr>
              <a:buSzPts val="1100"/>
              <a:buChar char="-"/>
            </a:pPr>
            <a:r>
              <a:rPr lang="en">
                <a:solidFill>
                  <a:schemeClr val="dk1"/>
                </a:solidFill>
                <a:highlight>
                  <a:srgbClr val="CCCCCC"/>
                </a:highlight>
              </a:rPr>
              <a:t>The Knowledge Sharing behavior now functions as the input that is being stress-tested, or evaluated.</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If these are later followed by an Integration Practices utterance such as:</a:t>
            </a:r>
            <a:endParaRPr>
              <a:solidFill>
                <a:schemeClr val="dk1"/>
              </a:solidFill>
              <a:highlight>
                <a:srgbClr val="CCCCCC"/>
              </a:highlight>
            </a:endParaRPr>
          </a:p>
          <a:p>
            <a:pPr indent="-298450" lvl="0" marL="457200" rtl="0" algn="l">
              <a:spcBef>
                <a:spcPts val="0"/>
              </a:spcBef>
              <a:spcAft>
                <a:spcPts val="0"/>
              </a:spcAft>
              <a:buClr>
                <a:schemeClr val="dk1"/>
              </a:buClr>
              <a:buSzPts val="1100"/>
              <a:buChar char="-"/>
            </a:pPr>
            <a:r>
              <a:rPr lang="en">
                <a:solidFill>
                  <a:schemeClr val="dk1"/>
                </a:solidFill>
                <a:highlight>
                  <a:srgbClr val="CCCCCC"/>
                </a:highlight>
              </a:rPr>
              <a:t>“So we can frame this as X while accounting for Y”</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Then those same codes collectively describe a sequence in which the information is introduced, evaluated, and synthesized. In this sense, the annotations act as building blocks for tracking how an idea develops, rather than as stand alone labels.</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rPr>
              <a:t>EV Comment 1:51PM Jan 21 comment: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how is the cognitive function inferred ? how do you know what function each code serves?</a:t>
            </a:r>
            <a:r>
              <a:rPr lang="en">
                <a:solidFill>
                  <a:schemeClr val="dk1"/>
                </a:solidFill>
                <a:highlight>
                  <a:srgbClr val="EAD1DC"/>
                </a:highlight>
              </a:rPr>
              <a:t>” “</a:t>
            </a:r>
            <a:r>
              <a:rPr lang="en" sz="1050">
                <a:solidFill>
                  <a:srgbClr val="444746"/>
                </a:solidFill>
                <a:highlight>
                  <a:srgbClr val="EAD1DC"/>
                </a:highlight>
                <a:latin typeface="Roboto"/>
                <a:ea typeface="Roboto"/>
                <a:cs typeface="Roboto"/>
                <a:sym typeface="Roboto"/>
              </a:rPr>
              <a:t>what will be the simplest language you can use to exchange the jargon here? so that everyone can understand what you meant</a:t>
            </a:r>
            <a:r>
              <a:rPr lang="en">
                <a:solidFill>
                  <a:schemeClr val="dk1"/>
                </a:solidFill>
                <a:highlight>
                  <a:srgbClr val="EAD1DC"/>
                </a:highlight>
              </a:rPr>
              <a:t>”</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a:solidFill>
                  <a:schemeClr val="dk1"/>
                </a:solidFill>
              </a:rPr>
              <a:t>in response to </a:t>
            </a:r>
            <a:r>
              <a:rPr lang="en">
                <a:solidFill>
                  <a:schemeClr val="dk1"/>
                </a:solidFill>
                <a:highlight>
                  <a:srgbClr val="FCE5CD"/>
                </a:highlight>
              </a:rPr>
              <a:t>“</a:t>
            </a:r>
            <a:r>
              <a:rPr lang="en" sz="900">
                <a:solidFill>
                  <a:srgbClr val="0E0E0E"/>
                </a:solidFill>
                <a:highlight>
                  <a:srgbClr val="FCE5CD"/>
                </a:highlight>
                <a:latin typeface="Courier New"/>
                <a:ea typeface="Courier New"/>
                <a:cs typeface="Courier New"/>
                <a:sym typeface="Courier New"/>
              </a:rPr>
              <a:t>I ended up grouping the original annotation codes by the cognitive function…</a:t>
            </a:r>
            <a:r>
              <a:rPr lang="en">
                <a:solidFill>
                  <a:schemeClr val="dk1"/>
                </a:solidFill>
                <a:highlight>
                  <a:srgbClr val="FCE5CD"/>
                </a:highlight>
              </a:rPr>
              <a:t>”</a:t>
            </a:r>
            <a:endParaRPr>
              <a:solidFill>
                <a:schemeClr val="dk1"/>
              </a:solidFill>
              <a:highlight>
                <a:srgbClr val="FCE5CD"/>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MX response: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When I say that I grouped the annotation codes by “cognitive function”, I’m not saying that the function is explicitly encoded into the codeboook nor it was inferred via some formal model. I had based it around the idea for each of the annotation codes from the codebook –</a:t>
            </a:r>
            <a:endParaRPr>
              <a:solidFill>
                <a:schemeClr val="dk1"/>
              </a:solidFill>
              <a:highlight>
                <a:srgbClr val="CCCCCC"/>
              </a:highlight>
            </a:endParaRPr>
          </a:p>
          <a:p>
            <a:pPr indent="-298450" lvl="0" marL="457200" rtl="0" algn="l">
              <a:spcBef>
                <a:spcPts val="0"/>
              </a:spcBef>
              <a:spcAft>
                <a:spcPts val="0"/>
              </a:spcAft>
              <a:buClr>
                <a:schemeClr val="dk1"/>
              </a:buClr>
              <a:buSzPts val="1100"/>
              <a:buChar char="-"/>
            </a:pPr>
            <a:r>
              <a:rPr i="1" lang="en">
                <a:solidFill>
                  <a:schemeClr val="dk1"/>
                </a:solidFill>
                <a:highlight>
                  <a:srgbClr val="CCCCCC"/>
                </a:highlight>
              </a:rPr>
              <a:t>what does this behavior do to the set of ideas under discussion?</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This might mean asking whether it (1) adds/clarifies ideas, (2) questions, compares or contrasts ideas, (3) combine/reconciles ideas or even (4) does this lock in a direction OR move the group forward.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Based on that question: </a:t>
            </a:r>
            <a:endParaRPr>
              <a:solidFill>
                <a:schemeClr val="dk1"/>
              </a:solidFill>
              <a:highlight>
                <a:srgbClr val="CCCCCC"/>
              </a:highlight>
            </a:endParaRPr>
          </a:p>
          <a:p>
            <a:pPr indent="-298450" lvl="0" marL="457200" rtl="0" algn="l">
              <a:spcBef>
                <a:spcPts val="0"/>
              </a:spcBef>
              <a:spcAft>
                <a:spcPts val="0"/>
              </a:spcAft>
              <a:buClr>
                <a:schemeClr val="dk1"/>
              </a:buClr>
              <a:buSzPts val="1100"/>
              <a:buChar char="●"/>
            </a:pPr>
            <a:r>
              <a:rPr lang="en">
                <a:solidFill>
                  <a:schemeClr val="dk1"/>
                </a:solidFill>
                <a:highlight>
                  <a:srgbClr val="CCCCCC"/>
                </a:highlight>
              </a:rPr>
              <a:t>I treated Knowledge Sharing and Information Seeking as a way to expanding the idea space. This is b/c they introduce new information or clarify missing pieces of information.</a:t>
            </a:r>
            <a:endParaRPr>
              <a:solidFill>
                <a:schemeClr val="dk1"/>
              </a:solidFill>
              <a:highlight>
                <a:srgbClr val="CCCCCC"/>
              </a:highlight>
            </a:endParaRPr>
          </a:p>
          <a:p>
            <a:pPr indent="-298450" lvl="0" marL="457200" rtl="0" algn="l">
              <a:spcBef>
                <a:spcPts val="0"/>
              </a:spcBef>
              <a:spcAft>
                <a:spcPts val="0"/>
              </a:spcAft>
              <a:buClr>
                <a:schemeClr val="dk1"/>
              </a:buClr>
              <a:buSzPts val="1100"/>
              <a:buChar char="●"/>
            </a:pPr>
            <a:r>
              <a:rPr lang="en">
                <a:solidFill>
                  <a:schemeClr val="dk1"/>
                </a:solidFill>
                <a:highlight>
                  <a:srgbClr val="CCCCCC"/>
                </a:highlight>
              </a:rPr>
              <a:t>Evaluation Practices I had treated as a form of stress-testing. This is because they do not add any new information, but instead assess the possible feasibility/constraints/tradeoffs of an idea</a:t>
            </a:r>
            <a:endParaRPr>
              <a:solidFill>
                <a:schemeClr val="dk1"/>
              </a:solidFill>
              <a:highlight>
                <a:srgbClr val="CCCCCC"/>
              </a:highlight>
            </a:endParaRPr>
          </a:p>
          <a:p>
            <a:pPr indent="-298450" lvl="0" marL="457200" rtl="0" algn="l">
              <a:spcBef>
                <a:spcPts val="0"/>
              </a:spcBef>
              <a:spcAft>
                <a:spcPts val="0"/>
              </a:spcAft>
              <a:buClr>
                <a:schemeClr val="dk1"/>
              </a:buClr>
              <a:buSzPts val="1100"/>
              <a:buChar char="●"/>
            </a:pPr>
            <a:r>
              <a:rPr lang="en">
                <a:solidFill>
                  <a:schemeClr val="dk1"/>
                </a:solidFill>
                <a:highlight>
                  <a:srgbClr val="CCCCCC"/>
                </a:highlight>
              </a:rPr>
              <a:t>Integration Practices were treated as synthesis, because they explicitly combine or reconcile multiple ideas into a more coherent proposal.</a:t>
            </a:r>
            <a:endParaRPr>
              <a:solidFill>
                <a:schemeClr val="dk1"/>
              </a:solidFill>
              <a:highlight>
                <a:srgbClr val="CCCCCC"/>
              </a:highlight>
            </a:endParaRPr>
          </a:p>
          <a:p>
            <a:pPr indent="-298450" lvl="0" marL="457200" rtl="0" algn="l">
              <a:spcBef>
                <a:spcPts val="0"/>
              </a:spcBef>
              <a:spcAft>
                <a:spcPts val="0"/>
              </a:spcAft>
              <a:buClr>
                <a:schemeClr val="dk1"/>
              </a:buClr>
              <a:buSzPts val="1100"/>
              <a:buChar char="●"/>
            </a:pPr>
            <a:r>
              <a:rPr lang="en">
                <a:solidFill>
                  <a:schemeClr val="dk1"/>
                </a:solidFill>
                <a:highlight>
                  <a:srgbClr val="CCCCCC"/>
                </a:highlight>
              </a:rPr>
              <a:t>Coordination and Decision Practices were treated as commitment, because they signal alignment, next steps, or closure rather than exploration.</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The “cognitive function” labels were not meant to introduce new theory. They were shorthand for how each behavior moves an idea forward when looking across multiple utterances, rather than at a single moment in isolation.</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rPr>
              <a:t>EV Comment 1:52PM Jan 21</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FFFFFF"/>
                </a:highlight>
              </a:rPr>
              <a:t>“is this a cognitive function”?</a:t>
            </a:r>
            <a:endParaRPr>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a:solidFill>
                  <a:schemeClr val="dk1"/>
                </a:solidFill>
              </a:rPr>
              <a:t>in response to: </a:t>
            </a:r>
            <a:r>
              <a:rPr lang="en">
                <a:solidFill>
                  <a:schemeClr val="dk1"/>
                </a:solidFill>
                <a:highlight>
                  <a:srgbClr val="FCE5CD"/>
                </a:highlight>
              </a:rPr>
              <a:t>“</a:t>
            </a:r>
            <a:r>
              <a:rPr lang="en" sz="900">
                <a:solidFill>
                  <a:srgbClr val="0E0E0E"/>
                </a:solidFill>
                <a:highlight>
                  <a:srgbClr val="FCE5CD"/>
                </a:highlight>
                <a:latin typeface="Courier New"/>
                <a:ea typeface="Courier New"/>
                <a:cs typeface="Courier New"/>
                <a:sym typeface="Courier New"/>
              </a:rPr>
              <a:t>under a `Expansion/Seeding` category</a:t>
            </a:r>
            <a:r>
              <a:rPr lang="en">
                <a:solidFill>
                  <a:schemeClr val="dk1"/>
                </a:solidFill>
                <a:highlight>
                  <a:srgbClr val="FCE5CD"/>
                </a:highlight>
              </a:rPr>
              <a:t>”</a:t>
            </a:r>
            <a:endParaRPr>
              <a:solidFill>
                <a:schemeClr val="dk1"/>
              </a:solidFill>
              <a:highlight>
                <a:srgbClr val="FCE5CD"/>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MX response: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When I used the term “cognitive function”, I wasn’t trying to claim a psychological function in individuals. What I had meant was the functional role a behavior plays in the group’s reasoning process.</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E.g. I had labeled Knowledge Sharing and Information Seeking as “Expansion/Seeding” not b/c they represent a distinct cognitive function, but bc at the interaction level, they consistently expand the set of ideas or information under discussion. They increase what the team is considering, regardless of who is speaking or what mental process is involved.</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rPr>
              <a:t>EV Comment 1:58PM Jan 21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what is your argument for this? for example, now i am evaluating your writing and leaving open questions and push back, do you not think this is expanding "idea space"?</a:t>
            </a:r>
            <a:r>
              <a:rPr lang="en">
                <a:solidFill>
                  <a:schemeClr val="dk1"/>
                </a:solidFill>
                <a:highlight>
                  <a:srgbClr val="EAD1DC"/>
                </a:highlight>
              </a:rPr>
              <a:t>” “</a:t>
            </a:r>
            <a:r>
              <a:rPr lang="en" sz="1050">
                <a:solidFill>
                  <a:srgbClr val="444746"/>
                </a:solidFill>
                <a:highlight>
                  <a:srgbClr val="EAD1DC"/>
                </a:highlight>
                <a:latin typeface="Roboto"/>
                <a:ea typeface="Roboto"/>
                <a:cs typeface="Roboto"/>
                <a:sym typeface="Roboto"/>
              </a:rPr>
              <a:t>wouldn't it also "expand" idea space by showing alternative idea spaces?</a:t>
            </a:r>
            <a:r>
              <a:rPr lang="en">
                <a:solidFill>
                  <a:schemeClr val="dk1"/>
                </a:solidFill>
                <a:highlight>
                  <a:srgbClr val="EAD1DC"/>
                </a:highlight>
              </a:rPr>
              <a:t>”</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response to: </a:t>
            </a:r>
            <a:r>
              <a:rPr lang="en">
                <a:solidFill>
                  <a:schemeClr val="dk1"/>
                </a:solidFill>
                <a:highlight>
                  <a:srgbClr val="FCE5CD"/>
                </a:highlight>
              </a:rPr>
              <a:t>“</a:t>
            </a:r>
            <a:r>
              <a:rPr lang="en" sz="900">
                <a:solidFill>
                  <a:srgbClr val="0E0E0E"/>
                </a:solidFill>
                <a:highlight>
                  <a:srgbClr val="FCE5CD"/>
                </a:highlight>
                <a:latin typeface="Courier New"/>
                <a:ea typeface="Courier New"/>
                <a:cs typeface="Courier New"/>
                <a:sym typeface="Courier New"/>
              </a:rPr>
              <a:t>because it does not expand the idea space, but rather compares</a:t>
            </a:r>
            <a:r>
              <a:rPr lang="en">
                <a:solidFill>
                  <a:schemeClr val="dk1"/>
                </a:solidFill>
                <a:highlight>
                  <a:srgbClr val="FCE5CD"/>
                </a:highlight>
              </a:rPr>
              <a:t>”</a:t>
            </a:r>
            <a:endParaRPr>
              <a:solidFill>
                <a:schemeClr val="dk1"/>
              </a:solidFill>
              <a:highlight>
                <a:srgbClr val="FCE5CD"/>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rPr>
              <a:t>MX Response: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That’s true when evaluation can sometimes expand idea space, especially when it exposes gaps, contradictions, or alternative decisions. I don’t mean to claim that Evaluation Practices never expand ideas.</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What I was trying to distinguish is the primary role the behavior plays at the moment it occurs. In my grouping, Expansion/Seeding behaviors directly introduce new candidate ideas or information into the discussion, whereas Evaluation Practices typically operate on ideas that are already on the table by questioning their feasibility, relevance, or fit.</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Evaluation most often reshapes or constraints the existing idea space rather than adding new ideas outright, even though it can indirectly lead to new ideas later. That’s why I grouped it separately as “stress-testing” rather than expansion.</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rPr>
              <a:t>EV Comment 2PM Jan 21:</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rgbClr val="444746"/>
                </a:solidFill>
                <a:highlight>
                  <a:srgbClr val="EAD1DC"/>
                </a:highlight>
                <a:latin typeface="Roboto"/>
                <a:ea typeface="Roboto"/>
                <a:cs typeface="Roboto"/>
                <a:sym typeface="Roboto"/>
              </a:rPr>
              <a:t>“is this something you observed in the data? or is there literature to back it up (then add citations)”</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response to: </a:t>
            </a:r>
            <a:r>
              <a:rPr lang="en">
                <a:solidFill>
                  <a:schemeClr val="dk1"/>
                </a:solidFill>
                <a:highlight>
                  <a:srgbClr val="FCE5CD"/>
                </a:highlight>
              </a:rPr>
              <a:t>“</a:t>
            </a:r>
            <a:r>
              <a:rPr lang="en" sz="900">
                <a:solidFill>
                  <a:srgbClr val="0E0E0E"/>
                </a:solidFill>
                <a:highlight>
                  <a:srgbClr val="FCE5CD"/>
                </a:highlight>
                <a:latin typeface="Courier New"/>
                <a:ea typeface="Courier New"/>
                <a:cs typeface="Courier New"/>
                <a:sym typeface="Courier New"/>
              </a:rPr>
              <a:t>This had often marked a turning point between the exploration and convergence.</a:t>
            </a:r>
            <a:r>
              <a:rPr lang="en">
                <a:solidFill>
                  <a:schemeClr val="dk1"/>
                </a:solidFill>
                <a:highlight>
                  <a:srgbClr val="FCE5CD"/>
                </a:highlight>
              </a:rPr>
              <a:t>”</a:t>
            </a:r>
            <a:endParaRPr>
              <a:solidFill>
                <a:schemeClr val="dk1"/>
              </a:solidFill>
              <a:highlight>
                <a:srgbClr val="FCE5CD"/>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MX Response: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This claim is based on patterns observed in the SCIALOG data rather than directly from prior literature. In several meetings, Evaluation Practices tended to occur after idea expansion and before synthesis or coordination, coinciding with a shift toward narrowing the space of ideas. I treat this as an observed tendency in the dataset, not a universal rule.</a:t>
            </a:r>
            <a:endParaRPr>
              <a:solidFill>
                <a:schemeClr val="dk1"/>
              </a:solidFill>
              <a:highlight>
                <a:srgbClr val="CCCCCC"/>
              </a:highlight>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b0dab33b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bb0dab33b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2000"/>
              </a:spcBef>
              <a:spcAft>
                <a:spcPts val="0"/>
              </a:spcAft>
              <a:buClr>
                <a:schemeClr val="dk1"/>
              </a:buClr>
              <a:buSzPts val="1100"/>
              <a:buFont typeface="Arial"/>
              <a:buNone/>
            </a:pPr>
            <a:r>
              <a:rPr lang="en" sz="2000">
                <a:solidFill>
                  <a:schemeClr val="dk1"/>
                </a:solidFill>
              </a:rPr>
              <a:t>Part 2</a:t>
            </a:r>
            <a:endParaRPr sz="2000">
              <a:solidFill>
                <a:schemeClr val="dk1"/>
              </a:solidFill>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EV comment 2:17PM Jan 21</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even though i have read everything before this multiple times; i still am not sure why you chose to group codes into these categories: (1) what are your arguments for grouping them, (2) what goals are you trying to achieve and why you can't achieve this without these groups, and  (3) how did you decide on these categories and which ones to be grouped? (purely based on your "idea" is not good enough an answer. could you provide evidence to support your argument. such as second order statistical analysis on relationships between codes, or quotes from data, or literature you could cite.) </a:t>
            </a:r>
            <a:endParaRPr sz="1050">
              <a:solidFill>
                <a:srgbClr val="444746"/>
              </a:solidFill>
              <a:highlight>
                <a:srgbClr val="EAD1D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rPr lang="en" sz="1050">
                <a:solidFill>
                  <a:srgbClr val="444746"/>
                </a:solidFill>
                <a:highlight>
                  <a:srgbClr val="EAD1DC"/>
                </a:highlight>
                <a:latin typeface="Roboto"/>
                <a:ea typeface="Roboto"/>
                <a:cs typeface="Roboto"/>
                <a:sym typeface="Roboto"/>
              </a:rPr>
              <a:t>could you try again to answer these questions specifically</a:t>
            </a:r>
            <a:r>
              <a:rPr lang="en">
                <a:solidFill>
                  <a:schemeClr val="dk1"/>
                </a:solidFill>
                <a:highlight>
                  <a:srgbClr val="EAD1DC"/>
                </a:highlight>
              </a:rPr>
              <a:t>”</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i think you are getting there though in the sense that you are trying to separate codes by whether they are "expanding" or "contracting"; we just need more evidence and arguments to support your choices of grouping beyond just what you *think</a:t>
            </a:r>
            <a:r>
              <a:rPr lang="en">
                <a:solidFill>
                  <a:schemeClr val="dk1"/>
                </a:solidFill>
                <a:highlight>
                  <a:srgbClr val="EAD1DC"/>
                </a:highlight>
              </a:rPr>
              <a:t>”</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and im just trying to push you little by little to be clearer with your thinking and arguments</a:t>
            </a:r>
            <a:r>
              <a:rPr lang="en">
                <a:solidFill>
                  <a:schemeClr val="dk1"/>
                </a:solidFill>
                <a:highlight>
                  <a:srgbClr val="EAD1DC"/>
                </a:highlight>
              </a:rPr>
              <a:t>”</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a:solidFill>
                  <a:schemeClr val="dk1"/>
                </a:solidFill>
              </a:rPr>
              <a:t>In response to </a:t>
            </a:r>
            <a:r>
              <a:rPr lang="en">
                <a:solidFill>
                  <a:schemeClr val="dk1"/>
                </a:solidFill>
                <a:highlight>
                  <a:srgbClr val="FCE5CD"/>
                </a:highlight>
              </a:rPr>
              <a:t>“</a:t>
            </a:r>
            <a:r>
              <a:rPr lang="en" sz="864">
                <a:solidFill>
                  <a:srgbClr val="0E0E0E"/>
                </a:solidFill>
                <a:highlight>
                  <a:srgbClr val="FCE5CD"/>
                </a:highlight>
                <a:latin typeface="Courier New"/>
                <a:ea typeface="Courier New"/>
                <a:cs typeface="Courier New"/>
                <a:sym typeface="Courier New"/>
              </a:rPr>
              <a:t>After I had defined all of these higher-level behavioral, …</a:t>
            </a:r>
            <a:r>
              <a:rPr lang="en">
                <a:solidFill>
                  <a:schemeClr val="dk1"/>
                </a:solidFill>
                <a:highlight>
                  <a:srgbClr val="FCE5CD"/>
                </a:highlight>
              </a:rPr>
              <a:t>”</a:t>
            </a:r>
            <a:endParaRPr>
              <a:solidFill>
                <a:schemeClr val="dk1"/>
              </a:solidFill>
              <a:highlight>
                <a:srgbClr val="FCE5CD"/>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MX Response:</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b="1" lang="en">
                <a:solidFill>
                  <a:schemeClr val="dk1"/>
                </a:solidFill>
                <a:highlight>
                  <a:srgbClr val="CCCCCC"/>
                </a:highlight>
              </a:rPr>
              <a:t>Goal.</a:t>
            </a:r>
            <a:endParaRPr b="1">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The goal of grouping the annotation codes was to test whether </a:t>
            </a:r>
            <a:r>
              <a:rPr i="1" lang="en">
                <a:solidFill>
                  <a:schemeClr val="dk1"/>
                </a:solidFill>
                <a:highlight>
                  <a:srgbClr val="CCCCCC"/>
                </a:highlight>
              </a:rPr>
              <a:t>higher-level behavioral patterns</a:t>
            </a:r>
            <a:r>
              <a:rPr lang="en">
                <a:solidFill>
                  <a:schemeClr val="dk1"/>
                </a:solidFill>
                <a:highlight>
                  <a:srgbClr val="CCCCCC"/>
                </a:highlight>
              </a:rPr>
              <a:t> over time could indicate idea convergence or narrowing in team meetings. Specifically, I was interested in whether meetings show directional movement from idea expansion toward consolidation or commitment, rather than simply documenting which behaviors occur.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b="1" lang="en">
                <a:solidFill>
                  <a:schemeClr val="dk1"/>
                </a:solidFill>
                <a:highlight>
                  <a:srgbClr val="CCCCCC"/>
                </a:highlight>
              </a:rPr>
              <a:t>Why grouping was necessary:</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At the level of individual annotation codes, the data is too fine-grained and sparse to reason about trajectories across an entire meeting. Many codes appear infrequently, and analyzing transitions between all the original code results in a large number of low-signal transitions that are difficult to interpret in terms of convergence. Grouping the codes was a way to reduce complexity, and make it possible to examine whether families of related behaviors increase or decrease over time. This goal could not be achieved by treating each code independently, because convergence is inherently a higher-level process that unfolds across multiple utterances rather than within a single coded behavior.</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b="1" lang="en">
                <a:solidFill>
                  <a:schemeClr val="dk1"/>
                </a:solidFill>
                <a:highlight>
                  <a:srgbClr val="CCCCCC"/>
                </a:highlight>
              </a:rPr>
              <a:t>How the groupings were chosen.</a:t>
            </a:r>
            <a:endParaRPr b="1">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The groupings were initially hypothesis-driven and informed by two sources:</a:t>
            </a:r>
            <a:endParaRPr>
              <a:solidFill>
                <a:schemeClr val="dk1"/>
              </a:solidFill>
              <a:highlight>
                <a:srgbClr val="CCCCCC"/>
              </a:highlight>
            </a:endParaRPr>
          </a:p>
          <a:p>
            <a:pPr indent="-298450" lvl="0" marL="457200" rtl="0" algn="l">
              <a:spcBef>
                <a:spcPts val="0"/>
              </a:spcBef>
              <a:spcAft>
                <a:spcPts val="0"/>
              </a:spcAft>
              <a:buClr>
                <a:schemeClr val="dk1"/>
              </a:buClr>
              <a:buSzPts val="1100"/>
              <a:buAutoNum type="arabicParenBoth"/>
            </a:pPr>
            <a:r>
              <a:rPr lang="en">
                <a:solidFill>
                  <a:schemeClr val="dk1"/>
                </a:solidFill>
                <a:highlight>
                  <a:srgbClr val="CCCCCC"/>
                </a:highlight>
              </a:rPr>
              <a:t>the functional definitions in the codebook, and</a:t>
            </a:r>
            <a:endParaRPr>
              <a:solidFill>
                <a:schemeClr val="dk1"/>
              </a:solidFill>
              <a:highlight>
                <a:srgbClr val="CCCCCC"/>
              </a:highlight>
            </a:endParaRPr>
          </a:p>
          <a:p>
            <a:pPr indent="-298450" lvl="0" marL="457200" rtl="0" algn="l">
              <a:spcBef>
                <a:spcPts val="0"/>
              </a:spcBef>
              <a:spcAft>
                <a:spcPts val="0"/>
              </a:spcAft>
              <a:buClr>
                <a:schemeClr val="dk1"/>
              </a:buClr>
              <a:buSzPts val="1100"/>
              <a:buAutoNum type="arabicParenBoth"/>
            </a:pPr>
            <a:r>
              <a:rPr lang="en">
                <a:solidFill>
                  <a:schemeClr val="dk1"/>
                </a:solidFill>
                <a:highlight>
                  <a:srgbClr val="CCCCCC"/>
                </a:highlight>
              </a:rPr>
              <a:t>The recurring sequencing patterns observed in the SCIALOG transcripts</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Rather than grouping arbitrarily, I grouped codes based on whether they tended to (a) introduce or clarify information (Knowledge Sharing, Information Seeking), (b) interrogate or constrain existing ideas (Evaluation Practices), (c) combine or reframe ideas (Integration Practices), or (d) formalize alignment and next steps (Coordination and Decision Practices). This reflects an expansion-contraction framing, where behaviors are differentiated by whether they tend to open the idea space or narrow it</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b="1" lang="en">
                <a:solidFill>
                  <a:schemeClr val="dk1"/>
                </a:solidFill>
                <a:highlight>
                  <a:srgbClr val="CCCCCC"/>
                </a:highlight>
              </a:rPr>
              <a:t>Evidence and limitations:</a:t>
            </a:r>
            <a:endParaRPr b="1">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This grouping is not presented as a definitive cognitive taxonomy. It is an exploratory operationalization intended to test a specific question about convergence dynamics. Evidence for this framing comes from observed temporal ordering in the data (e.g., evaluation frequently following knowledge sharing and preceding integration), as well as transition analyses showing non-random co-occurence between certain codes. However, I acknowledge that stronger support would require second-order statistical analysis of code co-occurence or explicit grounding in prior literature on idea generation and convergence. The limitations revealed by this approach ultimately motivated a shift toward linkography-based representations that preserve idea identity rather than relying solely on behavioral abstraction. </a:t>
            </a:r>
            <a:endParaRPr>
              <a:solidFill>
                <a:schemeClr val="dk1"/>
              </a:solidFill>
              <a:highlight>
                <a:srgbClr val="CCCCCC"/>
              </a:highlight>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b0dab33b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b0dab33b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2000"/>
              </a:spcBef>
              <a:spcAft>
                <a:spcPts val="0"/>
              </a:spcAft>
              <a:buClr>
                <a:schemeClr val="dk1"/>
              </a:buClr>
              <a:buSzPts val="1100"/>
              <a:buFont typeface="Arial"/>
              <a:buNone/>
            </a:pPr>
            <a:r>
              <a:rPr lang="en" sz="2000">
                <a:solidFill>
                  <a:schemeClr val="dk1"/>
                </a:solidFill>
              </a:rPr>
              <a:t>Part 3</a:t>
            </a:r>
            <a:endParaRPr sz="2000">
              <a:solidFill>
                <a:schemeClr val="dk1"/>
              </a:solidFill>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EV Comment 2:10pm Jan 21</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EAD1DC"/>
                </a:highlight>
                <a:latin typeface="Roboto"/>
                <a:ea typeface="Roboto"/>
                <a:cs typeface="Roboto"/>
                <a:sym typeface="Roboto"/>
              </a:rPr>
              <a:t>“show a concrete example (quotes) from your audit”</a:t>
            </a:r>
            <a:endParaRPr sz="1050">
              <a:solidFill>
                <a:schemeClr val="dk1"/>
              </a:solidFill>
              <a:highlight>
                <a:srgbClr val="EAD1D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latin typeface="Roboto"/>
                <a:ea typeface="Roboto"/>
                <a:cs typeface="Roboto"/>
                <a:sym typeface="Roboto"/>
              </a:rPr>
              <a:t>In response to: </a:t>
            </a:r>
            <a:r>
              <a:rPr lang="en" sz="1050">
                <a:solidFill>
                  <a:schemeClr val="dk1"/>
                </a:solidFill>
                <a:highlight>
                  <a:srgbClr val="FCE5CD"/>
                </a:highlight>
                <a:latin typeface="Roboto"/>
                <a:ea typeface="Roboto"/>
                <a:cs typeface="Roboto"/>
                <a:sym typeface="Roboto"/>
              </a:rPr>
              <a:t>“</a:t>
            </a:r>
            <a:r>
              <a:rPr lang="en">
                <a:solidFill>
                  <a:schemeClr val="dk1"/>
                </a:solidFill>
                <a:highlight>
                  <a:srgbClr val="FCE5CD"/>
                </a:highlight>
                <a:latin typeface="Courier New"/>
                <a:ea typeface="Courier New"/>
                <a:cs typeface="Courier New"/>
                <a:sym typeface="Courier New"/>
              </a:rPr>
              <a:t>I had figured out that these coordination and decision-like behaviors often increase near the end of the meetings due to the facilitation, reporting, or time management - not necessarily due to substantive agreement. I ended up running a false-positive diagnostic analysis while auditing the transcript for reference and using a lexical pattern detection. I then inspected these segments in context to distinguish when the meeting actually finished (because they ran out of time) compared to a genuine convergence, when people were wrapping up on an idea.</a:t>
            </a:r>
            <a:r>
              <a:rPr lang="en" sz="1050">
                <a:solidFill>
                  <a:schemeClr val="dk1"/>
                </a:solidFill>
                <a:highlight>
                  <a:srgbClr val="FCE5CD"/>
                </a:highlight>
                <a:latin typeface="Roboto"/>
                <a:ea typeface="Roboto"/>
                <a:cs typeface="Roboto"/>
                <a:sym typeface="Roboto"/>
              </a:rPr>
              <a:t>”</a:t>
            </a:r>
            <a:endParaRPr sz="1050">
              <a:solidFill>
                <a:schemeClr val="dk1"/>
              </a:solidFill>
              <a:highlight>
                <a:srgbClr val="FCE5CD"/>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latin typeface="Roboto"/>
                <a:ea typeface="Roboto"/>
                <a:cs typeface="Roboto"/>
                <a:sym typeface="Roboto"/>
              </a:rPr>
              <a:t>MX Response:</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E06666"/>
                </a:highlight>
                <a:latin typeface="Roboto"/>
                <a:ea typeface="Roboto"/>
                <a:cs typeface="Roboto"/>
                <a:sym typeface="Roboto"/>
              </a:rPr>
              <a:t>In other words, I will need to find/select a single SCIALOG meeting where Coordination/Decision behaviors increase in the final third of meeting, BUT where the transcript shows the meeting ending due to time or reporting constraints rather than idea-level agreement.</a:t>
            </a:r>
            <a:endParaRPr sz="1050">
              <a:solidFill>
                <a:schemeClr val="dk1"/>
              </a:solidFill>
              <a:highlight>
                <a:srgbClr val="E06666"/>
              </a:highlight>
              <a:latin typeface="Roboto"/>
              <a:ea typeface="Roboto"/>
              <a:cs typeface="Roboto"/>
              <a:sym typeface="Roboto"/>
            </a:endParaRPr>
          </a:p>
          <a:p>
            <a:pPr indent="-295275" lvl="0" marL="457200" rtl="0" algn="l">
              <a:spcBef>
                <a:spcPts val="0"/>
              </a:spcBef>
              <a:spcAft>
                <a:spcPts val="0"/>
              </a:spcAft>
              <a:buClr>
                <a:schemeClr val="dk1"/>
              </a:buClr>
              <a:buSzPts val="1050"/>
              <a:buFont typeface="Roboto"/>
              <a:buChar char="-"/>
            </a:pPr>
            <a:r>
              <a:rPr lang="en" sz="1050">
                <a:solidFill>
                  <a:schemeClr val="dk1"/>
                </a:solidFill>
                <a:highlight>
                  <a:srgbClr val="E06666"/>
                </a:highlight>
                <a:latin typeface="Roboto"/>
                <a:ea typeface="Roboto"/>
                <a:cs typeface="Roboto"/>
                <a:sym typeface="Roboto"/>
              </a:rPr>
              <a:t>I will then include verbatim transcript excerpts illustrating (1) structural/logical closure and (2) a contrasting instance of genuine idea convergence, to make the distinction explicit</a:t>
            </a:r>
            <a:endParaRPr sz="1050">
              <a:solidFill>
                <a:schemeClr val="dk1"/>
              </a:solidFill>
              <a:highlight>
                <a:srgbClr val="E06666"/>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E06666"/>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E06666"/>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latin typeface="Roboto"/>
                <a:ea typeface="Roboto"/>
                <a:cs typeface="Roboto"/>
                <a:sym typeface="Roboto"/>
              </a:rPr>
              <a:t>EV Comment 2:28PM Jan 21</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rgbClr val="444746"/>
                </a:solidFill>
                <a:highlight>
                  <a:srgbClr val="EAD1DC"/>
                </a:highlight>
                <a:latin typeface="Roboto"/>
                <a:ea typeface="Roboto"/>
                <a:cs typeface="Roboto"/>
                <a:sym typeface="Roboto"/>
              </a:rPr>
              <a:t>“very interesting approach! makes sense!”</a:t>
            </a:r>
            <a:endParaRPr sz="1050">
              <a:solidFill>
                <a:schemeClr val="dk1"/>
              </a:solidFill>
              <a:highlight>
                <a:srgbClr val="EAD1D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latin typeface="Roboto"/>
                <a:ea typeface="Roboto"/>
                <a:cs typeface="Roboto"/>
                <a:sym typeface="Roboto"/>
              </a:rPr>
              <a:t>in response to: </a:t>
            </a:r>
            <a:r>
              <a:rPr lang="en" sz="1050">
                <a:solidFill>
                  <a:schemeClr val="dk1"/>
                </a:solidFill>
                <a:highlight>
                  <a:srgbClr val="FCE5CD"/>
                </a:highlight>
                <a:latin typeface="Roboto"/>
                <a:ea typeface="Roboto"/>
                <a:cs typeface="Roboto"/>
                <a:sym typeface="Roboto"/>
              </a:rPr>
              <a:t>“</a:t>
            </a:r>
            <a:r>
              <a:rPr lang="en">
                <a:solidFill>
                  <a:schemeClr val="dk1"/>
                </a:solidFill>
                <a:highlight>
                  <a:srgbClr val="FCE5CD"/>
                </a:highlight>
                <a:latin typeface="Courier New"/>
                <a:ea typeface="Courier New"/>
                <a:cs typeface="Courier New"/>
                <a:sym typeface="Courier New"/>
              </a:rPr>
              <a:t>using an entropy to measure this conceptual spread.</a:t>
            </a:r>
            <a:r>
              <a:rPr lang="en" sz="1050">
                <a:solidFill>
                  <a:schemeClr val="dk1"/>
                </a:solidFill>
                <a:highlight>
                  <a:srgbClr val="FCE5CD"/>
                </a:highlight>
                <a:latin typeface="Roboto"/>
                <a:ea typeface="Roboto"/>
                <a:cs typeface="Roboto"/>
                <a:sym typeface="Roboto"/>
              </a:rPr>
              <a:t>”</a:t>
            </a:r>
            <a:endParaRPr sz="1050">
              <a:solidFill>
                <a:schemeClr val="dk1"/>
              </a:solidFill>
              <a:highlight>
                <a:srgbClr val="FCE5CD"/>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latin typeface="Roboto"/>
                <a:ea typeface="Roboto"/>
                <a:cs typeface="Roboto"/>
                <a:sym typeface="Roboto"/>
              </a:rPr>
              <a:t>MX Response:</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B6D7A8"/>
                </a:highlight>
                <a:latin typeface="Roboto"/>
                <a:ea typeface="Roboto"/>
                <a:cs typeface="Roboto"/>
                <a:sym typeface="Roboto"/>
              </a:rPr>
              <a:t>Noted, nothing else to do here.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latin typeface="Roboto"/>
                <a:ea typeface="Roboto"/>
                <a:cs typeface="Roboto"/>
                <a:sym typeface="Roboto"/>
              </a:rPr>
              <a:t>EV Comment 2:29PM Jan 21</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EAD1DC"/>
                </a:highlight>
                <a:latin typeface="Roboto"/>
                <a:ea typeface="Roboto"/>
                <a:cs typeface="Roboto"/>
                <a:sym typeface="Roboto"/>
              </a:rPr>
              <a:t>“</a:t>
            </a:r>
            <a:r>
              <a:rPr lang="en" sz="1050">
                <a:solidFill>
                  <a:srgbClr val="444746"/>
                </a:solidFill>
                <a:highlight>
                  <a:srgbClr val="EAD1DC"/>
                </a:highlight>
                <a:latin typeface="Roboto"/>
                <a:ea typeface="Roboto"/>
                <a:cs typeface="Roboto"/>
                <a:sym typeface="Roboto"/>
              </a:rPr>
              <a:t>this is super clear! love it.</a:t>
            </a:r>
            <a:r>
              <a:rPr lang="en" sz="1050">
                <a:solidFill>
                  <a:schemeClr val="dk1"/>
                </a:solidFill>
                <a:highlight>
                  <a:srgbClr val="EAD1DC"/>
                </a:highlight>
                <a:latin typeface="Roboto"/>
                <a:ea typeface="Roboto"/>
                <a:cs typeface="Roboto"/>
                <a:sym typeface="Roboto"/>
              </a:rPr>
              <a:t>” “</a:t>
            </a:r>
            <a:r>
              <a:rPr lang="en" sz="1050">
                <a:solidFill>
                  <a:srgbClr val="444746"/>
                </a:solidFill>
                <a:highlight>
                  <a:srgbClr val="EAD1DC"/>
                </a:highlight>
                <a:latin typeface="Roboto"/>
                <a:ea typeface="Roboto"/>
                <a:cs typeface="Roboto"/>
                <a:sym typeface="Roboto"/>
              </a:rPr>
              <a:t>more details on this method please: what is the unit of analysis and how did you calculate entropy </a:t>
            </a:r>
            <a:endParaRPr sz="1050">
              <a:solidFill>
                <a:srgbClr val="444746"/>
              </a:solidFill>
              <a:highlight>
                <a:srgbClr val="EAD1D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rgbClr val="444746"/>
                </a:solidFill>
                <a:highlight>
                  <a:srgbClr val="EAD1DC"/>
                </a:highlight>
                <a:latin typeface="Roboto"/>
                <a:ea typeface="Roboto"/>
                <a:cs typeface="Roboto"/>
                <a:sym typeface="Roboto"/>
              </a:rPr>
              <a:t>better with graphs and visuals</a:t>
            </a:r>
            <a:r>
              <a:rPr lang="en" sz="1050">
                <a:solidFill>
                  <a:schemeClr val="dk1"/>
                </a:solidFill>
                <a:highlight>
                  <a:srgbClr val="EAD1DC"/>
                </a:highlight>
                <a:latin typeface="Roboto"/>
                <a:ea typeface="Roboto"/>
                <a:cs typeface="Roboto"/>
                <a:sym typeface="Roboto"/>
              </a:rPr>
              <a:t>”</a:t>
            </a:r>
            <a:endParaRPr sz="1050">
              <a:solidFill>
                <a:schemeClr val="dk1"/>
              </a:solidFill>
              <a:highlight>
                <a:srgbClr val="EAD1D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latin typeface="Roboto"/>
                <a:ea typeface="Roboto"/>
                <a:cs typeface="Roboto"/>
                <a:sym typeface="Roboto"/>
              </a:rPr>
              <a:t>in response to: </a:t>
            </a:r>
            <a:r>
              <a:rPr lang="en" sz="1050">
                <a:solidFill>
                  <a:schemeClr val="dk1"/>
                </a:solidFill>
                <a:highlight>
                  <a:srgbClr val="FCE5CD"/>
                </a:highlight>
                <a:latin typeface="Roboto"/>
                <a:ea typeface="Roboto"/>
                <a:cs typeface="Roboto"/>
                <a:sym typeface="Roboto"/>
              </a:rPr>
              <a:t>“</a:t>
            </a:r>
            <a:r>
              <a:rPr lang="en">
                <a:solidFill>
                  <a:schemeClr val="dk1"/>
                </a:solidFill>
                <a:highlight>
                  <a:srgbClr val="FCE5CD"/>
                </a:highlight>
                <a:latin typeface="Courier New"/>
                <a:ea typeface="Courier New"/>
                <a:cs typeface="Courier New"/>
                <a:sym typeface="Courier New"/>
              </a:rPr>
              <a:t>This motivation was because that the genuine convergence (e.g. a best idea, correct idea, final decision, successful outcome, etc.) should not only be reflected in how teams behave, but also to the extend the ideas are actually being considered.</a:t>
            </a:r>
            <a:r>
              <a:rPr lang="en" sz="1050">
                <a:solidFill>
                  <a:schemeClr val="dk1"/>
                </a:solidFill>
                <a:highlight>
                  <a:srgbClr val="FCE5CD"/>
                </a:highlight>
                <a:latin typeface="Roboto"/>
                <a:ea typeface="Roboto"/>
                <a:cs typeface="Roboto"/>
                <a:sym typeface="Roboto"/>
              </a:rPr>
              <a:t>”</a:t>
            </a:r>
            <a:endParaRPr sz="1050">
              <a:solidFill>
                <a:schemeClr val="dk1"/>
              </a:solidFill>
              <a:highlight>
                <a:srgbClr val="FCE5CD"/>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latin typeface="Roboto"/>
                <a:ea typeface="Roboto"/>
                <a:cs typeface="Roboto"/>
                <a:sym typeface="Roboto"/>
              </a:rPr>
              <a:t>MX Response: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To clarify the method:</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The </a:t>
            </a:r>
            <a:r>
              <a:rPr b="1" lang="en">
                <a:solidFill>
                  <a:schemeClr val="dk1"/>
                </a:solidFill>
                <a:highlight>
                  <a:srgbClr val="CCCCCC"/>
                </a:highlight>
              </a:rPr>
              <a:t>unit of analysis</a:t>
            </a:r>
            <a:r>
              <a:rPr lang="en">
                <a:solidFill>
                  <a:schemeClr val="dk1"/>
                </a:solidFill>
                <a:highlight>
                  <a:srgbClr val="CCCCCC"/>
                </a:highlight>
              </a:rPr>
              <a:t> is a single SCIALOG meeting, split into temporal thirds (early vs. late).</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For each third, I treat the distribution of ideas under discussion as a proxy for the team’s conceptual state. Concretely, I operationalize this as the distribution of idea references (or idea states derived from transcript segmentation) within that segment.</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Entropy is then computed over this distribution using standard Shannon entropy:</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H = - \sum_i p_i \log p_i</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where p_i represents the proportion of references to idea i within that temporal segment.</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To assess narrowing, I compute entropy separately for the </a:t>
            </a:r>
            <a:r>
              <a:rPr b="1" lang="en">
                <a:solidFill>
                  <a:schemeClr val="dk1"/>
                </a:solidFill>
                <a:highlight>
                  <a:srgbClr val="CCCCCC"/>
                </a:highlight>
              </a:rPr>
              <a:t>first third</a:t>
            </a:r>
            <a:r>
              <a:rPr lang="en">
                <a:solidFill>
                  <a:schemeClr val="dk1"/>
                </a:solidFill>
                <a:highlight>
                  <a:srgbClr val="CCCCCC"/>
                </a:highlight>
              </a:rPr>
              <a:t> and </a:t>
            </a:r>
            <a:r>
              <a:rPr b="1" lang="en">
                <a:solidFill>
                  <a:schemeClr val="dk1"/>
                </a:solidFill>
                <a:highlight>
                  <a:srgbClr val="CCCCCC"/>
                </a:highlight>
              </a:rPr>
              <a:t>last third</a:t>
            </a:r>
            <a:r>
              <a:rPr lang="en">
                <a:solidFill>
                  <a:schemeClr val="dk1"/>
                </a:solidFill>
                <a:highlight>
                  <a:srgbClr val="CCCCCC"/>
                </a:highlight>
              </a:rPr>
              <a:t> of each meeting, and define a </a:t>
            </a:r>
            <a:r>
              <a:rPr b="1" lang="en">
                <a:solidFill>
                  <a:schemeClr val="dk1"/>
                </a:solidFill>
                <a:highlight>
                  <a:srgbClr val="CCCCCC"/>
                </a:highlight>
              </a:rPr>
              <a:t>pruning score</a:t>
            </a:r>
            <a:r>
              <a:rPr lang="en">
                <a:solidFill>
                  <a:schemeClr val="dk1"/>
                </a:solidFill>
                <a:highlight>
                  <a:srgbClr val="CCCCCC"/>
                </a:highlight>
              </a:rPr>
              <a:t> as:</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\Delta H = H_{\text{late}} - H_{\text{early}}</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Negative values indicate a reduction in conceptual spread (i.e., narrowing of the idea space).</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In the slides, I will visualize this using:</a:t>
            </a:r>
            <a:endParaRPr>
              <a:solidFill>
                <a:schemeClr val="dk1"/>
              </a:solidFill>
              <a:highlight>
                <a:srgbClr val="CCCCCC"/>
              </a:highlight>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highlight>
                  <a:srgbClr val="CCCCCC"/>
                </a:highlight>
              </a:rPr>
              <a:t>distributions of entropy values across meetings</a:t>
            </a:r>
            <a:endParaRPr>
              <a:solidFill>
                <a:schemeClr val="dk1"/>
              </a:solidFill>
              <a:highlight>
                <a:srgbClr val="CCCCCC"/>
              </a:highlight>
            </a:endParaRPr>
          </a:p>
          <a:p>
            <a:pPr indent="-298450" lvl="0" marL="457200" rtl="0" algn="l">
              <a:lnSpc>
                <a:spcPct val="115000"/>
              </a:lnSpc>
              <a:spcBef>
                <a:spcPts val="0"/>
              </a:spcBef>
              <a:spcAft>
                <a:spcPts val="0"/>
              </a:spcAft>
              <a:buClr>
                <a:schemeClr val="dk1"/>
              </a:buClr>
              <a:buSzPts val="1100"/>
              <a:buChar char="●"/>
            </a:pPr>
            <a:r>
              <a:rPr lang="en">
                <a:solidFill>
                  <a:schemeClr val="dk1"/>
                </a:solidFill>
                <a:highlight>
                  <a:srgbClr val="CCCCCC"/>
                </a:highlight>
              </a:rPr>
              <a:t>paired early vs. late entropy plots</a:t>
            </a:r>
            <a:endParaRPr>
              <a:solidFill>
                <a:schemeClr val="dk1"/>
              </a:solidFill>
              <a:highlight>
                <a:srgbClr val="CCCCCC"/>
              </a:highlight>
            </a:endParaRPr>
          </a:p>
          <a:p>
            <a:pPr indent="-298450" lvl="0" marL="457200" rtl="0" algn="l">
              <a:lnSpc>
                <a:spcPct val="115000"/>
              </a:lnSpc>
              <a:spcBef>
                <a:spcPts val="0"/>
              </a:spcBef>
              <a:spcAft>
                <a:spcPts val="0"/>
              </a:spcAft>
              <a:buClr>
                <a:schemeClr val="dk1"/>
              </a:buClr>
              <a:buSzPts val="1100"/>
              <a:buChar char="●"/>
            </a:pPr>
            <a:r>
              <a:rPr lang="en">
                <a:solidFill>
                  <a:schemeClr val="dk1"/>
                </a:solidFill>
                <a:highlight>
                  <a:srgbClr val="CCCCCC"/>
                </a:highlight>
              </a:rPr>
              <a:t>example meetings showing alignment vs. mismatch between behavioral convergence and entropy-based narrowing</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EV Comment 2:32PM Jan 21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could this test be used to support your decision in grouping codes based on their role in "expansion" vs "narrowing" of idea spaces? then you will have concrete evidence to support your decisions that will be much more convincible</a:t>
            </a:r>
            <a:r>
              <a:rPr lang="en">
                <a:solidFill>
                  <a:schemeClr val="dk1"/>
                </a:solidFill>
                <a:highlight>
                  <a:srgbClr val="EAD1DC"/>
                </a:highlight>
              </a:rPr>
              <a:t>”</a:t>
            </a:r>
            <a:endParaRPr>
              <a:solidFill>
                <a:schemeClr val="dk1"/>
              </a:solidFill>
              <a:highlight>
                <a:srgbClr val="EAD1D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response to: </a:t>
            </a:r>
            <a:r>
              <a:rPr lang="en">
                <a:solidFill>
                  <a:schemeClr val="dk1"/>
                </a:solidFill>
                <a:highlight>
                  <a:srgbClr val="FCE5CD"/>
                </a:highlight>
              </a:rPr>
              <a:t>“</a:t>
            </a:r>
            <a:r>
              <a:rPr lang="en">
                <a:solidFill>
                  <a:schemeClr val="dk1"/>
                </a:solidFill>
                <a:highlight>
                  <a:srgbClr val="FCE5CD"/>
                </a:highlight>
                <a:latin typeface="Courier New"/>
                <a:ea typeface="Courier New"/>
                <a:cs typeface="Courier New"/>
                <a:sym typeface="Courier New"/>
              </a:rPr>
              <a:t>computed the entropy separately for the first-third and last-third of each meeting. For that, I defined a pruning score as the change in entropy over time -- negative values indicate narrowing of an idea space.</a:t>
            </a:r>
            <a:r>
              <a:rPr lang="en">
                <a:solidFill>
                  <a:schemeClr val="dk1"/>
                </a:solidFill>
                <a:highlight>
                  <a:srgbClr val="FCE5CD"/>
                </a:highlight>
              </a:rPr>
              <a:t>”</a:t>
            </a:r>
            <a:endParaRPr>
              <a:solidFill>
                <a:schemeClr val="dk1"/>
              </a:solidFill>
              <a:highlight>
                <a:srgbClr val="FCE5CD"/>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MX Response: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Yes - this was something I started to realize after computing the pruning score.</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Because the entropy provides a code-agnostic signal of idea-space narrowing, it can be used as a validation layer for the behavioral groupings. The idea would be to test whether utterances coded as Expansion/Seeding tend to precede stable or increasing entropy, while Synthesis and Commitment behaviors tend to precede entropy decreases.</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CCCCCC"/>
                </a:highlight>
              </a:rPr>
              <a:t>If that pattern holds consistently across meetings, it would provide empirical support that these grouped codes differ not just conceptually, but in their observable effect on the idea space. This would allow the grouping to be defended based on outcomes in the data, rather than solely on theoretical interpretation. </a:t>
            </a:r>
            <a:endParaRPr>
              <a:solidFill>
                <a:schemeClr val="dk1"/>
              </a:solidFill>
              <a:highlight>
                <a:srgbClr val="CCCCC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EV Comment 2:44 PM Jan 21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how are you defining and measuring "convergence"?</a:t>
            </a:r>
            <a:r>
              <a:rPr lang="en">
                <a:solidFill>
                  <a:schemeClr val="dk1"/>
                </a:solidFill>
                <a:highlight>
                  <a:srgbClr val="EAD1DC"/>
                </a:highlight>
              </a:rPr>
              <a:t>”</a:t>
            </a:r>
            <a:endParaRPr>
              <a:solidFill>
                <a:schemeClr val="dk1"/>
              </a:solidFill>
              <a:highlight>
                <a:srgbClr val="EAD1DC"/>
              </a:highlight>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response to: </a:t>
            </a:r>
            <a:r>
              <a:rPr lang="en">
                <a:solidFill>
                  <a:schemeClr val="dk1"/>
                </a:solidFill>
                <a:highlight>
                  <a:srgbClr val="FCE5CD"/>
                </a:highlight>
              </a:rPr>
              <a:t>“</a:t>
            </a:r>
            <a:r>
              <a:rPr lang="en">
                <a:solidFill>
                  <a:schemeClr val="dk1"/>
                </a:solidFill>
                <a:highlight>
                  <a:srgbClr val="FCE5CD"/>
                </a:highlight>
                <a:latin typeface="Courier New"/>
                <a:ea typeface="Courier New"/>
                <a:cs typeface="Courier New"/>
                <a:sym typeface="Courier New"/>
              </a:rPr>
              <a:t>`commitment/closure` reflected genuine idea-level convergence</a:t>
            </a:r>
            <a:r>
              <a:rPr lang="en">
                <a:solidFill>
                  <a:schemeClr val="dk1"/>
                </a:solidFill>
                <a:highlight>
                  <a:srgbClr val="FCE5CD"/>
                </a:highlight>
              </a:rPr>
              <a:t>”</a:t>
            </a:r>
            <a:endParaRPr>
              <a:solidFill>
                <a:schemeClr val="dk1"/>
              </a:solidFill>
              <a:highlight>
                <a:srgbClr val="FCE5CD"/>
              </a:highlight>
            </a:endParaRPr>
          </a:p>
          <a:p>
            <a:pPr indent="0" lvl="0" marL="0" rtl="0" algn="l">
              <a:spcBef>
                <a:spcPts val="1200"/>
              </a:spcBef>
              <a:spcAft>
                <a:spcPts val="0"/>
              </a:spcAft>
              <a:buClr>
                <a:schemeClr val="dk1"/>
              </a:buClr>
              <a:buSzPts val="1100"/>
              <a:buFont typeface="Arial"/>
              <a:buNone/>
            </a:pPr>
            <a:r>
              <a:rPr lang="en" sz="1050">
                <a:solidFill>
                  <a:schemeClr val="dk1"/>
                </a:solidFill>
                <a:latin typeface="Roboto"/>
                <a:ea typeface="Roboto"/>
                <a:cs typeface="Roboto"/>
                <a:sym typeface="Roboto"/>
              </a:rPr>
              <a:t>MX Response: </a:t>
            </a:r>
            <a:endParaRPr sz="105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CCCCC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CCCCCC"/>
                </a:highlight>
                <a:latin typeface="Roboto"/>
                <a:ea typeface="Roboto"/>
                <a:cs typeface="Roboto"/>
                <a:sym typeface="Roboto"/>
              </a:rPr>
              <a:t>In this work, I define convergence operationally rather than normatively. I am not claiming that teams converge on the “best” or “correct” idea. Instead, I define convergence as a reduction in the set of ideas actively under discussion, accompanied by signals of alignment or forward movement. </a:t>
            </a:r>
            <a:endParaRPr sz="1050">
              <a:solidFill>
                <a:schemeClr val="dk1"/>
              </a:solidFill>
              <a:highlight>
                <a:srgbClr val="CCCCC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CCCCC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CCCCCC"/>
                </a:highlight>
                <a:latin typeface="Roboto"/>
                <a:ea typeface="Roboto"/>
                <a:cs typeface="Roboto"/>
                <a:sym typeface="Roboto"/>
              </a:rPr>
              <a:t>I measured convergence along two complementary dimensions:</a:t>
            </a:r>
            <a:endParaRPr sz="1050">
              <a:solidFill>
                <a:schemeClr val="dk1"/>
              </a:solidFill>
              <a:highlight>
                <a:srgbClr val="CCCCC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CCCCC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CCCCCC"/>
                </a:highlight>
                <a:latin typeface="Roboto"/>
                <a:ea typeface="Roboto"/>
                <a:cs typeface="Roboto"/>
                <a:sym typeface="Roboto"/>
              </a:rPr>
              <a:t>Behavioral convergence was inferred from increases in synthesis and commitment/coordination behaviors, particularly when these followed earlier exploratory and evaluative behaviors rather than occurring in isolation.</a:t>
            </a:r>
            <a:endParaRPr sz="1050">
              <a:solidFill>
                <a:schemeClr val="dk1"/>
              </a:solidFill>
              <a:highlight>
                <a:srgbClr val="CCCCC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CCCCC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CCCCCC"/>
                </a:highlight>
                <a:latin typeface="Roboto"/>
                <a:ea typeface="Roboto"/>
                <a:cs typeface="Roboto"/>
                <a:sym typeface="Roboto"/>
              </a:rPr>
              <a:t>Conceptual convergence was measured using entropy over idea states, where a decrease in entropy from the first to the last third of a meeting indicates narrowing of the idea space.</a:t>
            </a:r>
            <a:endParaRPr sz="1050">
              <a:solidFill>
                <a:schemeClr val="dk1"/>
              </a:solidFill>
              <a:highlight>
                <a:srgbClr val="CCCCC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CCCCC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CCCCCC"/>
                </a:highlight>
                <a:latin typeface="Roboto"/>
                <a:ea typeface="Roboto"/>
                <a:cs typeface="Roboto"/>
                <a:sym typeface="Roboto"/>
              </a:rPr>
              <a:t>I treat convergence as present when either or both of these signals appear, and I explicitly examine cases where they diverge to avoid over-interpreting coordination or meeting closure as genuine idea-level convergence.</a:t>
            </a:r>
            <a:endParaRPr sz="1050">
              <a:solidFill>
                <a:schemeClr val="dk1"/>
              </a:solidFill>
              <a:highlight>
                <a:srgbClr val="CCCCCC"/>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050">
              <a:solidFill>
                <a:schemeClr val="dk1"/>
              </a:solidFill>
              <a:highlight>
                <a:srgbClr val="CCCCCC"/>
              </a:highlight>
              <a:latin typeface="Roboto"/>
              <a:ea typeface="Roboto"/>
              <a:cs typeface="Roboto"/>
              <a:sym typeface="Roboto"/>
            </a:endParaRPr>
          </a:p>
          <a:p>
            <a:pPr indent="0" lvl="0" marL="0" rtl="0" algn="l">
              <a:spcBef>
                <a:spcPts val="0"/>
              </a:spcBef>
              <a:spcAft>
                <a:spcPts val="0"/>
              </a:spcAft>
              <a:buNone/>
            </a:pPr>
            <a:r>
              <a:t/>
            </a:r>
            <a:endParaRPr sz="20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b0dab33b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b0dab33b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2000"/>
              </a:spcBef>
              <a:spcAft>
                <a:spcPts val="0"/>
              </a:spcAft>
              <a:buClr>
                <a:schemeClr val="dk1"/>
              </a:buClr>
              <a:buSzPts val="1100"/>
              <a:buFont typeface="Arial"/>
              <a:buNone/>
            </a:pPr>
            <a:r>
              <a:rPr lang="en" sz="2000">
                <a:solidFill>
                  <a:schemeClr val="dk1"/>
                </a:solidFill>
              </a:rPr>
              <a:t>Part 4</a:t>
            </a:r>
            <a:endParaRPr sz="2000">
              <a:solidFill>
                <a:schemeClr val="dk1"/>
              </a:solidFill>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Note to self: need to go through these remaining six comments.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(Jan 21 2026 at 4:55PM)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EV Comment 2:36PM Jan 21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add graphs/visualizations to illustrate this. concrete examples from the data will also help. this is a very interesting finding</a:t>
            </a:r>
            <a:r>
              <a:rPr lang="en">
                <a:solidFill>
                  <a:schemeClr val="dk1"/>
                </a:solidFill>
                <a:highlight>
                  <a:srgbClr val="EAD1DC"/>
                </a:highlight>
              </a:rPr>
              <a:t>”</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for this part: </a:t>
            </a:r>
            <a:r>
              <a:rPr lang="en">
                <a:solidFill>
                  <a:schemeClr val="dk1"/>
                </a:solidFill>
                <a:highlight>
                  <a:srgbClr val="FCE5CD"/>
                </a:highlight>
              </a:rPr>
              <a:t>“</a:t>
            </a:r>
            <a:r>
              <a:rPr lang="en" sz="800">
                <a:solidFill>
                  <a:schemeClr val="dk1"/>
                </a:solidFill>
                <a:highlight>
                  <a:srgbClr val="FCE5CD"/>
                </a:highlight>
                <a:latin typeface="Courier New"/>
                <a:ea typeface="Courier New"/>
                <a:cs typeface="Courier New"/>
                <a:sym typeface="Courier New"/>
              </a:rPr>
              <a:t>After this part was run, it was figured out that some of the meetings had strong `synthesis` and `commitment/closure` behaviors without a reduction in the entropy. Others showed conceptual narrowing without clear `commitment/closure` behavior. For this part I ended up checking against the transcript to figure out the exact cases and words spoken by the researchers.</a:t>
            </a:r>
            <a:r>
              <a:rPr lang="en">
                <a:solidFill>
                  <a:schemeClr val="dk1"/>
                </a:solidFill>
                <a:highlight>
                  <a:srgbClr val="FCE5CD"/>
                </a:highlight>
              </a:rPr>
              <a:t>”</a:t>
            </a:r>
            <a:endParaRPr>
              <a:solidFill>
                <a:schemeClr val="dk1"/>
              </a:solidFill>
              <a:highlight>
                <a:srgbClr val="FCE5CD"/>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MX Comment: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E06666"/>
                </a:highlight>
              </a:rPr>
              <a:t>Noted, will find examples + graph/viz.</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EV Comment 2:39PM Jan 21</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examples from data please; or visualizations/graphs</a:t>
            </a:r>
            <a:r>
              <a:rPr lang="en">
                <a:solidFill>
                  <a:schemeClr val="dk1"/>
                </a:solidFill>
                <a:highlight>
                  <a:srgbClr val="EAD1DC"/>
                </a:highlight>
              </a:rPr>
              <a:t>”</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For this part: </a:t>
            </a:r>
            <a:r>
              <a:rPr lang="en">
                <a:solidFill>
                  <a:schemeClr val="dk1"/>
                </a:solidFill>
                <a:highlight>
                  <a:srgbClr val="FCE5CD"/>
                </a:highlight>
              </a:rPr>
              <a:t>“</a:t>
            </a:r>
            <a:r>
              <a:rPr lang="en" sz="800">
                <a:solidFill>
                  <a:schemeClr val="dk1"/>
                </a:solidFill>
                <a:highlight>
                  <a:srgbClr val="FCE5CD"/>
                </a:highlight>
                <a:latin typeface="Courier New"/>
                <a:ea typeface="Courier New"/>
                <a:cs typeface="Courier New"/>
                <a:sym typeface="Courier New"/>
              </a:rPr>
              <a:t>this holds because teams can exhibit `synthesis` and coordination behaviors without adhering to a specific idea, and they can narrow their idea space without signaling commitment through decision-oriented behaviors.</a:t>
            </a:r>
            <a:r>
              <a:rPr lang="en">
                <a:solidFill>
                  <a:schemeClr val="dk1"/>
                </a:solidFill>
                <a:highlight>
                  <a:srgbClr val="FCE5CD"/>
                </a:highlight>
              </a:rPr>
              <a:t>”</a:t>
            </a:r>
            <a:endParaRPr>
              <a:solidFill>
                <a:schemeClr val="dk1"/>
              </a:solidFill>
              <a:highlight>
                <a:srgbClr val="FCE5CD"/>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MX Comment: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E06666"/>
                </a:highlight>
              </a:rPr>
              <a:t>Noted, will find examples + graph/viz.</a:t>
            </a:r>
            <a:endParaRPr>
              <a:solidFill>
                <a:schemeClr val="dk1"/>
              </a:solidFill>
              <a:highlight>
                <a:srgbClr val="E06666"/>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E06666"/>
              </a:highlight>
            </a:endParaRPr>
          </a:p>
          <a:p>
            <a:pPr indent="0" lvl="0" marL="0" rtl="0" algn="l">
              <a:spcBef>
                <a:spcPts val="0"/>
              </a:spcBef>
              <a:spcAft>
                <a:spcPts val="0"/>
              </a:spcAft>
              <a:buClr>
                <a:schemeClr val="dk1"/>
              </a:buClr>
              <a:buSzPts val="1100"/>
              <a:buFont typeface="Arial"/>
              <a:buNone/>
            </a:pPr>
            <a:r>
              <a:rPr lang="en">
                <a:solidFill>
                  <a:schemeClr val="dk1"/>
                </a:solidFill>
              </a:rPr>
              <a:t>EV Comment 2:39 Jan 21</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what is "transition dynamics"?</a:t>
            </a:r>
            <a:r>
              <a:rPr lang="en">
                <a:solidFill>
                  <a:schemeClr val="dk1"/>
                </a:solidFill>
                <a:highlight>
                  <a:srgbClr val="EAD1DC"/>
                </a:highlight>
              </a:rPr>
              <a:t>”</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rPr lang="en">
                <a:solidFill>
                  <a:schemeClr val="dk1"/>
                </a:solidFill>
              </a:rPr>
              <a:t>For this part: </a:t>
            </a:r>
            <a:r>
              <a:rPr lang="en">
                <a:solidFill>
                  <a:schemeClr val="dk1"/>
                </a:solidFill>
                <a:highlight>
                  <a:srgbClr val="FCE5CD"/>
                </a:highlight>
              </a:rPr>
              <a:t>“</a:t>
            </a:r>
            <a:r>
              <a:rPr lang="en" sz="800">
                <a:solidFill>
                  <a:schemeClr val="dk1"/>
                </a:solidFill>
                <a:highlight>
                  <a:srgbClr val="FCE5CD"/>
                </a:highlight>
                <a:latin typeface="Courier New"/>
                <a:ea typeface="Courier New"/>
                <a:cs typeface="Courier New"/>
                <a:sym typeface="Courier New"/>
              </a:rPr>
              <a:t>these annnotations and transition dynamics can help figuring</a:t>
            </a:r>
            <a:r>
              <a:rPr lang="en">
                <a:solidFill>
                  <a:schemeClr val="dk1"/>
                </a:solidFill>
                <a:highlight>
                  <a:srgbClr val="FCE5CD"/>
                </a:highlight>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MX Comment: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By “transition dynamics”, I mean how teams move from one type of behavior to another over time, such as sharing information → evaluating it → synthesizing it. I focus on these shifts because they better reflect how ideas develop than any single annotation on its own.</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EV Comment 3:05pm Jan 21</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why should this computation work? and *dumb this language down even more?</a:t>
            </a:r>
            <a:r>
              <a:rPr lang="en">
                <a:solidFill>
                  <a:schemeClr val="dk1"/>
                </a:solidFill>
                <a:highlight>
                  <a:srgbClr val="EAD1DC"/>
                </a:highlight>
              </a:rPr>
              <a:t>”</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rPr lang="en">
                <a:solidFill>
                  <a:schemeClr val="dk1"/>
                </a:solidFill>
              </a:rPr>
              <a:t>For this part: </a:t>
            </a:r>
            <a:r>
              <a:rPr lang="en">
                <a:solidFill>
                  <a:schemeClr val="dk1"/>
                </a:solidFill>
                <a:highlight>
                  <a:srgbClr val="FCE5CD"/>
                </a:highlight>
              </a:rPr>
              <a:t>“</a:t>
            </a:r>
            <a:r>
              <a:rPr b="1" lang="en" sz="800">
                <a:solidFill>
                  <a:schemeClr val="dk1"/>
                </a:solidFill>
                <a:highlight>
                  <a:srgbClr val="FCE5CD"/>
                </a:highlight>
                <a:latin typeface="Courier New"/>
                <a:ea typeface="Courier New"/>
                <a:cs typeface="Courier New"/>
                <a:sym typeface="Courier New"/>
              </a:rPr>
              <a:t>**to assess decision closure**</a:t>
            </a:r>
            <a:r>
              <a:rPr lang="en" sz="800">
                <a:solidFill>
                  <a:schemeClr val="dk1"/>
                </a:solidFill>
                <a:highlight>
                  <a:srgbClr val="FCE5CD"/>
                </a:highlight>
                <a:latin typeface="Courier New"/>
                <a:ea typeface="Courier New"/>
                <a:cs typeface="Courier New"/>
                <a:sym typeface="Courier New"/>
              </a:rPr>
              <a:t>, I computed late-stage gains in Commitment/Closure relative to early segments, and examined whether these gains occurred after synthesis rather than in isolation. </a:t>
            </a:r>
            <a:r>
              <a:rPr lang="en">
                <a:solidFill>
                  <a:schemeClr val="dk1"/>
                </a:solidFill>
                <a:highlight>
                  <a:srgbClr val="FCE5CD"/>
                </a:highlight>
              </a:rPr>
              <a:t>”</a:t>
            </a:r>
            <a:endParaRPr>
              <a:solidFill>
                <a:schemeClr val="dk1"/>
              </a:solidFill>
              <a:highlight>
                <a:srgbClr val="FCE5CD"/>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MX Comment: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The idea is that real decisions usually come after ideas have been worked through. By checking whether commitment increases near the end </a:t>
            </a:r>
            <a:r>
              <a:rPr i="1" lang="en">
                <a:solidFill>
                  <a:schemeClr val="dk1"/>
                </a:solidFill>
                <a:highlight>
                  <a:srgbClr val="CCCCCC"/>
                </a:highlight>
              </a:rPr>
              <a:t>and </a:t>
            </a:r>
            <a:r>
              <a:rPr lang="en">
                <a:solidFill>
                  <a:schemeClr val="dk1"/>
                </a:solidFill>
                <a:highlight>
                  <a:srgbClr val="CCCCCC"/>
                </a:highlight>
              </a:rPr>
              <a:t>follows synthesis, I’m testing whether closure looks like a natural outcome of reasoning rather than just a meeting ending.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rPr>
              <a:t>EV Comment 3:07pm Jan 21</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why?</a:t>
            </a:r>
            <a:r>
              <a:rPr lang="en">
                <a:solidFill>
                  <a:schemeClr val="dk1"/>
                </a:solidFill>
                <a:highlight>
                  <a:srgbClr val="EAD1DC"/>
                </a:highlight>
              </a:rPr>
              <a:t>”</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rPr lang="en">
                <a:solidFill>
                  <a:schemeClr val="dk1"/>
                </a:solidFill>
              </a:rPr>
              <a:t>For this part: </a:t>
            </a:r>
            <a:r>
              <a:rPr lang="en">
                <a:solidFill>
                  <a:schemeClr val="dk1"/>
                </a:solidFill>
                <a:highlight>
                  <a:srgbClr val="FCE5CD"/>
                </a:highlight>
              </a:rPr>
              <a:t>“</a:t>
            </a:r>
            <a:r>
              <a:rPr b="1" lang="en" sz="800">
                <a:solidFill>
                  <a:schemeClr val="dk1"/>
                </a:solidFill>
                <a:highlight>
                  <a:srgbClr val="FCE5CD"/>
                </a:highlight>
                <a:latin typeface="Courier New"/>
                <a:ea typeface="Courier New"/>
                <a:cs typeface="Courier New"/>
                <a:sym typeface="Courier New"/>
              </a:rPr>
              <a:t>**To assess narrowing independently of behavioral annotations**</a:t>
            </a:r>
            <a:r>
              <a:rPr lang="en" sz="800">
                <a:solidFill>
                  <a:schemeClr val="dk1"/>
                </a:solidFill>
                <a:highlight>
                  <a:srgbClr val="FCE5CD"/>
                </a:highlight>
                <a:latin typeface="Courier New"/>
                <a:ea typeface="Courier New"/>
                <a:cs typeface="Courier New"/>
                <a:sym typeface="Courier New"/>
              </a:rPr>
              <a:t>, I computed idea-space entropy for the first and last thirds of each meeting, treating the distribution of idea states as a proxy for conceptual spread. </a:t>
            </a:r>
            <a:r>
              <a:rPr lang="en">
                <a:solidFill>
                  <a:schemeClr val="dk1"/>
                </a:solidFill>
                <a:highlight>
                  <a:srgbClr val="FCE5CD"/>
                </a:highlight>
              </a:rPr>
              <a:t>”</a:t>
            </a:r>
            <a:endParaRPr>
              <a:solidFill>
                <a:schemeClr val="dk1"/>
              </a:solidFill>
              <a:highlight>
                <a:srgbClr val="FCE5CD"/>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MX Comment: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The reason for using entropy here is that it provides a simple, code-agnostic way to quantify how spread out the ideas under discussion are at a given point in the meeting. When teams are exploring, conversation tends to be distributed across many different ideas. When teams narrow, discussion concentrates on fewer ideas more repeatedly.</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CCCCCC"/>
              </a:highlight>
            </a:endParaRPr>
          </a:p>
          <a:p>
            <a:pPr indent="0" lvl="0" marL="0" rtl="0" algn="l">
              <a:spcBef>
                <a:spcPts val="0"/>
              </a:spcBef>
              <a:spcAft>
                <a:spcPts val="0"/>
              </a:spcAft>
              <a:buClr>
                <a:schemeClr val="dk1"/>
              </a:buClr>
              <a:buSzPts val="1100"/>
              <a:buFont typeface="Arial"/>
              <a:buNone/>
            </a:pPr>
            <a:r>
              <a:rPr lang="en">
                <a:solidFill>
                  <a:schemeClr val="dk1"/>
                </a:solidFill>
              </a:rPr>
              <a:t>EV Comment 3:07pm Jan 21</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EAD1DC"/>
                </a:highlight>
              </a:rPr>
              <a:t>“</a:t>
            </a:r>
            <a:r>
              <a:rPr lang="en" sz="1050">
                <a:solidFill>
                  <a:srgbClr val="444746"/>
                </a:solidFill>
                <a:highlight>
                  <a:srgbClr val="EAD1DC"/>
                </a:highlight>
                <a:latin typeface="Roboto"/>
                <a:ea typeface="Roboto"/>
                <a:cs typeface="Roboto"/>
                <a:sym typeface="Roboto"/>
              </a:rPr>
              <a:t>why? what were you trying to achieve with this?</a:t>
            </a:r>
            <a:r>
              <a:rPr lang="en">
                <a:solidFill>
                  <a:schemeClr val="dk1"/>
                </a:solidFill>
                <a:highlight>
                  <a:srgbClr val="EAD1DC"/>
                </a:highlight>
              </a:rPr>
              <a:t>”</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EAD1DC"/>
              </a:highlight>
            </a:endParaRPr>
          </a:p>
          <a:p>
            <a:pPr indent="0" lvl="0" marL="0" rtl="0" algn="l">
              <a:spcBef>
                <a:spcPts val="0"/>
              </a:spcBef>
              <a:spcAft>
                <a:spcPts val="0"/>
              </a:spcAft>
              <a:buClr>
                <a:schemeClr val="dk1"/>
              </a:buClr>
              <a:buSzPts val="1100"/>
              <a:buFont typeface="Arial"/>
              <a:buNone/>
            </a:pPr>
            <a:r>
              <a:rPr lang="en">
                <a:solidFill>
                  <a:schemeClr val="dk1"/>
                </a:solidFill>
              </a:rPr>
              <a:t>For this part:</a:t>
            </a:r>
            <a:r>
              <a:rPr lang="en">
                <a:solidFill>
                  <a:schemeClr val="dk1"/>
                </a:solidFill>
                <a:highlight>
                  <a:srgbClr val="FCE5CD"/>
                </a:highlight>
              </a:rPr>
              <a:t> “</a:t>
            </a:r>
            <a:r>
              <a:rPr lang="en" sz="800">
                <a:solidFill>
                  <a:schemeClr val="dk1"/>
                </a:solidFill>
                <a:highlight>
                  <a:srgbClr val="FCE5CD"/>
                </a:highlight>
                <a:latin typeface="Courier New"/>
                <a:ea typeface="Courier New"/>
                <a:cs typeface="Courier New"/>
                <a:sym typeface="Courier New"/>
              </a:rPr>
              <a:t>I compared behavioral convergence signals (`synthesis` and `commitment` gains) with entropy-based narrowing.  </a:t>
            </a:r>
            <a:r>
              <a:rPr lang="en">
                <a:solidFill>
                  <a:schemeClr val="dk1"/>
                </a:solidFill>
                <a:highlight>
                  <a:srgbClr val="FCE5CD"/>
                </a:highlight>
              </a:rPr>
              <a:t>”</a:t>
            </a:r>
            <a:endParaRPr>
              <a:solidFill>
                <a:schemeClr val="dk1"/>
              </a:solidFill>
              <a:highlight>
                <a:srgbClr val="FCE5CD"/>
              </a:highligh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MX Comment: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highlight>
                  <a:srgbClr val="CCCCCC"/>
                </a:highlight>
              </a:rPr>
              <a:t>I did this to check whether behaviors that signal convergence actually align with teams narrowing their ideas, or whether they sometimes occur without real conceptual agreement.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a08c6b18d_1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a08c6b18d_1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Note to self: this is the idea I am trying to get across:</a:t>
            </a:r>
            <a:endParaRPr b="1"/>
          </a:p>
          <a:p>
            <a:pPr indent="0" lvl="0" marL="0" rtl="0" algn="l">
              <a:spcBef>
                <a:spcPts val="0"/>
              </a:spcBef>
              <a:spcAft>
                <a:spcPts val="0"/>
              </a:spcAft>
              <a:buNone/>
            </a:pPr>
            <a:r>
              <a:t/>
            </a:r>
            <a:endParaRPr/>
          </a:p>
          <a:p>
            <a:pPr indent="0" lvl="0" marL="0" rtl="0" algn="l">
              <a:spcBef>
                <a:spcPts val="0"/>
              </a:spcBef>
              <a:spcAft>
                <a:spcPts val="0"/>
              </a:spcAft>
              <a:buNone/>
            </a:pPr>
            <a:r>
              <a:rPr b="1" lang="en">
                <a:highlight>
                  <a:srgbClr val="FFD966"/>
                </a:highlight>
              </a:rPr>
              <a:t>Teams can sound like they’re making decisions without actually converging on an idea.</a:t>
            </a:r>
            <a:endParaRPr b="1">
              <a:highlight>
                <a:srgbClr val="FFD966"/>
              </a:highlight>
            </a:endParaRPr>
          </a:p>
          <a:p>
            <a:pPr indent="0" lvl="0" marL="0" rtl="0" algn="l">
              <a:spcBef>
                <a:spcPts val="0"/>
              </a:spcBef>
              <a:spcAft>
                <a:spcPts val="0"/>
              </a:spcAft>
              <a:buNone/>
            </a:pPr>
            <a:r>
              <a:rPr b="1" lang="en">
                <a:highlight>
                  <a:srgbClr val="FFD966"/>
                </a:highlight>
              </a:rPr>
              <a:t>By tracking coordination talk and whether the content space is narrowing, we can distinguish real </a:t>
            </a:r>
            <a:r>
              <a:rPr b="1" lang="en">
                <a:highlight>
                  <a:srgbClr val="FFD966"/>
                </a:highlight>
              </a:rPr>
              <a:t>convergence from surface-level decision activity.</a:t>
            </a:r>
            <a:endParaRPr b="1">
              <a:highlight>
                <a:srgbClr val="FFD966"/>
              </a:highlight>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a08c6b18d_1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ba08c6b18d_1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 sz="1000">
                <a:solidFill>
                  <a:srgbClr val="0E0E0E"/>
                </a:solidFill>
              </a:rPr>
              <a:t>This utterance qualifies as convergence because it expresses explicit agreement, occurs within a decision-oriented segment, and reiterates a single future-oriented commitment without introducing new alternatives.</a:t>
            </a:r>
            <a:endParaRPr sz="1000">
              <a:solidFill>
                <a:srgbClr val="0E0E0E"/>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a08c6b18d_1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ba08c6b18d_1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 sz="1000">
                <a:solidFill>
                  <a:srgbClr val="0E0E0E"/>
                </a:solidFill>
              </a:rPr>
              <a:t>“We show that decision talk alone is a poor signal for convergence because it often reflects meeting management. When teams truly converge, decision-like talk appears without structural closure, and the conversation narrows to fewer ideas. We capture that narrowing using entropy, which drops near the end only in convergent meetings.”</a:t>
            </a:r>
            <a:endParaRPr sz="100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b="1" lang="en" sz="1000">
                <a:solidFill>
                  <a:srgbClr val="0E0E0E"/>
                </a:solidFill>
              </a:rPr>
              <a:t>In the meeting that genuinely converges, entropy drops near the end, showing that the discussion concentrates on fewer ideas.</a:t>
            </a:r>
            <a:endParaRPr b="1" sz="100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b="1" lang="en" sz="1000">
                <a:solidFill>
                  <a:srgbClr val="0E0E0E"/>
                </a:solidFill>
              </a:rPr>
              <a:t>In the meeting that only sounds decisive, entropy does not drop, indicating continued exploration despite wrap-up talk.</a:t>
            </a:r>
            <a:endParaRPr b="1" sz="1000">
              <a:solidFill>
                <a:srgbClr val="0E0E0E"/>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a08c6b18d_1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a08c6b18d_1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a3d4fee9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a3d4fee9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a3d4fee9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ba3d4fee9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 u="sng">
                <a:solidFill>
                  <a:schemeClr val="hlink"/>
                </a:solidFill>
                <a:hlinkClick r:id="rId2"/>
              </a:rPr>
              <a:t>Putman &amp; Paulus (2009):</a:t>
            </a:r>
            <a:r>
              <a:rPr lang="en">
                <a:solidFill>
                  <a:schemeClr val="dk1"/>
                </a:solidFill>
              </a:rPr>
              <a:t> Groups generate many ideas but subsequently narrow to a small subset selected for implementation.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u="sng">
                <a:solidFill>
                  <a:schemeClr val="hlink"/>
                </a:solidFill>
                <a:hlinkClick r:id="rId3"/>
              </a:rPr>
              <a:t>Kirschner et al. (2006):</a:t>
            </a:r>
            <a:r>
              <a:rPr lang="en">
                <a:solidFill>
                  <a:schemeClr val="dk1"/>
                </a:solidFill>
              </a:rPr>
              <a:t> Collaboration involves negotiating from diverse perspectives toward shared standpoints and common ground.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u="sng">
                <a:solidFill>
                  <a:schemeClr val="hlink"/>
                </a:solidFill>
                <a:hlinkClick r:id="rId4"/>
              </a:rPr>
              <a:t>Mondada (2006):</a:t>
            </a:r>
            <a:r>
              <a:rPr lang="en">
                <a:solidFill>
                  <a:schemeClr val="dk1"/>
                </a:solidFill>
              </a:rPr>
              <a:t> Participants orient to activity closure through interactional practices before explicit decisions are formally stated.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u="sng">
                <a:solidFill>
                  <a:schemeClr val="hlink"/>
                </a:solidFill>
                <a:hlinkClick r:id="rId5"/>
              </a:rPr>
              <a:t>Wiltshire et al. (2017):</a:t>
            </a:r>
            <a:r>
              <a:rPr lang="en">
                <a:solidFill>
                  <a:schemeClr val="dk1"/>
                </a:solidFill>
              </a:rPr>
              <a:t> Declines in communication entropy signal phase transitions toward more ordered, focused team problem-solving.</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Linked the sources above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ba3d4fee9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ba3d4fee9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omments" Target="../comments/commen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comments" Target="../comments/commen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omments" Target="../comments/commen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comments" Target="../comments/commen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0" y="2150850"/>
            <a:ext cx="88323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SCIALOG: Temporal &amp; Sequence-Based Behavioral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40">
                <a:highlight>
                  <a:srgbClr val="FFE599"/>
                </a:highlight>
              </a:rPr>
              <a:t>SCIALOG: Temporal &amp; Sequence-Based Behavioral Analysis</a:t>
            </a:r>
            <a:endParaRPr sz="2240">
              <a:highlight>
                <a:srgbClr val="FFE599"/>
              </a:highlight>
            </a:endParaRPr>
          </a:p>
          <a:p>
            <a:pPr indent="0" lvl="0" marL="0" rtl="0" algn="l">
              <a:spcBef>
                <a:spcPts val="0"/>
              </a:spcBef>
              <a:spcAft>
                <a:spcPts val="0"/>
              </a:spcAft>
              <a:buClr>
                <a:schemeClr val="dk1"/>
              </a:buClr>
              <a:buSzPts val="990"/>
              <a:buFont typeface="Arial"/>
              <a:buNone/>
            </a:pPr>
            <a:r>
              <a:rPr b="1" lang="en" sz="2240">
                <a:highlight>
                  <a:srgbClr val="FFE599"/>
                </a:highlight>
              </a:rPr>
              <a:t>(Core analyses complete; refinement ongoing)</a:t>
            </a:r>
            <a:endParaRPr b="1" sz="2240">
              <a:highlight>
                <a:srgbClr val="FFE599"/>
              </a:highlight>
            </a:endParaRPr>
          </a:p>
          <a:p>
            <a:pPr indent="0" lvl="0" marL="0" rtl="0" algn="l">
              <a:spcBef>
                <a:spcPts val="0"/>
              </a:spcBef>
              <a:spcAft>
                <a:spcPts val="0"/>
              </a:spcAft>
              <a:buSzPts val="990"/>
              <a:buNone/>
            </a:pPr>
            <a:r>
              <a:t/>
            </a:r>
            <a:endParaRPr sz="2520"/>
          </a:p>
        </p:txBody>
      </p:sp>
      <p:sp>
        <p:nvSpPr>
          <p:cNvPr id="60" name="Google Shape;60;p14"/>
          <p:cNvSpPr txBox="1"/>
          <p:nvPr/>
        </p:nvSpPr>
        <p:spPr>
          <a:xfrm>
            <a:off x="246300" y="849675"/>
            <a:ext cx="8651400" cy="42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Study Description: </a:t>
            </a:r>
            <a:r>
              <a:rPr lang="en" sz="1600">
                <a:solidFill>
                  <a:schemeClr val="dk1"/>
                </a:solidFill>
              </a:rPr>
              <a:t>Using the codebook synthesized from existing literature reviews, we constructed temporal and sequence-based behavioral features to examine whether when and how behaviors unfold </a:t>
            </a:r>
            <a:r>
              <a:rPr lang="en" sz="1600">
                <a:solidFill>
                  <a:schemeClr val="dk1"/>
                </a:solidFill>
              </a:rPr>
              <a:t>predict</a:t>
            </a:r>
            <a:r>
              <a:rPr lang="en" sz="1600">
                <a:solidFill>
                  <a:schemeClr val="dk1"/>
                </a:solidFill>
              </a:rPr>
              <a:t> team roles.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b="1" lang="en" sz="1600">
                <a:solidFill>
                  <a:schemeClr val="dk1"/>
                </a:solidFill>
              </a:rPr>
              <a:t>Study Questions:</a:t>
            </a:r>
            <a:endParaRPr b="1" sz="1600">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Do early meeting behaviors predict later roles and outcomes?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Do facilitators, team members, and funded participants exhibit distinct temporal </a:t>
            </a:r>
            <a:r>
              <a:rPr lang="en" sz="1600">
                <a:solidFill>
                  <a:schemeClr val="dk1"/>
                </a:solidFill>
              </a:rPr>
              <a:t>patterns?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b="1" lang="en" sz="1600">
                <a:solidFill>
                  <a:schemeClr val="dk1"/>
                </a:solidFill>
              </a:rPr>
              <a:t>Data Sample:</a:t>
            </a:r>
            <a:endParaRPr b="1"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128 SCIALOG meeting recordings (1-1.5 hrs with 6-18 participants)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Gemini + human-validated behavioral annotations (aligned with the meetings split into thirds)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Three outcomes: (1) facilitator role, (2) team membership, (3) funding status</a:t>
            </a:r>
            <a:endParaRPr b="1" sz="1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nvSpPr>
        <p:spPr>
          <a:xfrm>
            <a:off x="0" y="0"/>
            <a:ext cx="85206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2200">
                <a:highlight>
                  <a:srgbClr val="FFE599"/>
                </a:highlight>
              </a:rPr>
              <a:t>Temporal Behavioral Patterns Across All SCIALOG Meetings </a:t>
            </a:r>
            <a:endParaRPr b="1" sz="2200">
              <a:solidFill>
                <a:srgbClr val="000000"/>
              </a:solidFill>
              <a:highlight>
                <a:srgbClr val="FFE599"/>
              </a:highlight>
            </a:endParaRPr>
          </a:p>
        </p:txBody>
      </p:sp>
      <p:sp>
        <p:nvSpPr>
          <p:cNvPr id="66" name="Google Shape;66;p15"/>
          <p:cNvSpPr txBox="1"/>
          <p:nvPr/>
        </p:nvSpPr>
        <p:spPr>
          <a:xfrm>
            <a:off x="125525" y="3968525"/>
            <a:ext cx="8670900" cy="10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rPr>
              <a:t>Knowledge Sharing is front-loaded, while Idea Management peaks mid-meeting, suggesting early grounding and mid-phase structuring. Relational and participation behaviors dip mid-meeting before partially recovering </a:t>
            </a:r>
            <a:r>
              <a:rPr lang="en" sz="1800">
                <a:solidFill>
                  <a:srgbClr val="FF0000"/>
                </a:solidFill>
              </a:rPr>
              <a:t>towards</a:t>
            </a:r>
            <a:r>
              <a:rPr lang="en" sz="1800">
                <a:solidFill>
                  <a:srgbClr val="FF0000"/>
                </a:solidFill>
              </a:rPr>
              <a:t> the end</a:t>
            </a:r>
            <a:endParaRPr sz="1800">
              <a:solidFill>
                <a:srgbClr val="FF0000"/>
              </a:solidFill>
            </a:endParaRPr>
          </a:p>
        </p:txBody>
      </p:sp>
      <p:pic>
        <p:nvPicPr>
          <p:cNvPr id="67" name="Google Shape;67;p15" title="b98e87ab-2799-4dc7-87f4-125ad3a8acba.png"/>
          <p:cNvPicPr preferRelativeResize="0"/>
          <p:nvPr/>
        </p:nvPicPr>
        <p:blipFill rotWithShape="1">
          <a:blip r:embed="rId3">
            <a:alphaModFix/>
          </a:blip>
          <a:srcRect b="0" l="0" r="0" t="0"/>
          <a:stretch/>
        </p:blipFill>
        <p:spPr>
          <a:xfrm>
            <a:off x="152400" y="725100"/>
            <a:ext cx="5165679" cy="3091025"/>
          </a:xfrm>
          <a:prstGeom prst="rect">
            <a:avLst/>
          </a:prstGeom>
          <a:noFill/>
          <a:ln>
            <a:noFill/>
          </a:ln>
        </p:spPr>
      </p:pic>
      <p:pic>
        <p:nvPicPr>
          <p:cNvPr id="68" name="Google Shape;68;p15" title="90118b3d-d51f-4234-9dec-bd08fa437e12.png"/>
          <p:cNvPicPr preferRelativeResize="0"/>
          <p:nvPr/>
        </p:nvPicPr>
        <p:blipFill>
          <a:blip r:embed="rId4">
            <a:alphaModFix/>
          </a:blip>
          <a:stretch>
            <a:fillRect/>
          </a:stretch>
        </p:blipFill>
        <p:spPr>
          <a:xfrm>
            <a:off x="5318075" y="725100"/>
            <a:ext cx="3673525" cy="219814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200">
                <a:highlight>
                  <a:srgbClr val="FFE599"/>
                </a:highlight>
              </a:rPr>
              <a:t>Which </a:t>
            </a:r>
            <a:r>
              <a:rPr b="1" lang="en" sz="2200">
                <a:solidFill>
                  <a:srgbClr val="FF0000"/>
                </a:solidFill>
                <a:highlight>
                  <a:srgbClr val="FFE599"/>
                </a:highlight>
              </a:rPr>
              <a:t>First ⅓ of a Meeting Behaviors </a:t>
            </a:r>
            <a:r>
              <a:rPr b="1" lang="en" sz="2200">
                <a:highlight>
                  <a:srgbClr val="FFE599"/>
                </a:highlight>
              </a:rPr>
              <a:t>Distinguish Facilitators From Non-Facilitators?</a:t>
            </a:r>
            <a:endParaRPr b="1" sz="2200">
              <a:highlight>
                <a:srgbClr val="FFE599"/>
              </a:highlight>
            </a:endParaRPr>
          </a:p>
        </p:txBody>
      </p:sp>
      <p:sp>
        <p:nvSpPr>
          <p:cNvPr id="74" name="Google Shape;74;p16"/>
          <p:cNvSpPr txBox="1"/>
          <p:nvPr/>
        </p:nvSpPr>
        <p:spPr>
          <a:xfrm>
            <a:off x="6415650" y="1599000"/>
            <a:ext cx="2529600" cy="27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Facilitators exhibit higher early Coordination, Participation, Information Seeking, and Relational Climate </a:t>
            </a:r>
            <a:endParaRPr>
              <a:solidFill>
                <a:srgbClr val="FF0000"/>
              </a:solidFill>
            </a:endParaRPr>
          </a:p>
          <a:p>
            <a:pPr indent="0" lvl="0" marL="0" rtl="0" algn="l">
              <a:spcBef>
                <a:spcPts val="0"/>
              </a:spcBef>
              <a:spcAft>
                <a:spcPts val="0"/>
              </a:spcAft>
              <a:buNone/>
            </a:pPr>
            <a:r>
              <a:t/>
            </a:r>
            <a:endParaRPr>
              <a:solidFill>
                <a:srgbClr val="FF0000"/>
              </a:solidFill>
            </a:endParaRPr>
          </a:p>
          <a:p>
            <a:pPr indent="0" lvl="0" marL="0" rtl="0" algn="l">
              <a:spcBef>
                <a:spcPts val="0"/>
              </a:spcBef>
              <a:spcAft>
                <a:spcPts val="0"/>
              </a:spcAft>
              <a:buNone/>
            </a:pPr>
            <a:r>
              <a:rPr lang="en">
                <a:solidFill>
                  <a:srgbClr val="FF0000"/>
                </a:solidFill>
              </a:rPr>
              <a:t>Higher Idea Management and Knowledge Sharing are less characteristic of facilitators</a:t>
            </a:r>
            <a:endParaRPr>
              <a:solidFill>
                <a:srgbClr val="FF0000"/>
              </a:solidFill>
            </a:endParaRPr>
          </a:p>
        </p:txBody>
      </p:sp>
      <p:pic>
        <p:nvPicPr>
          <p:cNvPr id="75" name="Google Shape;75;p16"/>
          <p:cNvPicPr preferRelativeResize="0"/>
          <p:nvPr/>
        </p:nvPicPr>
        <p:blipFill>
          <a:blip r:embed="rId3">
            <a:alphaModFix/>
          </a:blip>
          <a:stretch>
            <a:fillRect/>
          </a:stretch>
        </p:blipFill>
        <p:spPr>
          <a:xfrm>
            <a:off x="134425" y="841175"/>
            <a:ext cx="6187050" cy="3461141"/>
          </a:xfrm>
          <a:prstGeom prst="rect">
            <a:avLst/>
          </a:prstGeom>
          <a:noFill/>
          <a:ln>
            <a:noFill/>
          </a:ln>
        </p:spPr>
      </p:pic>
      <p:sp>
        <p:nvSpPr>
          <p:cNvPr id="76" name="Google Shape;76;p16"/>
          <p:cNvSpPr txBox="1"/>
          <p:nvPr/>
        </p:nvSpPr>
        <p:spPr>
          <a:xfrm>
            <a:off x="1313250" y="4302325"/>
            <a:ext cx="65175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Features represent summed speaking time (minutes) per code annotation</a:t>
            </a:r>
            <a:endParaRPr>
              <a:solidFill>
                <a:srgbClr val="E6913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0" y="0"/>
            <a:ext cx="9259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200">
                <a:highlight>
                  <a:srgbClr val="FFE599"/>
                </a:highlight>
              </a:rPr>
              <a:t>Meeting Behaviors in the </a:t>
            </a:r>
            <a:r>
              <a:rPr b="1" lang="en" sz="2200">
                <a:solidFill>
                  <a:srgbClr val="FF0000"/>
                </a:solidFill>
                <a:highlight>
                  <a:srgbClr val="FFE599"/>
                </a:highlight>
              </a:rPr>
              <a:t>First ⅓</a:t>
            </a:r>
            <a:r>
              <a:rPr b="1" lang="en" sz="2200">
                <a:solidFill>
                  <a:srgbClr val="FF0000"/>
                </a:solidFill>
                <a:highlight>
                  <a:srgbClr val="FFE599"/>
                </a:highlight>
              </a:rPr>
              <a:t> of a Meeting</a:t>
            </a:r>
            <a:r>
              <a:rPr b="1" lang="en" sz="2200">
                <a:highlight>
                  <a:srgbClr val="FFE599"/>
                </a:highlight>
              </a:rPr>
              <a:t> Differentiate Team Formation</a:t>
            </a:r>
            <a:endParaRPr b="1" sz="2200">
              <a:highlight>
                <a:srgbClr val="FFE599"/>
              </a:highlight>
            </a:endParaRPr>
          </a:p>
        </p:txBody>
      </p:sp>
      <p:sp>
        <p:nvSpPr>
          <p:cNvPr id="82" name="Google Shape;82;p17"/>
          <p:cNvSpPr txBox="1"/>
          <p:nvPr/>
        </p:nvSpPr>
        <p:spPr>
          <a:xfrm>
            <a:off x="5811650" y="1456294"/>
            <a:ext cx="2929500" cy="19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Higher early Participation Dynamics and Coordination &amp; Decision Practices are associated with lower </a:t>
            </a:r>
            <a:r>
              <a:rPr lang="en">
                <a:solidFill>
                  <a:srgbClr val="FF0000"/>
                </a:solidFill>
              </a:rPr>
              <a:t>odds of team formation</a:t>
            </a:r>
            <a:endParaRPr>
              <a:solidFill>
                <a:srgbClr val="FF0000"/>
              </a:solidFill>
            </a:endParaRPr>
          </a:p>
          <a:p>
            <a:pPr indent="0" lvl="0" marL="0" rtl="0" algn="l">
              <a:spcBef>
                <a:spcPts val="0"/>
              </a:spcBef>
              <a:spcAft>
                <a:spcPts val="0"/>
              </a:spcAft>
              <a:buNone/>
            </a:pPr>
            <a:r>
              <a:t/>
            </a:r>
            <a:endParaRPr>
              <a:solidFill>
                <a:srgbClr val="FF0000"/>
              </a:solidFill>
            </a:endParaRPr>
          </a:p>
          <a:p>
            <a:pPr indent="0" lvl="0" marL="0" rtl="0" algn="l">
              <a:spcBef>
                <a:spcPts val="0"/>
              </a:spcBef>
              <a:spcAft>
                <a:spcPts val="0"/>
              </a:spcAft>
              <a:buNone/>
            </a:pPr>
            <a:r>
              <a:rPr lang="en">
                <a:solidFill>
                  <a:srgbClr val="FF0000"/>
                </a:solidFill>
              </a:rPr>
              <a:t>Other early behaviors show weaker or inconsistent associations</a:t>
            </a:r>
            <a:endParaRPr>
              <a:solidFill>
                <a:srgbClr val="FF0000"/>
              </a:solidFill>
            </a:endParaRPr>
          </a:p>
        </p:txBody>
      </p:sp>
      <p:pic>
        <p:nvPicPr>
          <p:cNvPr id="83" name="Google Shape;83;p17" title="36a53981-037b-4db3-934b-9eab02687006.png"/>
          <p:cNvPicPr preferRelativeResize="0"/>
          <p:nvPr/>
        </p:nvPicPr>
        <p:blipFill>
          <a:blip r:embed="rId3">
            <a:alphaModFix/>
          </a:blip>
          <a:stretch>
            <a:fillRect/>
          </a:stretch>
        </p:blipFill>
        <p:spPr>
          <a:xfrm>
            <a:off x="152400" y="525250"/>
            <a:ext cx="5659251" cy="3370373"/>
          </a:xfrm>
          <a:prstGeom prst="rect">
            <a:avLst/>
          </a:prstGeom>
          <a:noFill/>
          <a:ln>
            <a:noFill/>
          </a:ln>
        </p:spPr>
      </p:pic>
      <p:sp>
        <p:nvSpPr>
          <p:cNvPr id="84" name="Google Shape;84;p17"/>
          <p:cNvSpPr txBox="1"/>
          <p:nvPr/>
        </p:nvSpPr>
        <p:spPr>
          <a:xfrm>
            <a:off x="494375" y="3996900"/>
            <a:ext cx="7973100" cy="15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In General:</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team formation (more people on a team) </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team funding success (more balanced)</a:t>
            </a:r>
            <a:endParaRPr sz="1200">
              <a:solidFill>
                <a:schemeClr val="dk2"/>
              </a:solidFill>
            </a:endParaRPr>
          </a:p>
          <a:p>
            <a:pPr indent="0" lvl="0" marL="0" rtl="0" algn="l">
              <a:spcBef>
                <a:spcPts val="0"/>
              </a:spcBef>
              <a:spcAft>
                <a:spcPts val="0"/>
              </a:spcAft>
              <a:buNone/>
            </a:pPr>
            <a:r>
              <a:rPr lang="en" sz="1200">
                <a:solidFill>
                  <a:schemeClr val="dk2"/>
                </a:solidFill>
              </a:rPr>
              <a:t>successful/</a:t>
            </a:r>
            <a:r>
              <a:rPr lang="en" sz="1200">
                <a:solidFill>
                  <a:schemeClr val="dk2"/>
                </a:solidFill>
              </a:rPr>
              <a:t>unsuccessful</a:t>
            </a:r>
            <a:r>
              <a:rPr lang="en" sz="1200">
                <a:solidFill>
                  <a:schemeClr val="dk2"/>
                </a:solidFill>
              </a:rPr>
              <a:t> proposals that have significant differences (5% sig differences)</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what distinguishes the most successful teams from unsuccessful ones (and how big is that effect)</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Keep this graph, if i go back to check (count/time) it would be nice to have (see EV graph photo)</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E.g. you WANT TO SEE (for e.g. 30% </a:t>
            </a:r>
            <a:r>
              <a:rPr lang="en" sz="1200">
                <a:solidFill>
                  <a:schemeClr val="dk2"/>
                </a:solidFill>
              </a:rPr>
              <a:t>difference) - you want it to be visual lol</a:t>
            </a:r>
            <a:endParaRPr sz="1200">
              <a:solidFill>
                <a:schemeClr val="dk2"/>
              </a:solidFill>
            </a:endParaRPr>
          </a:p>
        </p:txBody>
      </p:sp>
      <p:sp>
        <p:nvSpPr>
          <p:cNvPr id="85" name="Google Shape;85;p17"/>
          <p:cNvSpPr txBox="1"/>
          <p:nvPr/>
        </p:nvSpPr>
        <p:spPr>
          <a:xfrm>
            <a:off x="5707800" y="698150"/>
            <a:ext cx="3694800" cy="6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summation of time per annotation code @ individual level</a:t>
            </a:r>
            <a:endParaRPr>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200">
                <a:solidFill>
                  <a:srgbClr val="FF0000"/>
                </a:solidFill>
                <a:highlight>
                  <a:srgbClr val="FFE599"/>
                </a:highlight>
              </a:rPr>
              <a:t>First ⅓</a:t>
            </a:r>
            <a:r>
              <a:rPr b="1" lang="en" sz="2200">
                <a:solidFill>
                  <a:srgbClr val="FF0000"/>
                </a:solidFill>
                <a:highlight>
                  <a:srgbClr val="FFE599"/>
                </a:highlight>
              </a:rPr>
              <a:t> of a Meeting</a:t>
            </a:r>
            <a:r>
              <a:rPr b="1" lang="en" sz="2200">
                <a:highlight>
                  <a:srgbClr val="FFE599"/>
                </a:highlight>
              </a:rPr>
              <a:t> </a:t>
            </a:r>
            <a:r>
              <a:rPr b="1" lang="en" sz="2200">
                <a:highlight>
                  <a:srgbClr val="FFE599"/>
                </a:highlight>
              </a:rPr>
              <a:t>Behaviors and Funding Outcomes</a:t>
            </a:r>
            <a:endParaRPr b="1" sz="2200">
              <a:highlight>
                <a:srgbClr val="FFE599"/>
              </a:highlight>
            </a:endParaRPr>
          </a:p>
        </p:txBody>
      </p:sp>
      <p:sp>
        <p:nvSpPr>
          <p:cNvPr id="91" name="Google Shape;91;p18"/>
          <p:cNvSpPr txBox="1"/>
          <p:nvPr/>
        </p:nvSpPr>
        <p:spPr>
          <a:xfrm>
            <a:off x="5903525" y="1724400"/>
            <a:ext cx="2903100" cy="16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At the individual level, only Idea Management shows a reliable association with funded outcomes</a:t>
            </a:r>
            <a:endParaRPr>
              <a:solidFill>
                <a:srgbClr val="FF0000"/>
              </a:solidFill>
            </a:endParaRPr>
          </a:p>
          <a:p>
            <a:pPr indent="0" lvl="0" marL="0" rtl="0" algn="l">
              <a:spcBef>
                <a:spcPts val="0"/>
              </a:spcBef>
              <a:spcAft>
                <a:spcPts val="0"/>
              </a:spcAft>
              <a:buNone/>
            </a:pPr>
            <a:r>
              <a:t/>
            </a:r>
            <a:endParaRPr>
              <a:solidFill>
                <a:srgbClr val="FF0000"/>
              </a:solidFill>
            </a:endParaRPr>
          </a:p>
          <a:p>
            <a:pPr indent="0" lvl="0" marL="0" rtl="0" algn="l">
              <a:spcBef>
                <a:spcPts val="0"/>
              </a:spcBef>
              <a:spcAft>
                <a:spcPts val="0"/>
              </a:spcAft>
              <a:buNone/>
            </a:pPr>
            <a:r>
              <a:rPr lang="en">
                <a:solidFill>
                  <a:srgbClr val="FF0000"/>
                </a:solidFill>
              </a:rPr>
              <a:t>Other early behaviors show no reliable early association with funding outcomes</a:t>
            </a:r>
            <a:endParaRPr>
              <a:solidFill>
                <a:srgbClr val="FF0000"/>
              </a:solidFill>
            </a:endParaRPr>
          </a:p>
        </p:txBody>
      </p:sp>
      <p:pic>
        <p:nvPicPr>
          <p:cNvPr id="92" name="Google Shape;92;p18" title="b7ba5769-3abb-4d57-81b1-bae1961f4ee4.png"/>
          <p:cNvPicPr preferRelativeResize="0"/>
          <p:nvPr/>
        </p:nvPicPr>
        <p:blipFill>
          <a:blip r:embed="rId3">
            <a:alphaModFix/>
          </a:blip>
          <a:stretch>
            <a:fillRect/>
          </a:stretch>
        </p:blipFill>
        <p:spPr>
          <a:xfrm>
            <a:off x="152400" y="1184800"/>
            <a:ext cx="5598724" cy="27738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157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0000"/>
                </a:solidFill>
                <a:highlight>
                  <a:srgbClr val="FFE599"/>
                </a:highlight>
              </a:rPr>
              <a:t>First ⅓</a:t>
            </a:r>
            <a:r>
              <a:rPr b="1" lang="en">
                <a:solidFill>
                  <a:srgbClr val="FF0000"/>
                </a:solidFill>
                <a:highlight>
                  <a:srgbClr val="FFE599"/>
                </a:highlight>
              </a:rPr>
              <a:t> of a Meeting</a:t>
            </a:r>
            <a:r>
              <a:rPr b="1" lang="en">
                <a:highlight>
                  <a:srgbClr val="FFE599"/>
                </a:highlight>
              </a:rPr>
              <a:t> Behavioral Differences Between Successful and Unsuccessful Proposals</a:t>
            </a:r>
            <a:endParaRPr b="1">
              <a:highlight>
                <a:srgbClr val="FFE599"/>
              </a:highlight>
            </a:endParaRPr>
          </a:p>
        </p:txBody>
      </p:sp>
      <p:pic>
        <p:nvPicPr>
          <p:cNvPr id="98" name="Google Shape;98;p19" title="26c45e8e-ee1c-4c63-9e08-a16758392c74.png"/>
          <p:cNvPicPr preferRelativeResize="0"/>
          <p:nvPr/>
        </p:nvPicPr>
        <p:blipFill rotWithShape="1">
          <a:blip r:embed="rId3">
            <a:alphaModFix/>
          </a:blip>
          <a:srcRect b="0" l="0" r="0" t="0"/>
          <a:stretch/>
        </p:blipFill>
        <p:spPr>
          <a:xfrm>
            <a:off x="311700" y="1351475"/>
            <a:ext cx="5886450" cy="3415325"/>
          </a:xfrm>
          <a:prstGeom prst="rect">
            <a:avLst/>
          </a:prstGeom>
          <a:noFill/>
          <a:ln>
            <a:noFill/>
          </a:ln>
        </p:spPr>
      </p:pic>
      <p:sp>
        <p:nvSpPr>
          <p:cNvPr id="99" name="Google Shape;99;p19"/>
          <p:cNvSpPr txBox="1"/>
          <p:nvPr/>
        </p:nvSpPr>
        <p:spPr>
          <a:xfrm>
            <a:off x="6239775" y="1639025"/>
            <a:ext cx="2592600" cy="27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Unsuccessful proposals area characterized by higher levels of early Evaluation, Integration, and Coordination &amp; Decision Practices</a:t>
            </a:r>
            <a:endParaRPr>
              <a:solidFill>
                <a:srgbClr val="FF0000"/>
              </a:solidFill>
            </a:endParaRPr>
          </a:p>
          <a:p>
            <a:pPr indent="0" lvl="0" marL="0" rtl="0" algn="l">
              <a:spcBef>
                <a:spcPts val="0"/>
              </a:spcBef>
              <a:spcAft>
                <a:spcPts val="0"/>
              </a:spcAft>
              <a:buNone/>
            </a:pPr>
            <a:r>
              <a:t/>
            </a:r>
            <a:endParaRPr>
              <a:solidFill>
                <a:srgbClr val="FF0000"/>
              </a:solidFill>
            </a:endParaRPr>
          </a:p>
          <a:p>
            <a:pPr indent="0" lvl="0" marL="0" rtl="0" algn="l">
              <a:spcBef>
                <a:spcPts val="0"/>
              </a:spcBef>
              <a:spcAft>
                <a:spcPts val="0"/>
              </a:spcAft>
              <a:buNone/>
            </a:pPr>
            <a:r>
              <a:rPr lang="en">
                <a:solidFill>
                  <a:srgbClr val="FF0000"/>
                </a:solidFill>
              </a:rPr>
              <a:t>The largest differences appear in Evaluation, Integration Practices (≅20-30%)</a:t>
            </a:r>
            <a:endParaRPr>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highlight>
                  <a:srgbClr val="FFE599"/>
                </a:highlight>
              </a:rPr>
              <a:t>What Signals from the </a:t>
            </a:r>
            <a:r>
              <a:rPr b="1" lang="en">
                <a:solidFill>
                  <a:srgbClr val="FF0000"/>
                </a:solidFill>
                <a:highlight>
                  <a:srgbClr val="FFE599"/>
                </a:highlight>
              </a:rPr>
              <a:t>First ⅓ of Meetings</a:t>
            </a:r>
            <a:r>
              <a:rPr b="1" lang="en">
                <a:highlight>
                  <a:srgbClr val="FFE599"/>
                </a:highlight>
              </a:rPr>
              <a:t> Reveal</a:t>
            </a:r>
            <a:endParaRPr b="1">
              <a:highlight>
                <a:srgbClr val="FFE599"/>
              </a:highlight>
            </a:endParaRPr>
          </a:p>
        </p:txBody>
      </p:sp>
      <p:sp>
        <p:nvSpPr>
          <p:cNvPr id="105" name="Google Shape;10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Early meeting behaviors already differentiate roles, team formation, and funding outcomes </a:t>
            </a:r>
            <a:endParaRPr/>
          </a:p>
          <a:p>
            <a:pPr indent="-342900" lvl="0" marL="457200" rtl="0" algn="l">
              <a:spcBef>
                <a:spcPts val="0"/>
              </a:spcBef>
              <a:spcAft>
                <a:spcPts val="0"/>
              </a:spcAft>
              <a:buSzPts val="1800"/>
              <a:buAutoNum type="arabicPeriod"/>
            </a:pPr>
            <a:r>
              <a:rPr lang="en"/>
              <a:t>The strongest early signals </a:t>
            </a:r>
            <a:r>
              <a:rPr lang="en"/>
              <a:t>reflect</a:t>
            </a:r>
            <a:r>
              <a:rPr lang="en"/>
              <a:t> idea-focused behaviors (Knowledge Sharing, </a:t>
            </a:r>
            <a:r>
              <a:rPr lang="en"/>
              <a:t>Information Seeking, etc.) not the raw participation volume</a:t>
            </a:r>
            <a:endParaRPr/>
          </a:p>
          <a:p>
            <a:pPr indent="-342900" lvl="0" marL="457200" rtl="0" algn="l">
              <a:spcBef>
                <a:spcPts val="0"/>
              </a:spcBef>
              <a:spcAft>
                <a:spcPts val="0"/>
              </a:spcAft>
              <a:buSzPts val="1800"/>
              <a:buAutoNum type="arabicPeriod"/>
            </a:pPr>
            <a:r>
              <a:rPr lang="en"/>
              <a:t>Temporal positioning of behaviors suggests structured idea flow early in meetings, motivating a linkography-inspired interpretation </a:t>
            </a:r>
            <a:endParaRPr/>
          </a:p>
          <a:p>
            <a:pPr indent="-317500" lvl="1" marL="914400" rtl="0" algn="l">
              <a:spcBef>
                <a:spcPts val="0"/>
              </a:spcBef>
              <a:spcAft>
                <a:spcPts val="0"/>
              </a:spcAft>
              <a:buSzPts val="1400"/>
              <a:buAutoNum type="alphaLcPeriod"/>
            </a:pPr>
            <a:r>
              <a:rPr lang="en"/>
              <a:t>(implemented in subsequent slides)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400">
                <a:highlight>
                  <a:srgbClr val="A4C2F4"/>
                </a:highlight>
              </a:rPr>
              <a:t>Linkography as a Model of Idea Flow</a:t>
            </a:r>
            <a:endParaRPr b="1" sz="2400">
              <a:highlight>
                <a:srgbClr val="A4C2F4"/>
              </a:highlight>
            </a:endParaRPr>
          </a:p>
          <a:p>
            <a:pPr indent="0" lvl="0" marL="0" rtl="0" algn="l">
              <a:spcBef>
                <a:spcPts val="0"/>
              </a:spcBef>
              <a:spcAft>
                <a:spcPts val="0"/>
              </a:spcAft>
              <a:buNone/>
            </a:pPr>
            <a:r>
              <a:rPr b="1" lang="en" sz="2100">
                <a:highlight>
                  <a:srgbClr val="A4C2F4"/>
                </a:highlight>
              </a:rPr>
              <a:t>Adapted from: Linkography: Unfolding the Design Process - Gabriela Goldschmidt</a:t>
            </a:r>
            <a:endParaRPr b="1" sz="2100">
              <a:highlight>
                <a:srgbClr val="A4C2F4"/>
              </a:highlight>
            </a:endParaRPr>
          </a:p>
        </p:txBody>
      </p:sp>
      <p:sp>
        <p:nvSpPr>
          <p:cNvPr id="111" name="Google Shape;11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Linkography represents </a:t>
            </a:r>
            <a:r>
              <a:rPr lang="en">
                <a:highlight>
                  <a:srgbClr val="FFFF00"/>
                </a:highlight>
              </a:rPr>
              <a:t>how conceptual contributions connect, build, and converge over time, rather than treating </a:t>
            </a:r>
            <a:r>
              <a:rPr lang="en">
                <a:highlight>
                  <a:srgbClr val="FFFF00"/>
                </a:highlight>
              </a:rPr>
              <a:t>utterances</a:t>
            </a:r>
            <a:r>
              <a:rPr lang="en">
                <a:highlight>
                  <a:srgbClr val="FFFF00"/>
                </a:highlight>
              </a:rPr>
              <a:t> as independent events</a:t>
            </a:r>
            <a:endParaRPr>
              <a:highlight>
                <a:srgbClr val="FFFF00"/>
              </a:highlight>
            </a:endParaRPr>
          </a:p>
          <a:p>
            <a:pPr indent="-342900" lvl="0" marL="457200" rtl="0" algn="l">
              <a:spcBef>
                <a:spcPts val="0"/>
              </a:spcBef>
              <a:spcAft>
                <a:spcPts val="0"/>
              </a:spcAft>
              <a:buSzPts val="1800"/>
              <a:buChar char="-"/>
            </a:pPr>
            <a:r>
              <a:rPr lang="en"/>
              <a:t>Originally developed to study design reasoning, capturing moments of expansion, refinement, and synthesis</a:t>
            </a:r>
            <a:endParaRPr/>
          </a:p>
          <a:p>
            <a:pPr indent="-342900" lvl="0" marL="457200" rtl="0" algn="l">
              <a:spcBef>
                <a:spcPts val="0"/>
              </a:spcBef>
              <a:spcAft>
                <a:spcPts val="0"/>
              </a:spcAft>
              <a:buSzPts val="1800"/>
              <a:buChar char="-"/>
            </a:pPr>
            <a:r>
              <a:rPr lang="en"/>
              <a:t>Focuses on structural relationships between ideas, not speaking volume or turn-based conversations</a:t>
            </a:r>
            <a:endParaRPr/>
          </a:p>
          <a:p>
            <a:pPr indent="0" lvl="0" marL="0" rtl="0" algn="l">
              <a:spcBef>
                <a:spcPts val="1200"/>
              </a:spcBef>
              <a:spcAft>
                <a:spcPts val="1200"/>
              </a:spcAft>
              <a:buNone/>
            </a:pPr>
            <a:r>
              <a:rPr lang="en">
                <a:solidFill>
                  <a:srgbClr val="FF0000"/>
                </a:solidFill>
              </a:rPr>
              <a:t>Why this matters: Early temporal patterns suggested structured idea flow that requires modeling relationships between </a:t>
            </a:r>
            <a:r>
              <a:rPr lang="en">
                <a:solidFill>
                  <a:srgbClr val="FF0000"/>
                </a:solidFill>
              </a:rPr>
              <a:t>ideas</a:t>
            </a:r>
            <a:r>
              <a:rPr lang="en">
                <a:solidFill>
                  <a:srgbClr val="FF0000"/>
                </a:solidFill>
              </a:rPr>
              <a:t>, not just behavioral-segmented counts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200">
                <a:highlight>
                  <a:srgbClr val="A4C2F4"/>
                </a:highlight>
              </a:rPr>
              <a:t>Mapping Linkography Concepts to Behavioral Annotations</a:t>
            </a:r>
            <a:endParaRPr b="1" sz="2200">
              <a:highlight>
                <a:srgbClr val="A4C2F4"/>
              </a:highlight>
            </a:endParaRPr>
          </a:p>
        </p:txBody>
      </p:sp>
      <p:sp>
        <p:nvSpPr>
          <p:cNvPr id="117" name="Google Shape;117;p22"/>
          <p:cNvSpPr txBox="1"/>
          <p:nvPr>
            <p:ph idx="1" type="body"/>
          </p:nvPr>
        </p:nvSpPr>
        <p:spPr>
          <a:xfrm>
            <a:off x="0" y="1055900"/>
            <a:ext cx="2990700" cy="34164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We map core linkography concepts (e.g., forelinks, backlinks, critical moves) to existing SCIALOG behavioral </a:t>
            </a:r>
            <a:r>
              <a:rPr lang="en"/>
              <a:t>annotations</a:t>
            </a:r>
            <a:endParaRPr/>
          </a:p>
          <a:p>
            <a:pPr indent="-334327" lvl="0" marL="457200" rtl="0" algn="l">
              <a:spcBef>
                <a:spcPts val="0"/>
              </a:spcBef>
              <a:spcAft>
                <a:spcPts val="0"/>
              </a:spcAft>
              <a:buSzPct val="100000"/>
              <a:buChar char="-"/>
            </a:pPr>
            <a:r>
              <a:rPr lang="en"/>
              <a:t>This enables an approximate representation of idea flow</a:t>
            </a:r>
            <a:endParaRPr/>
          </a:p>
          <a:p>
            <a:pPr indent="0" lvl="0" marL="0" rtl="0" algn="l">
              <a:spcBef>
                <a:spcPts val="1200"/>
              </a:spcBef>
              <a:spcAft>
                <a:spcPts val="1200"/>
              </a:spcAft>
              <a:buNone/>
            </a:pPr>
            <a:r>
              <a:t/>
            </a:r>
            <a:endParaRPr/>
          </a:p>
        </p:txBody>
      </p:sp>
      <p:graphicFrame>
        <p:nvGraphicFramePr>
          <p:cNvPr id="118" name="Google Shape;118;p22"/>
          <p:cNvGraphicFramePr/>
          <p:nvPr/>
        </p:nvGraphicFramePr>
        <p:xfrm>
          <a:off x="3263775" y="902125"/>
          <a:ext cx="3000000" cy="3000000"/>
        </p:xfrm>
        <a:graphic>
          <a:graphicData uri="http://schemas.openxmlformats.org/drawingml/2006/table">
            <a:tbl>
              <a:tblPr>
                <a:noFill/>
                <a:tableStyleId>{31DAE641-C838-4F07-ADC8-504DE61C0255}</a:tableStyleId>
              </a:tblPr>
              <a:tblGrid>
                <a:gridCol w="1455575"/>
                <a:gridCol w="1455575"/>
                <a:gridCol w="1455575"/>
                <a:gridCol w="1455575"/>
              </a:tblGrid>
              <a:tr h="576525">
                <a:tc>
                  <a:txBody>
                    <a:bodyPr/>
                    <a:lstStyle/>
                    <a:p>
                      <a:pPr indent="0" lvl="0" marL="0" rtl="0" algn="l">
                        <a:spcBef>
                          <a:spcPts val="0"/>
                        </a:spcBef>
                        <a:spcAft>
                          <a:spcPts val="0"/>
                        </a:spcAft>
                        <a:buNone/>
                      </a:pPr>
                      <a:r>
                        <a:rPr lang="en" sz="1100"/>
                        <a:t>Linkography concept</a:t>
                      </a:r>
                      <a:endParaRPr sz="1100"/>
                    </a:p>
                  </a:txBody>
                  <a:tcPr marT="91425" marB="91425" marR="91425" marL="91425">
                    <a:solidFill>
                      <a:srgbClr val="D9D9D9"/>
                    </a:solidFill>
                  </a:tcPr>
                </a:tc>
                <a:tc>
                  <a:txBody>
                    <a:bodyPr/>
                    <a:lstStyle/>
                    <a:p>
                      <a:pPr indent="0" lvl="0" marL="0" rtl="0" algn="l">
                        <a:spcBef>
                          <a:spcPts val="0"/>
                        </a:spcBef>
                        <a:spcAft>
                          <a:spcPts val="0"/>
                        </a:spcAft>
                        <a:buNone/>
                      </a:pPr>
                      <a:r>
                        <a:rPr lang="en" sz="1100"/>
                        <a:t>STM annotation(s)</a:t>
                      </a:r>
                      <a:endParaRPr sz="1100"/>
                    </a:p>
                  </a:txBody>
                  <a:tcPr marT="91425" marB="91425" marR="91425" marL="91425">
                    <a:solidFill>
                      <a:srgbClr val="D9D9D9"/>
                    </a:solidFill>
                  </a:tcPr>
                </a:tc>
                <a:tc>
                  <a:txBody>
                    <a:bodyPr/>
                    <a:lstStyle/>
                    <a:p>
                      <a:pPr indent="0" lvl="0" marL="0" rtl="0" algn="l">
                        <a:spcBef>
                          <a:spcPts val="0"/>
                        </a:spcBef>
                        <a:spcAft>
                          <a:spcPts val="0"/>
                        </a:spcAft>
                        <a:buNone/>
                      </a:pPr>
                      <a:r>
                        <a:rPr lang="en" sz="1100"/>
                        <a:t>How is it detected</a:t>
                      </a:r>
                      <a:endParaRPr sz="1100"/>
                    </a:p>
                  </a:txBody>
                  <a:tcPr marT="91425" marB="91425" marR="91425" marL="91425">
                    <a:solidFill>
                      <a:srgbClr val="D9D9D9"/>
                    </a:solidFill>
                  </a:tcPr>
                </a:tc>
                <a:tc>
                  <a:txBody>
                    <a:bodyPr/>
                    <a:lstStyle/>
                    <a:p>
                      <a:pPr indent="0" lvl="0" marL="0" rtl="0" algn="l">
                        <a:spcBef>
                          <a:spcPts val="0"/>
                        </a:spcBef>
                        <a:spcAft>
                          <a:spcPts val="0"/>
                        </a:spcAft>
                        <a:buNone/>
                      </a:pPr>
                      <a:r>
                        <a:rPr lang="en" sz="1100"/>
                        <a:t>Why it matters</a:t>
                      </a:r>
                      <a:endParaRPr sz="1100"/>
                    </a:p>
                  </a:txBody>
                  <a:tcPr marT="91425" marB="91425" marR="91425" marL="91425">
                    <a:solidFill>
                      <a:srgbClr val="D9D9D9"/>
                    </a:solidFill>
                  </a:tcPr>
                </a:tc>
              </a:tr>
              <a:tr h="576525">
                <a:tc>
                  <a:txBody>
                    <a:bodyPr/>
                    <a:lstStyle/>
                    <a:p>
                      <a:pPr indent="0" lvl="0" marL="0" rtl="0" algn="l">
                        <a:spcBef>
                          <a:spcPts val="0"/>
                        </a:spcBef>
                        <a:spcAft>
                          <a:spcPts val="0"/>
                        </a:spcAft>
                        <a:buNone/>
                      </a:pPr>
                      <a:r>
                        <a:rPr lang="en" sz="800"/>
                        <a:t>Forelink</a:t>
                      </a:r>
                      <a:endParaRPr sz="800"/>
                    </a:p>
                  </a:txBody>
                  <a:tcPr marT="91425" marB="91425" marR="91425" marL="91425"/>
                </a:tc>
                <a:tc>
                  <a:txBody>
                    <a:bodyPr/>
                    <a:lstStyle/>
                    <a:p>
                      <a:pPr indent="0" lvl="0" marL="0" rtl="0" algn="l">
                        <a:spcBef>
                          <a:spcPts val="0"/>
                        </a:spcBef>
                        <a:spcAft>
                          <a:spcPts val="0"/>
                        </a:spcAft>
                        <a:buNone/>
                      </a:pPr>
                      <a:r>
                        <a:rPr lang="en" sz="800"/>
                        <a:t>Knowledge Sharing, Idea Management</a:t>
                      </a:r>
                      <a:endParaRPr sz="800"/>
                    </a:p>
                  </a:txBody>
                  <a:tcPr marT="91425" marB="91425" marR="91425" marL="91425"/>
                </a:tc>
                <a:tc>
                  <a:txBody>
                    <a:bodyPr/>
                    <a:lstStyle/>
                    <a:p>
                      <a:pPr indent="0" lvl="0" marL="0" rtl="0" algn="l">
                        <a:spcBef>
                          <a:spcPts val="0"/>
                        </a:spcBef>
                        <a:spcAft>
                          <a:spcPts val="0"/>
                        </a:spcAft>
                        <a:buNone/>
                      </a:pPr>
                      <a:r>
                        <a:rPr lang="en" sz="800"/>
                        <a:t>Consecutive ideation segments</a:t>
                      </a:r>
                      <a:endParaRPr sz="800"/>
                    </a:p>
                  </a:txBody>
                  <a:tcPr marT="91425" marB="91425" marR="91425" marL="91425"/>
                </a:tc>
                <a:tc>
                  <a:txBody>
                    <a:bodyPr/>
                    <a:lstStyle/>
                    <a:p>
                      <a:pPr indent="0" lvl="0" marL="0" rtl="0" algn="l">
                        <a:spcBef>
                          <a:spcPts val="0"/>
                        </a:spcBef>
                        <a:spcAft>
                          <a:spcPts val="0"/>
                        </a:spcAft>
                        <a:buNone/>
                      </a:pPr>
                      <a:r>
                        <a:rPr lang="en" sz="800"/>
                        <a:t>Progressive idea development</a:t>
                      </a:r>
                      <a:endParaRPr sz="800"/>
                    </a:p>
                  </a:txBody>
                  <a:tcPr marT="91425" marB="91425" marR="91425" marL="91425"/>
                </a:tc>
              </a:tr>
              <a:tr h="576525">
                <a:tc>
                  <a:txBody>
                    <a:bodyPr/>
                    <a:lstStyle/>
                    <a:p>
                      <a:pPr indent="0" lvl="0" marL="0" rtl="0" algn="l">
                        <a:spcBef>
                          <a:spcPts val="0"/>
                        </a:spcBef>
                        <a:spcAft>
                          <a:spcPts val="0"/>
                        </a:spcAft>
                        <a:buNone/>
                      </a:pPr>
                      <a:r>
                        <a:rPr lang="en" sz="800"/>
                        <a:t>Backlink</a:t>
                      </a:r>
                      <a:endParaRPr sz="800"/>
                    </a:p>
                  </a:txBody>
                  <a:tcPr marT="91425" marB="91425" marR="91425" marL="91425"/>
                </a:tc>
                <a:tc>
                  <a:txBody>
                    <a:bodyPr/>
                    <a:lstStyle/>
                    <a:p>
                      <a:pPr indent="0" lvl="0" marL="0" rtl="0" algn="l">
                        <a:spcBef>
                          <a:spcPts val="0"/>
                        </a:spcBef>
                        <a:spcAft>
                          <a:spcPts val="0"/>
                        </a:spcAft>
                        <a:buNone/>
                      </a:pPr>
                      <a:r>
                        <a:rPr lang="en" sz="800"/>
                        <a:t>Evaluation Practices</a:t>
                      </a:r>
                      <a:endParaRPr sz="800"/>
                    </a:p>
                  </a:txBody>
                  <a:tcPr marT="91425" marB="91425" marR="91425" marL="91425"/>
                </a:tc>
                <a:tc>
                  <a:txBody>
                    <a:bodyPr/>
                    <a:lstStyle/>
                    <a:p>
                      <a:pPr indent="0" lvl="0" marL="0" rtl="0" algn="l">
                        <a:spcBef>
                          <a:spcPts val="0"/>
                        </a:spcBef>
                        <a:spcAft>
                          <a:spcPts val="0"/>
                        </a:spcAft>
                        <a:buNone/>
                      </a:pPr>
                      <a:r>
                        <a:rPr lang="en" sz="800"/>
                        <a:t>Explicit reference to prior statement</a:t>
                      </a:r>
                      <a:endParaRPr sz="800"/>
                    </a:p>
                  </a:txBody>
                  <a:tcPr marT="91425" marB="91425" marR="91425" marL="91425"/>
                </a:tc>
                <a:tc>
                  <a:txBody>
                    <a:bodyPr/>
                    <a:lstStyle/>
                    <a:p>
                      <a:pPr indent="0" lvl="0" marL="0" rtl="0" algn="l">
                        <a:spcBef>
                          <a:spcPts val="0"/>
                        </a:spcBef>
                        <a:spcAft>
                          <a:spcPts val="0"/>
                        </a:spcAft>
                        <a:buNone/>
                      </a:pPr>
                      <a:r>
                        <a:rPr lang="en" sz="800"/>
                        <a:t>References to prior ideas</a:t>
                      </a:r>
                      <a:endParaRPr sz="800"/>
                    </a:p>
                  </a:txBody>
                  <a:tcPr marT="91425" marB="91425" marR="91425" marL="91425"/>
                </a:tc>
              </a:tr>
              <a:tr h="576525">
                <a:tc>
                  <a:txBody>
                    <a:bodyPr/>
                    <a:lstStyle/>
                    <a:p>
                      <a:pPr indent="0" lvl="0" marL="0" rtl="0" algn="l">
                        <a:spcBef>
                          <a:spcPts val="0"/>
                        </a:spcBef>
                        <a:spcAft>
                          <a:spcPts val="0"/>
                        </a:spcAft>
                        <a:buNone/>
                      </a:pPr>
                      <a:r>
                        <a:rPr lang="en" sz="800"/>
                        <a:t>Critical Move</a:t>
                      </a:r>
                      <a:endParaRPr sz="800"/>
                    </a:p>
                  </a:txBody>
                  <a:tcPr marT="91425" marB="91425" marR="91425" marL="91425"/>
                </a:tc>
                <a:tc>
                  <a:txBody>
                    <a:bodyPr/>
                    <a:lstStyle/>
                    <a:p>
                      <a:pPr indent="0" lvl="0" marL="0" rtl="0" algn="l">
                        <a:spcBef>
                          <a:spcPts val="0"/>
                        </a:spcBef>
                        <a:spcAft>
                          <a:spcPts val="0"/>
                        </a:spcAft>
                        <a:buNone/>
                      </a:pPr>
                      <a:r>
                        <a:rPr lang="en" sz="800"/>
                        <a:t>Integration Practices, Coordination &amp; Decision</a:t>
                      </a:r>
                      <a:endParaRPr sz="800"/>
                    </a:p>
                  </a:txBody>
                  <a:tcPr marT="91425" marB="91425" marR="91425" marL="91425"/>
                </a:tc>
                <a:tc>
                  <a:txBody>
                    <a:bodyPr/>
                    <a:lstStyle/>
                    <a:p>
                      <a:pPr indent="0" lvl="0" marL="0" rtl="0" algn="l">
                        <a:spcBef>
                          <a:spcPts val="0"/>
                        </a:spcBef>
                        <a:spcAft>
                          <a:spcPts val="0"/>
                        </a:spcAft>
                        <a:buNone/>
                      </a:pPr>
                      <a:r>
                        <a:rPr lang="en" sz="800"/>
                        <a:t>Moments of idea integration</a:t>
                      </a:r>
                      <a:endParaRPr sz="800"/>
                    </a:p>
                  </a:txBody>
                  <a:tcPr marT="91425" marB="91425" marR="91425" marL="91425"/>
                </a:tc>
                <a:tc>
                  <a:txBody>
                    <a:bodyPr/>
                    <a:lstStyle/>
                    <a:p>
                      <a:pPr indent="0" lvl="0" marL="0" rtl="0" algn="l">
                        <a:spcBef>
                          <a:spcPts val="0"/>
                        </a:spcBef>
                        <a:spcAft>
                          <a:spcPts val="0"/>
                        </a:spcAft>
                        <a:buNone/>
                      </a:pPr>
                      <a:r>
                        <a:rPr lang="en" sz="800"/>
                        <a:t>Decision or transition points</a:t>
                      </a:r>
                      <a:endParaRPr sz="800"/>
                    </a:p>
                  </a:txBody>
                  <a:tcPr marT="91425" marB="91425" marR="91425" marL="91425"/>
                </a:tc>
              </a:tr>
              <a:tr h="576525">
                <a:tc>
                  <a:txBody>
                    <a:bodyPr/>
                    <a:lstStyle/>
                    <a:p>
                      <a:pPr indent="0" lvl="0" marL="0" rtl="0" algn="l">
                        <a:spcBef>
                          <a:spcPts val="0"/>
                        </a:spcBef>
                        <a:spcAft>
                          <a:spcPts val="0"/>
                        </a:spcAft>
                        <a:buNone/>
                      </a:pPr>
                      <a:r>
                        <a:rPr lang="en" sz="800"/>
                        <a:t>Chunk</a:t>
                      </a:r>
                      <a:endParaRPr sz="800"/>
                    </a:p>
                  </a:txBody>
                  <a:tcPr marT="91425" marB="91425" marR="91425" marL="91425"/>
                </a:tc>
                <a:tc>
                  <a:txBody>
                    <a:bodyPr/>
                    <a:lstStyle/>
                    <a:p>
                      <a:pPr indent="0" lvl="0" marL="0" rtl="0" algn="l">
                        <a:spcBef>
                          <a:spcPts val="0"/>
                        </a:spcBef>
                        <a:spcAft>
                          <a:spcPts val="0"/>
                        </a:spcAft>
                        <a:buNone/>
                      </a:pPr>
                      <a:r>
                        <a:rPr lang="en" sz="800"/>
                        <a:t>Repeated Knowledge Sharing / Idea Management clusters</a:t>
                      </a:r>
                      <a:endParaRPr sz="800"/>
                    </a:p>
                  </a:txBody>
                  <a:tcPr marT="91425" marB="91425" marR="91425" marL="91425"/>
                </a:tc>
                <a:tc>
                  <a:txBody>
                    <a:bodyPr/>
                    <a:lstStyle/>
                    <a:p>
                      <a:pPr indent="0" lvl="0" marL="0" rtl="0" algn="l">
                        <a:spcBef>
                          <a:spcPts val="0"/>
                        </a:spcBef>
                        <a:spcAft>
                          <a:spcPts val="0"/>
                        </a:spcAft>
                        <a:buNone/>
                      </a:pPr>
                      <a:r>
                        <a:rPr lang="en" sz="800"/>
                        <a:t>Short sequences of repeated idea-focused actions</a:t>
                      </a:r>
                      <a:endParaRPr sz="800"/>
                    </a:p>
                  </a:txBody>
                  <a:tcPr marT="91425" marB="91425" marR="91425" marL="91425"/>
                </a:tc>
                <a:tc>
                  <a:txBody>
                    <a:bodyPr/>
                    <a:lstStyle/>
                    <a:p>
                      <a:pPr indent="0" lvl="0" marL="0" rtl="0" algn="l">
                        <a:spcBef>
                          <a:spcPts val="0"/>
                        </a:spcBef>
                        <a:spcAft>
                          <a:spcPts val="0"/>
                        </a:spcAft>
                        <a:buNone/>
                      </a:pPr>
                      <a:r>
                        <a:rPr lang="en" sz="800"/>
                        <a:t>Sustained shared focus</a:t>
                      </a:r>
                      <a:endParaRPr sz="800"/>
                    </a:p>
                    <a:p>
                      <a:pPr indent="0" lvl="0" marL="0" rtl="0" algn="l">
                        <a:spcBef>
                          <a:spcPts val="0"/>
                        </a:spcBef>
                        <a:spcAft>
                          <a:spcPts val="0"/>
                        </a:spcAft>
                        <a:buNone/>
                      </a:pPr>
                      <a:r>
                        <a:t/>
                      </a:r>
                      <a:endParaRPr sz="800"/>
                    </a:p>
                  </a:txBody>
                  <a:tcPr marT="91425" marB="91425" marR="91425" marL="91425"/>
                </a:tc>
              </a:tr>
              <a:tr h="576525">
                <a:tc>
                  <a:txBody>
                    <a:bodyPr/>
                    <a:lstStyle/>
                    <a:p>
                      <a:pPr indent="0" lvl="0" marL="0" rtl="0" algn="l">
                        <a:spcBef>
                          <a:spcPts val="0"/>
                        </a:spcBef>
                        <a:spcAft>
                          <a:spcPts val="0"/>
                        </a:spcAft>
                        <a:buNone/>
                      </a:pPr>
                      <a:r>
                        <a:rPr lang="en" sz="800"/>
                        <a:t>“Idea” </a:t>
                      </a:r>
                      <a:endParaRPr sz="800"/>
                    </a:p>
                  </a:txBody>
                  <a:tcPr marT="91425" marB="91425" marR="91425" marL="91425"/>
                </a:tc>
                <a:tc>
                  <a:txBody>
                    <a:bodyPr/>
                    <a:lstStyle/>
                    <a:p>
                      <a:pPr indent="0" lvl="0" marL="0" rtl="0" algn="l">
                        <a:spcBef>
                          <a:spcPts val="0"/>
                        </a:spcBef>
                        <a:spcAft>
                          <a:spcPts val="0"/>
                        </a:spcAft>
                        <a:buNone/>
                      </a:pPr>
                      <a:r>
                        <a:rPr lang="en" sz="800"/>
                        <a:t>Idea Management, Knowledge Sharing, Integration </a:t>
                      </a:r>
                      <a:r>
                        <a:rPr lang="en" sz="800"/>
                        <a:t>Practices</a:t>
                      </a:r>
                      <a:endParaRPr sz="800"/>
                    </a:p>
                  </a:txBody>
                  <a:tcPr marT="91425" marB="91425" marR="91425" marL="91425"/>
                </a:tc>
                <a:tc>
                  <a:txBody>
                    <a:bodyPr/>
                    <a:lstStyle/>
                    <a:p>
                      <a:pPr indent="0" lvl="0" marL="0" rtl="0" algn="l">
                        <a:spcBef>
                          <a:spcPts val="0"/>
                        </a:spcBef>
                        <a:spcAft>
                          <a:spcPts val="0"/>
                        </a:spcAft>
                        <a:buNone/>
                      </a:pPr>
                      <a:r>
                        <a:rPr lang="en" sz="800"/>
                        <a:t>The topical or conceptual concept being proposed, referenced, refined, or evaluated within a conceptual contribution </a:t>
                      </a:r>
                      <a:endParaRPr sz="800"/>
                    </a:p>
                  </a:txBody>
                  <a:tcPr marT="91425" marB="91425" marR="91425" marL="91425"/>
                </a:tc>
                <a:tc>
                  <a:txBody>
                    <a:bodyPr/>
                    <a:lstStyle/>
                    <a:p>
                      <a:pPr indent="0" lvl="0" marL="0" rtl="0" algn="l">
                        <a:spcBef>
                          <a:spcPts val="0"/>
                        </a:spcBef>
                        <a:spcAft>
                          <a:spcPts val="0"/>
                        </a:spcAft>
                        <a:buNone/>
                      </a:pPr>
                      <a:r>
                        <a:rPr lang="en" sz="800"/>
                        <a:t>Ideas are the semantic material that </a:t>
                      </a:r>
                      <a:r>
                        <a:rPr lang="en" sz="800"/>
                        <a:t>conceptual</a:t>
                      </a:r>
                      <a:r>
                        <a:rPr lang="en" sz="800"/>
                        <a:t> contributions act upon and link over time; tracking them enables </a:t>
                      </a:r>
                      <a:r>
                        <a:rPr lang="en" sz="800"/>
                        <a:t>proposal</a:t>
                      </a:r>
                      <a:r>
                        <a:rPr lang="en" sz="800"/>
                        <a:t> convergence, divergence, and refinement across the meeting</a:t>
                      </a:r>
                      <a:endParaRPr sz="800"/>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4594"/>
              <a:buNone/>
            </a:pPr>
            <a:r>
              <a:rPr b="1" lang="en" sz="2220">
                <a:highlight>
                  <a:srgbClr val="A4C2F4"/>
                </a:highlight>
              </a:rPr>
              <a:t>Late-Stage </a:t>
            </a:r>
            <a:r>
              <a:rPr b="1" lang="en" sz="2220">
                <a:highlight>
                  <a:srgbClr val="A4C2F4"/>
                </a:highlight>
              </a:rPr>
              <a:t>Convergence</a:t>
            </a:r>
            <a:r>
              <a:rPr b="1" lang="en" sz="2220">
                <a:highlight>
                  <a:srgbClr val="A4C2F4"/>
                </a:highlight>
              </a:rPr>
              <a:t> Differentiates Successful Proposals</a:t>
            </a:r>
            <a:endParaRPr b="1" sz="2220">
              <a:highlight>
                <a:srgbClr val="A4C2F4"/>
              </a:highlight>
            </a:endParaRPr>
          </a:p>
          <a:p>
            <a:pPr indent="0" lvl="0" marL="0" rtl="0" algn="l">
              <a:spcBef>
                <a:spcPts val="0"/>
              </a:spcBef>
              <a:spcAft>
                <a:spcPts val="0"/>
              </a:spcAft>
              <a:buSzPct val="44594"/>
              <a:buNone/>
            </a:pPr>
            <a:r>
              <a:rPr b="1" lang="en" sz="2220">
                <a:highlight>
                  <a:srgbClr val="A4C2F4"/>
                </a:highlight>
              </a:rPr>
              <a:t>Slide 10 - First Attempt</a:t>
            </a:r>
            <a:endParaRPr b="1" sz="2220">
              <a:highlight>
                <a:srgbClr val="A4C2F4"/>
              </a:highlight>
            </a:endParaRPr>
          </a:p>
        </p:txBody>
      </p:sp>
      <p:sp>
        <p:nvSpPr>
          <p:cNvPr id="124" name="Google Shape;124;p23"/>
          <p:cNvSpPr txBox="1"/>
          <p:nvPr>
            <p:ph idx="1" type="body"/>
          </p:nvPr>
        </p:nvSpPr>
        <p:spPr>
          <a:xfrm>
            <a:off x="89625" y="572700"/>
            <a:ext cx="26913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Funded teams show late-stage idea narrowing coupled with decision closure</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Non-funded teams tend to maintain or expand idea space without comparable closure</a:t>
            </a:r>
            <a:endParaRPr/>
          </a:p>
        </p:txBody>
      </p:sp>
      <p:sp>
        <p:nvSpPr>
          <p:cNvPr id="125" name="Google Shape;125;p23"/>
          <p:cNvSpPr txBox="1"/>
          <p:nvPr/>
        </p:nvSpPr>
        <p:spPr>
          <a:xfrm>
            <a:off x="225025" y="4132200"/>
            <a:ext cx="8448600" cy="8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Across sessions, successful proposals are associated with late-stage pruning of idea-space alongside increased decision and commitment behavior. In contrast, unsuccessful or unresolved sessions tend to retain higher late-stage idea diversity without decisive </a:t>
            </a:r>
            <a:r>
              <a:rPr lang="en">
                <a:solidFill>
                  <a:srgbClr val="FF0000"/>
                </a:solidFill>
              </a:rPr>
              <a:t>convergence.</a:t>
            </a:r>
            <a:endParaRPr>
              <a:solidFill>
                <a:srgbClr val="FF0000"/>
              </a:solidFill>
            </a:endParaRPr>
          </a:p>
        </p:txBody>
      </p:sp>
      <p:pic>
        <p:nvPicPr>
          <p:cNvPr id="126" name="Google Shape;126;p23"/>
          <p:cNvPicPr preferRelativeResize="0"/>
          <p:nvPr/>
        </p:nvPicPr>
        <p:blipFill>
          <a:blip r:embed="rId4">
            <a:alphaModFix/>
          </a:blip>
          <a:stretch>
            <a:fillRect/>
          </a:stretch>
        </p:blipFill>
        <p:spPr>
          <a:xfrm>
            <a:off x="3329200" y="653550"/>
            <a:ext cx="4961757" cy="3254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0" y="0"/>
            <a:ext cx="3843900" cy="51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020"/>
              <a:t>Slide 10 - Explanation (Part 1)</a:t>
            </a:r>
            <a:endParaRPr sz="2020"/>
          </a:p>
        </p:txBody>
      </p:sp>
      <p:sp>
        <p:nvSpPr>
          <p:cNvPr id="132" name="Google Shape;132;p24"/>
          <p:cNvSpPr txBox="1"/>
          <p:nvPr>
            <p:ph idx="1" type="body"/>
          </p:nvPr>
        </p:nvSpPr>
        <p:spPr>
          <a:xfrm>
            <a:off x="0" y="514500"/>
            <a:ext cx="9144000" cy="5143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900">
                <a:solidFill>
                  <a:srgbClr val="0E0E0E"/>
                </a:solidFill>
                <a:latin typeface="Courier New"/>
                <a:ea typeface="Courier New"/>
                <a:cs typeface="Courier New"/>
                <a:sym typeface="Courier New"/>
              </a:rPr>
              <a:t>I started by treating the </a:t>
            </a:r>
            <a:r>
              <a:rPr lang="en" sz="900">
                <a:solidFill>
                  <a:srgbClr val="0E0E0E"/>
                </a:solidFill>
                <a:latin typeface="Courier New"/>
                <a:ea typeface="Courier New"/>
                <a:cs typeface="Courier New"/>
                <a:sym typeface="Courier New"/>
              </a:rPr>
              <a:t>annotation codes as basic behavioral building blocks, rather than the labels they were in the codebook.</a:t>
            </a:r>
            <a:r>
              <a:rPr lang="en" sz="900">
                <a:solidFill>
                  <a:srgbClr val="0E0E0E"/>
                </a:solidFill>
                <a:latin typeface="Courier New"/>
                <a:ea typeface="Courier New"/>
                <a:cs typeface="Courier New"/>
                <a:sym typeface="Courier New"/>
              </a:rPr>
              <a:t> This is because I kept relaying back to the idea of team formation, rather team funding as the finalized output -- that's what was on my mind at the time cause everything keeps tying back to that. Cause I was trying to describe at the certain parts, what gets a team funded?</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900">
                <a:solidFill>
                  <a:srgbClr val="0E0E0E"/>
                </a:solidFill>
                <a:latin typeface="Courier New"/>
                <a:ea typeface="Courier New"/>
                <a:cs typeface="Courier New"/>
                <a:sym typeface="Courier New"/>
              </a:rPr>
              <a:t>So then trying to piece those parts together because there could be up to three codes with one utterance, I was trying to make it a bit simpler on myself. As I also knew the annotation codes wouldn't be able to tell the story by themselves - I also ended up using the respective transcripts to end up checking it as well. For this, I ended up grouping the original </a:t>
            </a:r>
            <a:r>
              <a:rPr lang="en" sz="900">
                <a:solidFill>
                  <a:srgbClr val="0E0E0E"/>
                </a:solidFill>
                <a:latin typeface="Courier New"/>
                <a:ea typeface="Courier New"/>
                <a:cs typeface="Courier New"/>
                <a:sym typeface="Courier New"/>
              </a:rPr>
              <a:t>annotation</a:t>
            </a:r>
            <a:r>
              <a:rPr lang="en" sz="900">
                <a:solidFill>
                  <a:srgbClr val="0E0E0E"/>
                </a:solidFill>
                <a:latin typeface="Courier New"/>
                <a:ea typeface="Courier New"/>
                <a:cs typeface="Courier New"/>
                <a:sym typeface="Courier New"/>
              </a:rPr>
              <a:t> codes by the </a:t>
            </a:r>
            <a:r>
              <a:rPr lang="en" sz="900">
                <a:solidFill>
                  <a:srgbClr val="0E0E0E"/>
                </a:solidFill>
                <a:latin typeface="Courier New"/>
                <a:ea typeface="Courier New"/>
                <a:cs typeface="Courier New"/>
                <a:sym typeface="Courier New"/>
              </a:rPr>
              <a:t>cognitive function</a:t>
            </a:r>
            <a:r>
              <a:rPr lang="en" sz="900">
                <a:solidFill>
                  <a:srgbClr val="0E0E0E"/>
                </a:solidFill>
                <a:latin typeface="Courier New"/>
                <a:ea typeface="Courier New"/>
                <a:cs typeface="Courier New"/>
                <a:sym typeface="Courier New"/>
              </a:rPr>
              <a:t> they serve in a team's reasoning process, rather than focusing on the duration or frequency a specific annotation code shows up.</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900">
                <a:solidFill>
                  <a:srgbClr val="0E0E0E"/>
                </a:solidFill>
                <a:latin typeface="Courier New"/>
                <a:ea typeface="Courier New"/>
                <a:cs typeface="Courier New"/>
                <a:sym typeface="Courier New"/>
              </a:rPr>
              <a:t>That led to this idea of something like the following (just to keep my head intact, not saying all meetings followed this structure to a tee):</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b="1" lang="en" sz="900">
                <a:solidFill>
                  <a:srgbClr val="0E0E0E"/>
                </a:solidFill>
                <a:latin typeface="Courier New"/>
                <a:ea typeface="Courier New"/>
                <a:cs typeface="Courier New"/>
                <a:sym typeface="Courier New"/>
              </a:rPr>
              <a:t>**Seeding/Expansion --&gt; Stress-testing --&gt; Synthesis --&gt; Commitment**</a:t>
            </a:r>
            <a:endParaRPr b="1"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900">
                <a:solidFill>
                  <a:srgbClr val="0E0E0E"/>
                </a:solidFill>
                <a:latin typeface="Courier New"/>
                <a:ea typeface="Courier New"/>
                <a:cs typeface="Courier New"/>
                <a:sym typeface="Courier New"/>
              </a:rPr>
              <a:t>I had grouped `Knowledge Sharing` and `Information Seeking` under a </a:t>
            </a:r>
            <a:r>
              <a:rPr lang="en" sz="900">
                <a:solidFill>
                  <a:srgbClr val="0E0E0E"/>
                </a:solidFill>
                <a:latin typeface="Courier New"/>
                <a:ea typeface="Courier New"/>
                <a:cs typeface="Courier New"/>
                <a:sym typeface="Courier New"/>
              </a:rPr>
              <a:t>`Expansion/Seeding`</a:t>
            </a:r>
            <a:r>
              <a:rPr lang="en" sz="900">
                <a:solidFill>
                  <a:srgbClr val="0E0E0E"/>
                </a:solidFill>
                <a:latin typeface="Courier New"/>
                <a:ea typeface="Courier New"/>
                <a:cs typeface="Courier New"/>
                <a:sym typeface="Courier New"/>
              </a:rPr>
              <a:t> category because both of these behaviors introduce or clarify </a:t>
            </a:r>
            <a:r>
              <a:rPr lang="en" sz="900">
                <a:solidFill>
                  <a:srgbClr val="0E0E0E"/>
                </a:solidFill>
                <a:latin typeface="Courier New"/>
                <a:ea typeface="Courier New"/>
                <a:cs typeface="Courier New"/>
                <a:sym typeface="Courier New"/>
              </a:rPr>
              <a:t>information</a:t>
            </a:r>
            <a:r>
              <a:rPr lang="en" sz="900">
                <a:solidFill>
                  <a:srgbClr val="0E0E0E"/>
                </a:solidFill>
                <a:latin typeface="Courier New"/>
                <a:ea typeface="Courier New"/>
                <a:cs typeface="Courier New"/>
                <a:sym typeface="Courier New"/>
              </a:rPr>
              <a:t> that expands the set of possible ideas under consideration. `Knowledge Sharing` ends up bringing in content into the conversation; `Information Seeking` deals with missing information or clarification.</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900">
                <a:solidFill>
                  <a:srgbClr val="0E0E0E"/>
                </a:solidFill>
                <a:latin typeface="Courier New"/>
                <a:ea typeface="Courier New"/>
                <a:cs typeface="Courier New"/>
                <a:sym typeface="Courier New"/>
              </a:rPr>
              <a:t>I had grouped `Evaluation Practices` on its own under a `Stress-testing` category because </a:t>
            </a:r>
            <a:r>
              <a:rPr lang="en" sz="900">
                <a:solidFill>
                  <a:srgbClr val="0E0E0E"/>
                </a:solidFill>
                <a:latin typeface="Courier New"/>
                <a:ea typeface="Courier New"/>
                <a:cs typeface="Courier New"/>
                <a:sym typeface="Courier New"/>
              </a:rPr>
              <a:t>it does not expand the idea space</a:t>
            </a:r>
            <a:r>
              <a:rPr lang="en" sz="900">
                <a:solidFill>
                  <a:srgbClr val="0E0E0E"/>
                </a:solidFill>
                <a:latin typeface="Courier New"/>
                <a:ea typeface="Courier New"/>
                <a:cs typeface="Courier New"/>
                <a:sym typeface="Courier New"/>
              </a:rPr>
              <a:t>, but rather compares, critiques or constrains the existing ideas. This all represents `stress-testing`, which alternatives are weighed against feasibility, overall group goals, or other possible constraints. </a:t>
            </a:r>
            <a:r>
              <a:rPr lang="en" sz="900">
                <a:solidFill>
                  <a:srgbClr val="0E0E0E"/>
                </a:solidFill>
                <a:latin typeface="Courier New"/>
                <a:ea typeface="Courier New"/>
                <a:cs typeface="Courier New"/>
                <a:sym typeface="Courier New"/>
              </a:rPr>
              <a:t>This had often marked a turning point between the exploration and convergence.</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900">
              <a:solidFill>
                <a:srgbClr val="0E0E0E"/>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900">
              <a:solidFill>
                <a:srgbClr val="0E0E0E"/>
              </a:solidFill>
              <a:latin typeface="Courier New"/>
              <a:ea typeface="Courier New"/>
              <a:cs typeface="Courier New"/>
              <a:sym typeface="Courier New"/>
            </a:endParaRPr>
          </a:p>
          <a:p>
            <a:pPr indent="0" lvl="0" marL="0" rtl="0" algn="l">
              <a:spcBef>
                <a:spcPts val="0"/>
              </a:spcBef>
              <a:spcAft>
                <a:spcPts val="1200"/>
              </a:spcAft>
              <a:buNone/>
            </a:pPr>
            <a:r>
              <a:t/>
            </a:r>
            <a:endParaRPr sz="900">
              <a:solidFill>
                <a:srgbClr val="0E0E0E"/>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Slide 10 - Explanation (Part 2)</a:t>
            </a:r>
            <a:endParaRPr/>
          </a:p>
        </p:txBody>
      </p:sp>
      <p:sp>
        <p:nvSpPr>
          <p:cNvPr id="138" name="Google Shape;138;p25"/>
          <p:cNvSpPr txBox="1"/>
          <p:nvPr>
            <p:ph idx="1" type="body"/>
          </p:nvPr>
        </p:nvSpPr>
        <p:spPr>
          <a:xfrm>
            <a:off x="39900" y="618600"/>
            <a:ext cx="8520600" cy="4322400"/>
          </a:xfrm>
          <a:prstGeom prst="rect">
            <a:avLst/>
          </a:prstGeom>
        </p:spPr>
        <p:txBody>
          <a:bodyPr anchorCtr="0" anchor="t" bIns="91425" lIns="91425" spcFirstLastPara="1" rIns="91425" wrap="square" tIns="91425">
            <a:noAutofit/>
          </a:bodyPr>
          <a:lstStyle/>
          <a:p>
            <a:pPr indent="0" lvl="0" marL="0" rtl="0" algn="l">
              <a:lnSpc>
                <a:spcPct val="130000"/>
              </a:lnSpc>
              <a:spcBef>
                <a:spcPts val="0"/>
              </a:spcBef>
              <a:spcAft>
                <a:spcPts val="0"/>
              </a:spcAft>
              <a:buClr>
                <a:schemeClr val="dk1"/>
              </a:buClr>
              <a:buSzPts val="935"/>
              <a:buFont typeface="Arial"/>
              <a:buNone/>
            </a:pPr>
            <a:r>
              <a:rPr lang="en" sz="864">
                <a:solidFill>
                  <a:srgbClr val="0E0E0E"/>
                </a:solidFill>
                <a:latin typeface="Courier New"/>
                <a:ea typeface="Courier New"/>
                <a:cs typeface="Courier New"/>
                <a:sym typeface="Courier New"/>
              </a:rPr>
              <a:t>I had grouped `Integration Practices` as a `synthesis` category because it involves the combining, reconciling, or reframing multiple ideas into a more robust structure. This actively constructs something new from existing ideas.</a:t>
            </a:r>
            <a:endParaRPr sz="864">
              <a:solidFill>
                <a:srgbClr val="0E0E0E"/>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935"/>
              <a:buFont typeface="Arial"/>
              <a:buNone/>
            </a:pPr>
            <a:r>
              <a:t/>
            </a:r>
            <a:endParaRPr sz="864">
              <a:solidFill>
                <a:srgbClr val="0E0E0E"/>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935"/>
              <a:buFont typeface="Arial"/>
              <a:buNone/>
            </a:pPr>
            <a:r>
              <a:rPr lang="en" sz="864">
                <a:solidFill>
                  <a:srgbClr val="0E0E0E"/>
                </a:solidFill>
                <a:latin typeface="Courier New"/>
                <a:ea typeface="Courier New"/>
                <a:cs typeface="Courier New"/>
                <a:sym typeface="Courier New"/>
              </a:rPr>
              <a:t>I had finally grouped `Coordination and Decision Practices` as a `commitment` behavior. This effectively signals alignment and forward movement; not necessarily an idea exploration. This may include choosing a direction, assigning tasks, defining next steps, formalizing decisions. Not all of a scientific teams' interactions would show this behavior, but this behavior was the last "part" that still needed to be included.</a:t>
            </a:r>
            <a:endParaRPr sz="864">
              <a:solidFill>
                <a:srgbClr val="0E0E0E"/>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935"/>
              <a:buFont typeface="Arial"/>
              <a:buNone/>
            </a:pPr>
            <a:r>
              <a:t/>
            </a:r>
            <a:endParaRPr sz="864">
              <a:solidFill>
                <a:srgbClr val="0E0E0E"/>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935"/>
              <a:buFont typeface="Arial"/>
              <a:buNone/>
            </a:pPr>
            <a:r>
              <a:rPr lang="en" sz="864">
                <a:solidFill>
                  <a:srgbClr val="0E0E0E"/>
                </a:solidFill>
                <a:latin typeface="Courier New"/>
                <a:ea typeface="Courier New"/>
                <a:cs typeface="Courier New"/>
                <a:sym typeface="Courier New"/>
              </a:rPr>
              <a:t>`Idea Management` was given its own category of `IDEA_MGNT` because it captures the meta-behavior about how ideas are tracked, referenced, or organized over time. This also may include behaviors such as labeling ideas, revisiting earlier suggestions, considering alternative ideas, transitioning between ideas, or even just the continuity throughout the meeting -- keeping the structure together.</a:t>
            </a:r>
            <a:endParaRPr sz="864">
              <a:solidFill>
                <a:srgbClr val="0E0E0E"/>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935"/>
              <a:buFont typeface="Arial"/>
              <a:buNone/>
            </a:pPr>
            <a:r>
              <a:t/>
            </a:r>
            <a:endParaRPr sz="864">
              <a:solidFill>
                <a:srgbClr val="0E0E0E"/>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935"/>
              <a:buFont typeface="Arial"/>
              <a:buNone/>
            </a:pPr>
            <a:r>
              <a:rPr lang="en" sz="864">
                <a:solidFill>
                  <a:srgbClr val="0E0E0E"/>
                </a:solidFill>
                <a:latin typeface="Courier New"/>
                <a:ea typeface="Courier New"/>
                <a:cs typeface="Courier New"/>
                <a:sym typeface="Courier New"/>
              </a:rPr>
              <a:t>For this, `Relational Climate` was never filtered into one of these categories, or given its own, because it was more so about the emotional aspect of these scientific team meetings, cause I again, kept tying all of this to the proposal outcomes.</a:t>
            </a:r>
            <a:endParaRPr sz="864">
              <a:solidFill>
                <a:srgbClr val="0E0E0E"/>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935"/>
              <a:buFont typeface="Arial"/>
              <a:buNone/>
            </a:pPr>
            <a:r>
              <a:t/>
            </a:r>
            <a:endParaRPr sz="864">
              <a:solidFill>
                <a:srgbClr val="0E0E0E"/>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935"/>
              <a:buFont typeface="Arial"/>
              <a:buNone/>
            </a:pPr>
            <a:r>
              <a:rPr lang="en" sz="864">
                <a:solidFill>
                  <a:srgbClr val="0E0E0E"/>
                </a:solidFill>
                <a:latin typeface="Courier New"/>
                <a:ea typeface="Courier New"/>
                <a:cs typeface="Courier New"/>
                <a:sym typeface="Courier New"/>
              </a:rPr>
              <a:t>After I had defined all of these higher-level behavioral, </a:t>
            </a:r>
            <a:r>
              <a:rPr lang="en" sz="864">
                <a:solidFill>
                  <a:srgbClr val="0E0E0E"/>
                </a:solidFill>
                <a:latin typeface="Courier New"/>
                <a:ea typeface="Courier New"/>
                <a:cs typeface="Courier New"/>
                <a:sym typeface="Courier New"/>
              </a:rPr>
              <a:t>I then incorporated all of this back into the temporal third segments (beginning, middle, end). The goal was to test whether these grouped behaviors shift over time in ways consistent with convergence. Because of the large amount of meetings and knowing they all would be different in terms of structure, I had focused on how these grouped behaviors transition into one another. This then allowed me to find out which behavioral states, trying to keep in-tact an idea-state flow rather than isolating the individual annotation codes. For this I treated `IDEA_MGMT` as a way to support the transitions without implying convergence (also to keep true to the codebook), to seeing if a relationship with these behaviors hold. This is before tying it to outcomes such as team formation or funding.</a:t>
            </a:r>
            <a:endParaRPr sz="1629"/>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0" y="0"/>
            <a:ext cx="3843900" cy="51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020"/>
              <a:t>Slide 10 - Explanation (Part 3)</a:t>
            </a:r>
            <a:endParaRPr sz="2020"/>
          </a:p>
        </p:txBody>
      </p:sp>
      <p:sp>
        <p:nvSpPr>
          <p:cNvPr id="144" name="Google Shape;144;p26"/>
          <p:cNvSpPr txBox="1"/>
          <p:nvPr>
            <p:ph idx="1" type="body"/>
          </p:nvPr>
        </p:nvSpPr>
        <p:spPr>
          <a:xfrm>
            <a:off x="0" y="514500"/>
            <a:ext cx="9144000" cy="4629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100">
                <a:solidFill>
                  <a:srgbClr val="000000"/>
                </a:solidFill>
                <a:latin typeface="Courier New"/>
                <a:ea typeface="Courier New"/>
                <a:cs typeface="Courier New"/>
                <a:sym typeface="Courier New"/>
              </a:rPr>
              <a:t>Once all these transitions were figured out, I had to figure out whether a `synthesis` or `commitment/closure` reflected genuine </a:t>
            </a:r>
            <a:r>
              <a:rPr lang="en" sz="1100">
                <a:solidFill>
                  <a:srgbClr val="000000"/>
                </a:solidFill>
                <a:latin typeface="Courier New"/>
                <a:ea typeface="Courier New"/>
                <a:cs typeface="Courier New"/>
                <a:sym typeface="Courier New"/>
              </a:rPr>
              <a:t>idea-level convergence</a:t>
            </a:r>
            <a:r>
              <a:rPr lang="en" sz="1100">
                <a:solidFill>
                  <a:srgbClr val="000000"/>
                </a:solidFill>
                <a:latin typeface="Courier New"/>
                <a:ea typeface="Courier New"/>
                <a:cs typeface="Courier New"/>
                <a:sym typeface="Courier New"/>
              </a:rPr>
              <a:t> or saying it was the end of a meeting. For these two behaviors (`synthesis` and `commitment/closure`, which involves the behaviors these are associated with in the codebook - see earlier section) </a:t>
            </a:r>
            <a:r>
              <a:rPr lang="en" sz="1100">
                <a:solidFill>
                  <a:srgbClr val="000000"/>
                </a:solidFill>
                <a:latin typeface="Courier New"/>
                <a:ea typeface="Courier New"/>
                <a:cs typeface="Courier New"/>
                <a:sym typeface="Courier New"/>
              </a:rPr>
              <a:t>I had figured out that these coordination and decision-like behaviors often increase near the end of the meetings due to the facilitation, reporting, or time management - not necessarily due to substantive agreement. I ended up running a false-positive diagnostic analysis while auditing the transcript for reference and using a lexical pattern detection. I then inspected these segments in context to distinguish when the meeting actually finished (because they ran out of time) compared to a genuine convergence, when people were wrapping up on an idea.</a:t>
            </a:r>
            <a:endParaRPr sz="1100">
              <a:solidFill>
                <a:srgbClr val="000000"/>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1100">
              <a:solidFill>
                <a:srgbClr val="000000"/>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1100">
                <a:solidFill>
                  <a:srgbClr val="000000"/>
                </a:solidFill>
                <a:latin typeface="Courier New"/>
                <a:ea typeface="Courier New"/>
                <a:cs typeface="Courier New"/>
                <a:sym typeface="Courier New"/>
              </a:rPr>
              <a:t>This then led me to figuring out that the narrowing does not rely on the behavioral annotations. This is what led me to figure out whether the diversity of ideas under discussion decreases over time. This led me to using</a:t>
            </a:r>
            <a:r>
              <a:rPr lang="en" sz="1100">
                <a:solidFill>
                  <a:srgbClr val="000000"/>
                </a:solidFill>
                <a:latin typeface="Courier New"/>
                <a:ea typeface="Courier New"/>
                <a:cs typeface="Courier New"/>
                <a:sym typeface="Courier New"/>
              </a:rPr>
              <a:t> an entropy to measure this conceptual spread</a:t>
            </a:r>
            <a:r>
              <a:rPr lang="en" sz="1100">
                <a:solidFill>
                  <a:srgbClr val="000000"/>
                </a:solidFill>
                <a:latin typeface="Courier New"/>
                <a:ea typeface="Courier New"/>
                <a:cs typeface="Courier New"/>
                <a:sym typeface="Courier New"/>
              </a:rPr>
              <a:t>. </a:t>
            </a:r>
            <a:r>
              <a:rPr lang="en" sz="1100">
                <a:solidFill>
                  <a:srgbClr val="000000"/>
                </a:solidFill>
                <a:latin typeface="Courier New"/>
                <a:ea typeface="Courier New"/>
                <a:cs typeface="Courier New"/>
                <a:sym typeface="Courier New"/>
              </a:rPr>
              <a:t>This motivation was because that the genuine convergence (e.g. a best idea, correct idea, final decision, successful outcome, etc.) should not only be reflected in how teams behave, but also to the extend the ideas are actually being considered.</a:t>
            </a:r>
            <a:r>
              <a:rPr lang="en" sz="1100">
                <a:solidFill>
                  <a:srgbClr val="000000"/>
                </a:solidFill>
                <a:latin typeface="Courier New"/>
                <a:ea typeface="Courier New"/>
                <a:cs typeface="Courier New"/>
                <a:sym typeface="Courier New"/>
              </a:rPr>
              <a:t> I then </a:t>
            </a:r>
            <a:r>
              <a:rPr lang="en" sz="1100">
                <a:solidFill>
                  <a:srgbClr val="000000"/>
                </a:solidFill>
                <a:latin typeface="Courier New"/>
                <a:ea typeface="Courier New"/>
                <a:cs typeface="Courier New"/>
                <a:sym typeface="Courier New"/>
              </a:rPr>
              <a:t>computed the entropy separately for the first-third and last-third of each meeting. For that, I defined a pruning score as the change in entropy over time -- negative values indicate narrowing of an idea space.</a:t>
            </a:r>
            <a:endParaRPr sz="1100">
              <a:solidFill>
                <a:srgbClr val="000000"/>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1100">
              <a:solidFill>
                <a:srgbClr val="000000"/>
              </a:solidFill>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1100">
              <a:solidFill>
                <a:srgbClr val="000000"/>
              </a:solidFill>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8" name="Shape 148"/>
        <p:cNvGrpSpPr/>
        <p:nvPr/>
      </p:nvGrpSpPr>
      <p:grpSpPr>
        <a:xfrm>
          <a:off x="0" y="0"/>
          <a:ext cx="0" cy="0"/>
          <a:chOff x="0" y="0"/>
          <a:chExt cx="0" cy="0"/>
        </a:xfrm>
      </p:grpSpPr>
      <p:sp>
        <p:nvSpPr>
          <p:cNvPr id="149" name="Google Shape;149;p27"/>
          <p:cNvSpPr txBox="1"/>
          <p:nvPr>
            <p:ph idx="1" type="body"/>
          </p:nvPr>
        </p:nvSpPr>
        <p:spPr>
          <a:xfrm>
            <a:off x="0" y="514450"/>
            <a:ext cx="9144000" cy="4629000"/>
          </a:xfrm>
          <a:prstGeom prst="rect">
            <a:avLst/>
          </a:prstGeom>
        </p:spPr>
        <p:txBody>
          <a:bodyPr anchorCtr="0" anchor="t" bIns="91425" lIns="91425" spcFirstLastPara="1" rIns="91425" wrap="square" tIns="91425">
            <a:noAutofit/>
          </a:bodyPr>
          <a:lstStyle/>
          <a:p>
            <a:pPr indent="0" lvl="0" marL="0" rtl="0" algn="l">
              <a:lnSpc>
                <a:spcPct val="130000"/>
              </a:lnSpc>
              <a:spcBef>
                <a:spcPts val="0"/>
              </a:spcBef>
              <a:spcAft>
                <a:spcPts val="0"/>
              </a:spcAft>
              <a:buClr>
                <a:schemeClr val="dk1"/>
              </a:buClr>
              <a:buSzPts val="852"/>
              <a:buFont typeface="Arial"/>
              <a:buNone/>
            </a:pPr>
            <a:r>
              <a:rPr lang="en" sz="800">
                <a:solidFill>
                  <a:schemeClr val="dk1"/>
                </a:solidFill>
                <a:latin typeface="Courier New"/>
                <a:ea typeface="Courier New"/>
                <a:cs typeface="Courier New"/>
                <a:sym typeface="Courier New"/>
              </a:rPr>
              <a:t>After this part was run, it was figured out that some of the meetings had strong `synthesis` and `commitment/closure` behaviors without a reduction in the entropy. Others showed conceptual narrowing without clear `commitment/closure` behavior. For this part I ended up checking against the transcript to figure out the exact cases and words spoken by the researchers.</a:t>
            </a:r>
            <a:endParaRPr sz="800">
              <a:solidFill>
                <a:schemeClr val="dk1"/>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852"/>
              <a:buFont typeface="Arial"/>
              <a:buNone/>
            </a:pPr>
            <a:r>
              <a:t/>
            </a:r>
            <a:endParaRPr sz="800">
              <a:solidFill>
                <a:schemeClr val="dk1"/>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852"/>
              <a:buFont typeface="Arial"/>
              <a:buNone/>
            </a:pPr>
            <a:r>
              <a:rPr lang="en" sz="800">
                <a:solidFill>
                  <a:schemeClr val="dk1"/>
                </a:solidFill>
                <a:latin typeface="Courier New"/>
                <a:ea typeface="Courier New"/>
                <a:cs typeface="Courier New"/>
                <a:sym typeface="Courier New"/>
              </a:rPr>
              <a:t>Addressing this limitation, </a:t>
            </a:r>
            <a:r>
              <a:rPr lang="en" sz="800">
                <a:solidFill>
                  <a:schemeClr val="dk1"/>
                </a:solidFill>
                <a:latin typeface="Courier New"/>
                <a:ea typeface="Courier New"/>
                <a:cs typeface="Courier New"/>
                <a:sym typeface="Courier New"/>
              </a:rPr>
              <a:t>this holds because teams can exhibit `synthesis` and coordination behaviors without adhering to a specific idea, and they can narrow their idea space without signaling commitment through decision-oriented behaviors</a:t>
            </a:r>
            <a:r>
              <a:rPr lang="en" sz="800">
                <a:solidFill>
                  <a:schemeClr val="dk1"/>
                </a:solidFill>
                <a:latin typeface="Courier New"/>
                <a:ea typeface="Courier New"/>
                <a:cs typeface="Courier New"/>
                <a:sym typeface="Courier New"/>
              </a:rPr>
              <a:t>. This therefore shows that these annnotations and </a:t>
            </a:r>
            <a:r>
              <a:rPr lang="en" sz="800">
                <a:solidFill>
                  <a:schemeClr val="dk1"/>
                </a:solidFill>
                <a:latin typeface="Courier New"/>
                <a:ea typeface="Courier New"/>
                <a:cs typeface="Courier New"/>
                <a:sym typeface="Courier New"/>
              </a:rPr>
              <a:t>transition dynamics</a:t>
            </a:r>
            <a:r>
              <a:rPr lang="en" sz="800">
                <a:solidFill>
                  <a:schemeClr val="dk1"/>
                </a:solidFill>
                <a:latin typeface="Courier New"/>
                <a:ea typeface="Courier New"/>
                <a:cs typeface="Courier New"/>
                <a:sym typeface="Courier New"/>
              </a:rPr>
              <a:t> can help figuring out where convergence of an idea may be occuring, but insufficient on what the team has converged on. Some sort of semantic tracking would be required to confirm genuine ideal-level closure.</a:t>
            </a:r>
            <a:endParaRPr sz="800">
              <a:solidFill>
                <a:schemeClr val="dk1"/>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852"/>
              <a:buFont typeface="Arial"/>
              <a:buNone/>
            </a:pPr>
            <a:r>
              <a:t/>
            </a:r>
            <a:endParaRPr sz="800">
              <a:solidFill>
                <a:schemeClr val="dk1"/>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852"/>
              <a:buFont typeface="Arial"/>
              <a:buNone/>
            </a:pPr>
            <a:r>
              <a:rPr lang="en" sz="800">
                <a:solidFill>
                  <a:schemeClr val="dk1"/>
                </a:solidFill>
                <a:latin typeface="Courier New"/>
                <a:ea typeface="Courier New"/>
                <a:cs typeface="Courier New"/>
                <a:sym typeface="Courier New"/>
              </a:rPr>
              <a:t>So then given all of this, </a:t>
            </a:r>
            <a:r>
              <a:rPr b="1" lang="en" sz="800">
                <a:solidFill>
                  <a:schemeClr val="dk1"/>
                </a:solidFill>
                <a:latin typeface="Courier New"/>
                <a:ea typeface="Courier New"/>
                <a:cs typeface="Courier New"/>
                <a:sym typeface="Courier New"/>
              </a:rPr>
              <a:t>**to assess decision closure**</a:t>
            </a:r>
            <a:r>
              <a:rPr lang="en" sz="800">
                <a:solidFill>
                  <a:schemeClr val="dk1"/>
                </a:solidFill>
                <a:latin typeface="Courier New"/>
                <a:ea typeface="Courier New"/>
                <a:cs typeface="Courier New"/>
                <a:sym typeface="Courier New"/>
              </a:rPr>
              <a:t>, I computed late-stage gains in Commitment/Closure relative to early segments, and examined whether these gains occurred after synthesis rather than in isolation. </a:t>
            </a:r>
            <a:r>
              <a:rPr lang="en" sz="800">
                <a:solidFill>
                  <a:schemeClr val="dk1"/>
                </a:solidFill>
                <a:latin typeface="Courier New"/>
                <a:ea typeface="Courier New"/>
                <a:cs typeface="Courier New"/>
                <a:sym typeface="Courier New"/>
              </a:rPr>
              <a:t>However, because commitment-like behaviors often occur near the end of meetings due to facilitation or reporting, I implemented a false-positive diagnostic using lexical pattern detection. Specifically, utterances containing facilitation or report-out language (e.g., time management, slide preparation, reporting instructions) were flagged via regex-based matching and audited in the transcript. Commitment or synthesis signals overlapping with these patterns were treated as potential structural closure rather than genuine idea-level convergence.</a:t>
            </a:r>
            <a:endParaRPr sz="800">
              <a:solidFill>
                <a:schemeClr val="dk1"/>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852"/>
              <a:buFont typeface="Arial"/>
              <a:buNone/>
            </a:pPr>
            <a:r>
              <a:t/>
            </a:r>
            <a:endParaRPr sz="800">
              <a:solidFill>
                <a:schemeClr val="dk1"/>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852"/>
              <a:buFont typeface="Arial"/>
              <a:buNone/>
            </a:pPr>
            <a:r>
              <a:rPr b="1" lang="en" sz="800">
                <a:solidFill>
                  <a:schemeClr val="dk1"/>
                </a:solidFill>
                <a:latin typeface="Courier New"/>
                <a:ea typeface="Courier New"/>
                <a:cs typeface="Courier New"/>
                <a:sym typeface="Courier New"/>
              </a:rPr>
              <a:t>**To assess narrowing independently of behavioral annotations**</a:t>
            </a:r>
            <a:r>
              <a:rPr lang="en" sz="800">
                <a:solidFill>
                  <a:schemeClr val="dk1"/>
                </a:solidFill>
                <a:latin typeface="Courier New"/>
                <a:ea typeface="Courier New"/>
                <a:cs typeface="Courier New"/>
                <a:sym typeface="Courier New"/>
              </a:rPr>
              <a:t>, I computed idea-space entropy for the first and last thirds of each meeting, treating the distribution of idea states as a proxy for conceptual spread. </a:t>
            </a:r>
            <a:r>
              <a:rPr lang="en" sz="800">
                <a:solidFill>
                  <a:schemeClr val="dk1"/>
                </a:solidFill>
                <a:latin typeface="Courier New"/>
                <a:ea typeface="Courier New"/>
                <a:cs typeface="Courier New"/>
                <a:sym typeface="Courier New"/>
              </a:rPr>
              <a:t>A pruning score was defined as the change in entropy over time, with negative values indicating narrowing of the idea space. This provided a code-agnostic measure of whether teams reduced the range of ideas under active discussion.</a:t>
            </a:r>
            <a:endParaRPr sz="800">
              <a:solidFill>
                <a:schemeClr val="dk1"/>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852"/>
              <a:buFont typeface="Arial"/>
              <a:buNone/>
            </a:pPr>
            <a:r>
              <a:t/>
            </a:r>
            <a:endParaRPr sz="800">
              <a:solidFill>
                <a:schemeClr val="dk1"/>
              </a:solidFill>
              <a:latin typeface="Courier New"/>
              <a:ea typeface="Courier New"/>
              <a:cs typeface="Courier New"/>
              <a:sym typeface="Courier New"/>
            </a:endParaRPr>
          </a:p>
          <a:p>
            <a:pPr indent="0" lvl="0" marL="0" rtl="0" algn="l">
              <a:lnSpc>
                <a:spcPct val="130000"/>
              </a:lnSpc>
              <a:spcBef>
                <a:spcPts val="0"/>
              </a:spcBef>
              <a:spcAft>
                <a:spcPts val="0"/>
              </a:spcAft>
              <a:buClr>
                <a:schemeClr val="dk1"/>
              </a:buClr>
              <a:buSzPts val="852"/>
              <a:buFont typeface="Arial"/>
              <a:buNone/>
            </a:pPr>
            <a:r>
              <a:rPr lang="en" sz="800">
                <a:solidFill>
                  <a:schemeClr val="dk1"/>
                </a:solidFill>
                <a:latin typeface="Courier New"/>
                <a:ea typeface="Courier New"/>
                <a:cs typeface="Courier New"/>
                <a:sym typeface="Courier New"/>
              </a:rPr>
              <a:t>Finally, </a:t>
            </a:r>
            <a:r>
              <a:rPr lang="en" sz="800">
                <a:solidFill>
                  <a:schemeClr val="dk1"/>
                </a:solidFill>
                <a:latin typeface="Courier New"/>
                <a:ea typeface="Courier New"/>
                <a:cs typeface="Courier New"/>
                <a:sym typeface="Courier New"/>
              </a:rPr>
              <a:t>I compared behavioral convergence signals (`synthesis` and `commitment` gains) with entropy-based narrowing. </a:t>
            </a:r>
            <a:r>
              <a:rPr lang="en" sz="800">
                <a:solidFill>
                  <a:schemeClr val="dk1"/>
                </a:solidFill>
                <a:latin typeface="Courier New"/>
                <a:ea typeface="Courier New"/>
                <a:cs typeface="Courier New"/>
                <a:sym typeface="Courier New"/>
              </a:rPr>
              <a:t>Meetings where these signals aligned were treated as strong candidates for convergence, while mismatches were examined via transcript inspection. These mismatches revealed that behavioral convergence and conceptual narrowing do not always co-occur, motivating the conclusion that behavioral annotations can localize where convergence may be occurring, but are insufficient to determine what idea a team has converged on without additional semantic tracking.</a:t>
            </a:r>
            <a:endParaRPr sz="800"/>
          </a:p>
        </p:txBody>
      </p:sp>
      <p:sp>
        <p:nvSpPr>
          <p:cNvPr id="150" name="Google Shape;150;p27"/>
          <p:cNvSpPr txBox="1"/>
          <p:nvPr/>
        </p:nvSpPr>
        <p:spPr>
          <a:xfrm>
            <a:off x="19425" y="-9700"/>
            <a:ext cx="4707900" cy="7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Slide 10 - Explanation (Part 4)</a:t>
            </a:r>
            <a:endParaRPr sz="1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Decision ≠ Convergence</a:t>
            </a:r>
            <a:endParaRPr/>
          </a:p>
        </p:txBody>
      </p:sp>
      <p:pic>
        <p:nvPicPr>
          <p:cNvPr id="156" name="Google Shape;156;p28" title="2b9b6beb-5d16-4430-9858-474f00beff30.png"/>
          <p:cNvPicPr preferRelativeResize="0"/>
          <p:nvPr/>
        </p:nvPicPr>
        <p:blipFill rotWithShape="1">
          <a:blip r:embed="rId3">
            <a:alphaModFix/>
          </a:blip>
          <a:srcRect b="0" l="0" r="0" t="0"/>
          <a:stretch/>
        </p:blipFill>
        <p:spPr>
          <a:xfrm>
            <a:off x="1407200" y="572700"/>
            <a:ext cx="6329600" cy="2496000"/>
          </a:xfrm>
          <a:prstGeom prst="rect">
            <a:avLst/>
          </a:prstGeom>
          <a:noFill/>
          <a:ln>
            <a:noFill/>
          </a:ln>
        </p:spPr>
      </p:pic>
      <p:sp>
        <p:nvSpPr>
          <p:cNvPr id="157" name="Google Shape;157;p28"/>
          <p:cNvSpPr txBox="1"/>
          <p:nvPr/>
        </p:nvSpPr>
        <p:spPr>
          <a:xfrm>
            <a:off x="63950" y="3068700"/>
            <a:ext cx="8725800" cy="14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Quote from the example session </a:t>
            </a:r>
            <a:r>
              <a:rPr lang="en" sz="1800">
                <a:solidFill>
                  <a:schemeClr val="dk2"/>
                </a:solidFill>
              </a:rPr>
              <a:t>(46:26 - 46:48)</a:t>
            </a:r>
            <a:r>
              <a:rPr lang="en" sz="1800">
                <a:solidFill>
                  <a:schemeClr val="dk2"/>
                </a:solidFill>
              </a:rPr>
              <a: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highlight>
                  <a:srgbClr val="B6D7A8"/>
                </a:highlight>
              </a:rPr>
              <a:t>“Great. So we’re actually at about eight minutes from close here… I’d like to give Xiao some help with reporting… do you want to share your screen…”</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Convergence Looks Like in Practice</a:t>
            </a:r>
            <a:endParaRPr/>
          </a:p>
        </p:txBody>
      </p:sp>
      <p:pic>
        <p:nvPicPr>
          <p:cNvPr id="163" name="Google Shape;163;p29" title="e26dd7b2-0b5e-42cd-b685-8e370e2f5ac5.png"/>
          <p:cNvPicPr preferRelativeResize="0"/>
          <p:nvPr/>
        </p:nvPicPr>
        <p:blipFill rotWithShape="1">
          <a:blip r:embed="rId3">
            <a:alphaModFix/>
          </a:blip>
          <a:srcRect b="0" l="0" r="0" t="0"/>
          <a:stretch/>
        </p:blipFill>
        <p:spPr>
          <a:xfrm>
            <a:off x="95925" y="572700"/>
            <a:ext cx="7467600" cy="2944750"/>
          </a:xfrm>
          <a:prstGeom prst="rect">
            <a:avLst/>
          </a:prstGeom>
          <a:noFill/>
          <a:ln>
            <a:noFill/>
          </a:ln>
        </p:spPr>
      </p:pic>
      <p:sp>
        <p:nvSpPr>
          <p:cNvPr id="164" name="Google Shape;164;p29"/>
          <p:cNvSpPr txBox="1"/>
          <p:nvPr/>
        </p:nvSpPr>
        <p:spPr>
          <a:xfrm>
            <a:off x="95925" y="3441250"/>
            <a:ext cx="7811700" cy="170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Quote from the example session (72:42 - 73:08):</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highlight>
                  <a:srgbClr val="B6D7A8"/>
                </a:highlight>
              </a:rPr>
              <a:t>“Okay, yeah, I agree with you Will… we need to be more specific about what we’re going to do and have a clear plan for how we’re going to achieve the goals”</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30" title="356fa090-158d-44b2-bc69-ba6a8bd652c7.png"/>
          <p:cNvPicPr preferRelativeResize="0"/>
          <p:nvPr/>
        </p:nvPicPr>
        <p:blipFill rotWithShape="1">
          <a:blip r:embed="rId3">
            <a:alphaModFix/>
          </a:blip>
          <a:srcRect b="0" l="0" r="0" t="0"/>
          <a:stretch/>
        </p:blipFill>
        <p:spPr>
          <a:xfrm>
            <a:off x="0" y="464913"/>
            <a:ext cx="9144000" cy="3605824"/>
          </a:xfrm>
          <a:prstGeom prst="rect">
            <a:avLst/>
          </a:prstGeom>
          <a:noFill/>
          <a:ln>
            <a:noFill/>
          </a:ln>
        </p:spPr>
      </p:pic>
      <p:sp>
        <p:nvSpPr>
          <p:cNvPr id="170" name="Google Shape;170;p30"/>
          <p:cNvSpPr txBox="1"/>
          <p:nvPr/>
        </p:nvSpPr>
        <p:spPr>
          <a:xfrm>
            <a:off x="117225" y="4067100"/>
            <a:ext cx="9026700" cy="107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In meetings with convergence, entropy drops near the end, indicating that the discussion narrows onto a small subset of ideas.</a:t>
            </a:r>
            <a:endParaRPr sz="1800">
              <a:solidFill>
                <a:schemeClr val="dk2"/>
              </a:solidFill>
            </a:endParaRPr>
          </a:p>
        </p:txBody>
      </p:sp>
      <p:sp>
        <p:nvSpPr>
          <p:cNvPr id="171" name="Google Shape;171;p30"/>
          <p:cNvSpPr txBox="1"/>
          <p:nvPr/>
        </p:nvSpPr>
        <p:spPr>
          <a:xfrm>
            <a:off x="0" y="-9700"/>
            <a:ext cx="9144000" cy="5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Only Some End-of-Meeting Decisions Narrow the Discussion</a:t>
            </a:r>
            <a:endParaRPr sz="1800"/>
          </a:p>
        </p:txBody>
      </p:sp>
      <p:sp>
        <p:nvSpPr>
          <p:cNvPr id="172" name="Google Shape;172;p30"/>
          <p:cNvSpPr txBox="1"/>
          <p:nvPr/>
        </p:nvSpPr>
        <p:spPr>
          <a:xfrm>
            <a:off x="1921625" y="1553400"/>
            <a:ext cx="4579800" cy="158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entropy of what? </a:t>
            </a:r>
            <a:endParaRPr sz="1800">
              <a:solidFill>
                <a:schemeClr val="dk2"/>
              </a:solidFill>
            </a:endParaRPr>
          </a:p>
          <a:p>
            <a:pPr indent="0" lvl="0" marL="0" rtl="0" algn="l">
              <a:spcBef>
                <a:spcPts val="0"/>
              </a:spcBef>
              <a:spcAft>
                <a:spcPts val="0"/>
              </a:spcAft>
              <a:buNone/>
            </a:pPr>
            <a:r>
              <a:rPr lang="en" sz="1800">
                <a:solidFill>
                  <a:schemeClr val="dk2"/>
                </a:solidFill>
              </a:rPr>
              <a:t>what is said? how many people </a:t>
            </a:r>
            <a:r>
              <a:rPr lang="en" sz="1800">
                <a:solidFill>
                  <a:schemeClr val="dk2"/>
                </a:solidFill>
              </a:rPr>
              <a:t>participating</a:t>
            </a:r>
            <a:r>
              <a:rPr lang="en" sz="1800">
                <a:solidFill>
                  <a:schemeClr val="dk2"/>
                </a:solidFill>
              </a:rPr>
              <a:t> ?</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Convergence Defined by Co-occurring Signals</a:t>
            </a:r>
            <a:endParaRPr/>
          </a:p>
        </p:txBody>
      </p:sp>
      <p:sp>
        <p:nvSpPr>
          <p:cNvPr id="178" name="Google Shape;17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Unit of Analysis:</a:t>
            </a:r>
            <a:r>
              <a:rPr lang="en"/>
              <a:t> 60-second time bins of utterances within a meeting.</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b="1" lang="en"/>
              <a:t>What’s Tracked:</a:t>
            </a:r>
            <a:r>
              <a:rPr lang="en"/>
              <a:t> Annotation Codes (Coordination/Decision Practices) treated as categorical </a:t>
            </a:r>
            <a:r>
              <a:rPr lang="en"/>
              <a:t>states</a:t>
            </a:r>
            <a:r>
              <a:rPr lang="en"/>
              <a:t>.</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b="1" lang="en"/>
              <a:t>Entropy Used: </a:t>
            </a:r>
            <a:r>
              <a:rPr lang="en"/>
              <a:t>Shannon entropy over the distribution of active annotation codes within each 60-second bin.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When Do We Call a Moment ‘Convergent’?</a:t>
            </a:r>
            <a:endParaRPr/>
          </a:p>
        </p:txBody>
      </p:sp>
      <p:sp>
        <p:nvSpPr>
          <p:cNvPr id="184" name="Google Shape;184;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the two session examples:</a:t>
            </a:r>
            <a:endParaRPr/>
          </a:p>
          <a:p>
            <a:pPr indent="-342900" lvl="0" marL="457200" rtl="0" algn="l">
              <a:spcBef>
                <a:spcPts val="1200"/>
              </a:spcBef>
              <a:spcAft>
                <a:spcPts val="0"/>
              </a:spcAft>
              <a:buSzPts val="1800"/>
              <a:buChar char="●"/>
            </a:pPr>
            <a:r>
              <a:rPr lang="en"/>
              <a:t>Coordination &amp; Decision Practices are sustained</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Content entropy remains low, indicating focus on fewer ideas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Use Entropy as a Signal of Convergence?</a:t>
            </a:r>
            <a:endParaRPr/>
          </a:p>
        </p:txBody>
      </p:sp>
      <p:sp>
        <p:nvSpPr>
          <p:cNvPr id="190" name="Google Shape;190;p33"/>
          <p:cNvSpPr txBox="1"/>
          <p:nvPr/>
        </p:nvSpPr>
        <p:spPr>
          <a:xfrm>
            <a:off x="311700" y="1092525"/>
            <a:ext cx="8655600" cy="3827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Putman &amp; Paulus (2009): Groups generate many ideas, then converge on a small subset for implementation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Kirschner et al. (2006): Collaboration </a:t>
            </a:r>
            <a:r>
              <a:rPr lang="en" sz="1800">
                <a:solidFill>
                  <a:schemeClr val="dk2"/>
                </a:solidFill>
              </a:rPr>
              <a:t>involves</a:t>
            </a:r>
            <a:r>
              <a:rPr lang="en" sz="1800">
                <a:solidFill>
                  <a:schemeClr val="dk2"/>
                </a:solidFill>
              </a:rPr>
              <a:t> moving from </a:t>
            </a:r>
            <a:r>
              <a:rPr lang="en" sz="1800">
                <a:solidFill>
                  <a:schemeClr val="dk2"/>
                </a:solidFill>
              </a:rPr>
              <a:t>diverse perspectives toward shared common ground</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Mondada (2006): Interactional practices activity closure before explicit decisions are stated</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Wiltshire et al. (2017): Declines in communication entropy mark transitions toward more focused problem-solving.</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4"/>
          <p:cNvSpPr txBox="1"/>
          <p:nvPr>
            <p:ph type="title"/>
          </p:nvPr>
        </p:nvSpPr>
        <p:spPr>
          <a:xfrm>
            <a:off x="138550" y="445025"/>
            <a:ext cx="9005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Convergence Appears Before Decisions Are Stated</a:t>
            </a:r>
            <a:endParaRPr/>
          </a:p>
        </p:txBody>
      </p:sp>
      <p:pic>
        <p:nvPicPr>
          <p:cNvPr id="196" name="Google Shape;196;p34" title="f623eded-0ea8-4182-a3f1-56b103d58d3b.png"/>
          <p:cNvPicPr preferRelativeResize="0"/>
          <p:nvPr/>
        </p:nvPicPr>
        <p:blipFill rotWithShape="1">
          <a:blip r:embed="rId3">
            <a:alphaModFix/>
          </a:blip>
          <a:srcRect b="0" l="0" r="0" t="0"/>
          <a:stretch/>
        </p:blipFill>
        <p:spPr>
          <a:xfrm>
            <a:off x="138550" y="1017725"/>
            <a:ext cx="8055924" cy="3225628"/>
          </a:xfrm>
          <a:prstGeom prst="rect">
            <a:avLst/>
          </a:prstGeom>
          <a:noFill/>
          <a:ln>
            <a:noFill/>
          </a:ln>
        </p:spPr>
      </p:pic>
      <p:sp>
        <p:nvSpPr>
          <p:cNvPr id="197" name="Google Shape;197;p34"/>
          <p:cNvSpPr txBox="1"/>
          <p:nvPr/>
        </p:nvSpPr>
        <p:spPr>
          <a:xfrm>
            <a:off x="3003600" y="4243350"/>
            <a:ext cx="3136800" cy="50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NES_S6: convergent case (second example)</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